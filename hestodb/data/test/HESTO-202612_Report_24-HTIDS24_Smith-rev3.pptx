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9"/>
  </p:notesMasterIdLst>
  <p:sldIdLst>
    <p:sldId id="262" r:id="rId5"/>
    <p:sldId id="258" r:id="rId6"/>
    <p:sldId id="259" r:id="rId7"/>
    <p:sldId id="284" r:id="rId8"/>
    <p:sldId id="285" r:id="rId9"/>
    <p:sldId id="261" r:id="rId10"/>
    <p:sldId id="263" r:id="rId11"/>
    <p:sldId id="264" r:id="rId12"/>
    <p:sldId id="265" r:id="rId13"/>
    <p:sldId id="266" r:id="rId14"/>
    <p:sldId id="267" r:id="rId15"/>
    <p:sldId id="268" r:id="rId16"/>
    <p:sldId id="269" r:id="rId17"/>
    <p:sldId id="298" r:id="rId18"/>
    <p:sldId id="270" r:id="rId19"/>
    <p:sldId id="271" r:id="rId20"/>
    <p:sldId id="291" r:id="rId21"/>
    <p:sldId id="272" r:id="rId22"/>
    <p:sldId id="295" r:id="rId23"/>
    <p:sldId id="297" r:id="rId24"/>
    <p:sldId id="273" r:id="rId25"/>
    <p:sldId id="274" r:id="rId26"/>
    <p:sldId id="286" r:id="rId27"/>
    <p:sldId id="276" r:id="rId28"/>
    <p:sldId id="293" r:id="rId29"/>
    <p:sldId id="277" r:id="rId30"/>
    <p:sldId id="287" r:id="rId31"/>
    <p:sldId id="288" r:id="rId32"/>
    <p:sldId id="289" r:id="rId33"/>
    <p:sldId id="280" r:id="rId34"/>
    <p:sldId id="281" r:id="rId35"/>
    <p:sldId id="282" r:id="rId36"/>
    <p:sldId id="283" r:id="rId37"/>
    <p:sldId id="25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227"/>
    <a:srgbClr val="CFCB7C"/>
    <a:srgbClr val="D6D37F"/>
    <a:srgbClr val="FCBF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278F0-7168-4F3F-A993-980985D5D702}" v="11" dt="2026-04-02T20:48:08.9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C348A-65EE-2346-B875-14163D95B043}" type="datetimeFigureOut">
              <a:rPr lang="en-US" smtClean="0"/>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AF8C09-7BE7-4041-9CE3-B433F31AB633}" type="slidenum">
              <a:rPr lang="en-US" smtClean="0"/>
              <a:t>‹#›</a:t>
            </a:fld>
            <a:endParaRPr lang="en-US"/>
          </a:p>
        </p:txBody>
      </p:sp>
    </p:spTree>
    <p:extLst>
      <p:ext uri="{BB962C8B-B14F-4D97-AF65-F5344CB8AC3E}">
        <p14:creationId xmlns:p14="http://schemas.microsoft.com/office/powerpoint/2010/main" val="98107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white rectangular sign with black text&#10;&#10;Description automatically generated">
            <a:extLst>
              <a:ext uri="{FF2B5EF4-FFF2-40B4-BE49-F238E27FC236}">
                <a16:creationId xmlns:a16="http://schemas.microsoft.com/office/drawing/2014/main" id="{CBCB2679-38FB-CF87-82E3-A061EF909756}"/>
              </a:ext>
            </a:extLst>
          </p:cNvPr>
          <p:cNvPicPr>
            <a:picLocks noChangeAspect="1"/>
          </p:cNvPicPr>
          <p:nvPr userDrawn="1"/>
        </p:nvPicPr>
        <p:blipFill>
          <a:blip r:embed="rId2"/>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32CCF4B0-623E-0C79-326F-D328822E9748}"/>
              </a:ext>
            </a:extLst>
          </p:cNvPr>
          <p:cNvSpPr>
            <a:spLocks noGrp="1"/>
          </p:cNvSpPr>
          <p:nvPr>
            <p:ph type="ctrTitle"/>
          </p:nvPr>
        </p:nvSpPr>
        <p:spPr>
          <a:xfrm>
            <a:off x="1524000" y="5004486"/>
            <a:ext cx="9144000" cy="87820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FC6920-6AD4-39F8-BE2A-C486CC783290}"/>
              </a:ext>
            </a:extLst>
          </p:cNvPr>
          <p:cNvSpPr>
            <a:spLocks noGrp="1"/>
          </p:cNvSpPr>
          <p:nvPr>
            <p:ph type="subTitle" idx="1"/>
          </p:nvPr>
        </p:nvSpPr>
        <p:spPr>
          <a:xfrm>
            <a:off x="1524000" y="5831488"/>
            <a:ext cx="9144000" cy="38476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2DD7A5-DBCC-C869-A312-03DDBEE9EF0B}"/>
              </a:ext>
            </a:extLst>
          </p:cNvPr>
          <p:cNvSpPr>
            <a:spLocks noGrp="1"/>
          </p:cNvSpPr>
          <p:nvPr>
            <p:ph type="dt" sz="half" idx="10"/>
          </p:nvPr>
        </p:nvSpPr>
        <p:spPr/>
        <p:txBody>
          <a:bodyPr/>
          <a:lstStyle/>
          <a:p>
            <a:fld id="{BAF3AD8F-0C6C-1745-954D-84FC5BD779C3}" type="datetime1">
              <a:rPr lang="en-US" smtClean="0"/>
              <a:t>6/30/2026</a:t>
            </a:fld>
            <a:endParaRPr lang="en-US"/>
          </a:p>
        </p:txBody>
      </p:sp>
      <p:sp>
        <p:nvSpPr>
          <p:cNvPr id="5" name="Footer Placeholder 4">
            <a:extLst>
              <a:ext uri="{FF2B5EF4-FFF2-40B4-BE49-F238E27FC236}">
                <a16:creationId xmlns:a16="http://schemas.microsoft.com/office/drawing/2014/main" id="{7219ACF3-4D9B-443D-179E-2A74A2C7FB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C5876-DDC3-FC8E-C94B-80249B14262F}"/>
              </a:ext>
            </a:extLst>
          </p:cNvPr>
          <p:cNvSpPr>
            <a:spLocks noGrp="1"/>
          </p:cNvSpPr>
          <p:nvPr>
            <p:ph type="sldNum" sz="quarter" idx="12"/>
          </p:nvPr>
        </p:nvSpPr>
        <p:spPr/>
        <p:txBody>
          <a:bodyPr/>
          <a:lstStyle/>
          <a:p>
            <a:fld id="{88E0E29E-E225-F048-A964-380D52CA58AC}" type="slidenum">
              <a:rPr lang="en-US" smtClean="0"/>
              <a:t>‹#›</a:t>
            </a:fld>
            <a:endParaRPr lang="en-US"/>
          </a:p>
        </p:txBody>
      </p:sp>
    </p:spTree>
    <p:extLst>
      <p:ext uri="{BB962C8B-B14F-4D97-AF65-F5344CB8AC3E}">
        <p14:creationId xmlns:p14="http://schemas.microsoft.com/office/powerpoint/2010/main" val="3771243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0" name="Picture 9" descr="A close-up of a logo&#10;&#10;Description automatically generated">
            <a:extLst>
              <a:ext uri="{FF2B5EF4-FFF2-40B4-BE49-F238E27FC236}">
                <a16:creationId xmlns:a16="http://schemas.microsoft.com/office/drawing/2014/main" id="{9FE7F289-C14C-C981-F1E9-3F4CACBB3C2E}"/>
              </a:ext>
            </a:extLst>
          </p:cNvPr>
          <p:cNvPicPr>
            <a:picLocks noChangeAspect="1"/>
          </p:cNvPicPr>
          <p:nvPr userDrawn="1"/>
        </p:nvPicPr>
        <p:blipFill>
          <a:blip r:embed="rId2"/>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FF1D6178-518D-344D-D0D6-3F854A7F5578}"/>
              </a:ext>
            </a:extLst>
          </p:cNvPr>
          <p:cNvSpPr>
            <a:spLocks noGrp="1"/>
          </p:cNvSpPr>
          <p:nvPr>
            <p:ph type="title"/>
          </p:nvPr>
        </p:nvSpPr>
        <p:spPr>
          <a:xfrm>
            <a:off x="838200" y="1749082"/>
            <a:ext cx="10515600" cy="1325563"/>
          </a:xfrm>
        </p:spPr>
        <p:txBody>
          <a:bodyPr/>
          <a:lstStyle/>
          <a:p>
            <a:r>
              <a:rPr lang="en-US"/>
              <a:t>Click to edit Master title style</a:t>
            </a:r>
          </a:p>
        </p:txBody>
      </p:sp>
      <p:sp>
        <p:nvSpPr>
          <p:cNvPr id="4" name="Date Placeholder 3">
            <a:extLst>
              <a:ext uri="{FF2B5EF4-FFF2-40B4-BE49-F238E27FC236}">
                <a16:creationId xmlns:a16="http://schemas.microsoft.com/office/drawing/2014/main" id="{8BF8B9F3-4C26-E3C1-558C-FC7A26F27C79}"/>
              </a:ext>
            </a:extLst>
          </p:cNvPr>
          <p:cNvSpPr>
            <a:spLocks noGrp="1"/>
          </p:cNvSpPr>
          <p:nvPr>
            <p:ph type="dt" sz="half" idx="10"/>
          </p:nvPr>
        </p:nvSpPr>
        <p:spPr/>
        <p:txBody>
          <a:bodyPr/>
          <a:lstStyle/>
          <a:p>
            <a:fld id="{3CBDC1F2-9447-8148-8F1E-69CE8F492350}" type="datetime1">
              <a:rPr lang="en-US" smtClean="0"/>
              <a:t>6/30/2026</a:t>
            </a:fld>
            <a:endParaRPr lang="en-US"/>
          </a:p>
        </p:txBody>
      </p:sp>
      <p:sp>
        <p:nvSpPr>
          <p:cNvPr id="6" name="Slide Number Placeholder 5">
            <a:extLst>
              <a:ext uri="{FF2B5EF4-FFF2-40B4-BE49-F238E27FC236}">
                <a16:creationId xmlns:a16="http://schemas.microsoft.com/office/drawing/2014/main" id="{C63A49C7-494B-4C82-FF79-A25214A89C2C}"/>
              </a:ext>
            </a:extLst>
          </p:cNvPr>
          <p:cNvSpPr>
            <a:spLocks noGrp="1"/>
          </p:cNvSpPr>
          <p:nvPr>
            <p:ph type="sldNum" sz="quarter" idx="12"/>
          </p:nvPr>
        </p:nvSpPr>
        <p:spPr/>
        <p:txBody>
          <a:bodyPr/>
          <a:lstStyle/>
          <a:p>
            <a:fld id="{88E0E29E-E225-F048-A964-380D52CA58AC}" type="slidenum">
              <a:rPr lang="en-US" smtClean="0"/>
              <a:t>‹#›</a:t>
            </a:fld>
            <a:endParaRPr lang="en-US"/>
          </a:p>
        </p:txBody>
      </p:sp>
    </p:spTree>
    <p:extLst>
      <p:ext uri="{BB962C8B-B14F-4D97-AF65-F5344CB8AC3E}">
        <p14:creationId xmlns:p14="http://schemas.microsoft.com/office/powerpoint/2010/main" val="272286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A white rectangular frame with a bright light&#10;&#10;Description automatically generated with medium confidence">
            <a:extLst>
              <a:ext uri="{FF2B5EF4-FFF2-40B4-BE49-F238E27FC236}">
                <a16:creationId xmlns:a16="http://schemas.microsoft.com/office/drawing/2014/main" id="{6D43D02C-D3D0-9DB9-A90D-2A141EF0EB5B}"/>
              </a:ext>
            </a:extLst>
          </p:cNvPr>
          <p:cNvPicPr>
            <a:picLocks noChangeAspect="1"/>
          </p:cNvPicPr>
          <p:nvPr userDrawn="1"/>
        </p:nvPicPr>
        <p:blipFill>
          <a:blip r:embed="rId2"/>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4C6F43BA-9E1C-EF6A-E83F-9671F693638A}"/>
              </a:ext>
            </a:extLst>
          </p:cNvPr>
          <p:cNvSpPr>
            <a:spLocks noGrp="1"/>
          </p:cNvSpPr>
          <p:nvPr>
            <p:ph type="title"/>
          </p:nvPr>
        </p:nvSpPr>
        <p:spPr>
          <a:xfrm>
            <a:off x="838200" y="0"/>
            <a:ext cx="10515600" cy="670096"/>
          </a:xfrm>
        </p:spPr>
        <p:txBody>
          <a:bodyPr anchor="b">
            <a:normAutofit/>
          </a:bodyPr>
          <a:lstStyle>
            <a:lvl1pPr algn="ctr">
              <a:defRPr sz="4000" baseline="0"/>
            </a:lvl1pPr>
          </a:lstStyle>
          <a:p>
            <a:r>
              <a:rPr lang="en-US"/>
              <a:t>Click to edit Master title style</a:t>
            </a:r>
          </a:p>
        </p:txBody>
      </p:sp>
      <p:sp>
        <p:nvSpPr>
          <p:cNvPr id="3" name="Text Placeholder 2">
            <a:extLst>
              <a:ext uri="{FF2B5EF4-FFF2-40B4-BE49-F238E27FC236}">
                <a16:creationId xmlns:a16="http://schemas.microsoft.com/office/drawing/2014/main" id="{CD0AB011-D974-1E69-EEB4-740B3CAF578E}"/>
              </a:ext>
            </a:extLst>
          </p:cNvPr>
          <p:cNvSpPr>
            <a:spLocks noGrp="1"/>
          </p:cNvSpPr>
          <p:nvPr>
            <p:ph type="body" idx="1"/>
          </p:nvPr>
        </p:nvSpPr>
        <p:spPr>
          <a:xfrm>
            <a:off x="831850" y="1124465"/>
            <a:ext cx="10515600" cy="4965185"/>
          </a:xfrm>
        </p:spPr>
        <p:txBody>
          <a:bodyPr/>
          <a:lstStyle>
            <a:lvl1pPr marL="0" indent="0">
              <a:buNone/>
              <a:defRPr sz="2400" baseline="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F6B8C5-56B7-036A-A39C-01BF8CC6D33A}"/>
              </a:ext>
            </a:extLst>
          </p:cNvPr>
          <p:cNvSpPr>
            <a:spLocks noGrp="1"/>
          </p:cNvSpPr>
          <p:nvPr>
            <p:ph type="dt" sz="half" idx="10"/>
          </p:nvPr>
        </p:nvSpPr>
        <p:spPr/>
        <p:txBody>
          <a:bodyPr/>
          <a:lstStyle/>
          <a:p>
            <a:fld id="{DE0D5D48-76E5-8347-ABDB-5FD7936B4587}" type="datetime1">
              <a:rPr lang="en-US" smtClean="0"/>
              <a:t>6/30/2026</a:t>
            </a:fld>
            <a:endParaRPr lang="en-US"/>
          </a:p>
        </p:txBody>
      </p:sp>
      <p:sp>
        <p:nvSpPr>
          <p:cNvPr id="5" name="Footer Placeholder 4">
            <a:extLst>
              <a:ext uri="{FF2B5EF4-FFF2-40B4-BE49-F238E27FC236}">
                <a16:creationId xmlns:a16="http://schemas.microsoft.com/office/drawing/2014/main" id="{888328FF-72A9-C916-E23F-F05B735096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4DBCF-03D5-FE3E-6152-157C22FFC614}"/>
              </a:ext>
            </a:extLst>
          </p:cNvPr>
          <p:cNvSpPr>
            <a:spLocks noGrp="1"/>
          </p:cNvSpPr>
          <p:nvPr>
            <p:ph type="sldNum" sz="quarter" idx="12"/>
          </p:nvPr>
        </p:nvSpPr>
        <p:spPr/>
        <p:txBody>
          <a:bodyPr/>
          <a:lstStyle/>
          <a:p>
            <a:fld id="{88E0E29E-E225-F048-A964-380D52CA58AC}" type="slidenum">
              <a:rPr lang="en-US" smtClean="0"/>
              <a:t>‹#›</a:t>
            </a:fld>
            <a:endParaRPr lang="en-US"/>
          </a:p>
        </p:txBody>
      </p:sp>
    </p:spTree>
    <p:extLst>
      <p:ext uri="{BB962C8B-B14F-4D97-AF65-F5344CB8AC3E}">
        <p14:creationId xmlns:p14="http://schemas.microsoft.com/office/powerpoint/2010/main" val="1512106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A close-up of a logo&#10;&#10;Description automatically generated">
            <a:extLst>
              <a:ext uri="{FF2B5EF4-FFF2-40B4-BE49-F238E27FC236}">
                <a16:creationId xmlns:a16="http://schemas.microsoft.com/office/drawing/2014/main" id="{31BE10E5-F413-E772-336F-C679C1D06C8F}"/>
              </a:ext>
            </a:extLst>
          </p:cNvPr>
          <p:cNvPicPr>
            <a:picLocks noChangeAspect="1"/>
          </p:cNvPicPr>
          <p:nvPr userDrawn="1"/>
        </p:nvPicPr>
        <p:blipFill>
          <a:blip r:embed="rId2"/>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97A938D1-C3C5-8E50-0355-E0D50321AB17}"/>
              </a:ext>
            </a:extLst>
          </p:cNvPr>
          <p:cNvSpPr>
            <a:spLocks noGrp="1"/>
          </p:cNvSpPr>
          <p:nvPr>
            <p:ph type="title"/>
          </p:nvPr>
        </p:nvSpPr>
        <p:spPr>
          <a:xfrm>
            <a:off x="442784" y="3133038"/>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3622668D-16E8-8905-B998-F53A45397F4A}"/>
              </a:ext>
            </a:extLst>
          </p:cNvPr>
          <p:cNvSpPr>
            <a:spLocks noGrp="1"/>
          </p:cNvSpPr>
          <p:nvPr>
            <p:ph type="dt" sz="half" idx="10"/>
          </p:nvPr>
        </p:nvSpPr>
        <p:spPr>
          <a:xfrm>
            <a:off x="838200" y="4564620"/>
            <a:ext cx="2743200" cy="365125"/>
          </a:xfrm>
        </p:spPr>
        <p:txBody>
          <a:bodyPr/>
          <a:lstStyle/>
          <a:p>
            <a:fld id="{ED39A409-8F63-B04A-8625-2E6E4F6AB17F}" type="datetime1">
              <a:rPr lang="en-US" smtClean="0"/>
              <a:t>6/30/2026</a:t>
            </a:fld>
            <a:endParaRPr lang="en-US"/>
          </a:p>
        </p:txBody>
      </p:sp>
      <p:sp>
        <p:nvSpPr>
          <p:cNvPr id="4" name="Footer Placeholder 3">
            <a:extLst>
              <a:ext uri="{FF2B5EF4-FFF2-40B4-BE49-F238E27FC236}">
                <a16:creationId xmlns:a16="http://schemas.microsoft.com/office/drawing/2014/main" id="{07BFCD5E-9025-958E-4FC3-76E8CC1E677F}"/>
              </a:ext>
            </a:extLst>
          </p:cNvPr>
          <p:cNvSpPr>
            <a:spLocks noGrp="1"/>
          </p:cNvSpPr>
          <p:nvPr>
            <p:ph type="ftr" sz="quarter" idx="11"/>
          </p:nvPr>
        </p:nvSpPr>
        <p:spPr>
          <a:xfrm>
            <a:off x="4038600" y="4564620"/>
            <a:ext cx="4114800" cy="365125"/>
          </a:xfrm>
        </p:spPr>
        <p:txBody>
          <a:bodyPr/>
          <a:lstStyle/>
          <a:p>
            <a:endParaRPr lang="en-US"/>
          </a:p>
        </p:txBody>
      </p:sp>
      <p:sp>
        <p:nvSpPr>
          <p:cNvPr id="5" name="Slide Number Placeholder 4">
            <a:extLst>
              <a:ext uri="{FF2B5EF4-FFF2-40B4-BE49-F238E27FC236}">
                <a16:creationId xmlns:a16="http://schemas.microsoft.com/office/drawing/2014/main" id="{56C57193-377A-432B-C60A-88860F39D2A4}"/>
              </a:ext>
            </a:extLst>
          </p:cNvPr>
          <p:cNvSpPr>
            <a:spLocks noGrp="1"/>
          </p:cNvSpPr>
          <p:nvPr>
            <p:ph type="sldNum" sz="quarter" idx="12"/>
          </p:nvPr>
        </p:nvSpPr>
        <p:spPr>
          <a:xfrm>
            <a:off x="8610600" y="4564620"/>
            <a:ext cx="2743200" cy="365125"/>
          </a:xfrm>
        </p:spPr>
        <p:txBody>
          <a:bodyPr/>
          <a:lstStyle/>
          <a:p>
            <a:fld id="{88E0E29E-E225-F048-A964-380D52CA58AC}" type="slidenum">
              <a:rPr lang="en-US" smtClean="0"/>
              <a:t>‹#›</a:t>
            </a:fld>
            <a:endParaRPr lang="en-US"/>
          </a:p>
        </p:txBody>
      </p:sp>
    </p:spTree>
    <p:extLst>
      <p:ext uri="{BB962C8B-B14F-4D97-AF65-F5344CB8AC3E}">
        <p14:creationId xmlns:p14="http://schemas.microsoft.com/office/powerpoint/2010/main" val="898888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A white rectangular sign with black text&#10;&#10;Description automatically generated">
            <a:extLst>
              <a:ext uri="{FF2B5EF4-FFF2-40B4-BE49-F238E27FC236}">
                <a16:creationId xmlns:a16="http://schemas.microsoft.com/office/drawing/2014/main" id="{06297E22-59EF-0058-898C-6208F2E79B6A}"/>
              </a:ext>
            </a:extLst>
          </p:cNvPr>
          <p:cNvPicPr>
            <a:picLocks noChangeAspect="1"/>
          </p:cNvPicPr>
          <p:nvPr userDrawn="1"/>
        </p:nvPicPr>
        <p:blipFill>
          <a:blip r:embed="rId2"/>
          <a:stretch>
            <a:fillRect/>
          </a:stretch>
        </p:blipFill>
        <p:spPr>
          <a:xfrm>
            <a:off x="6350" y="0"/>
            <a:ext cx="12185650" cy="6861574"/>
          </a:xfrm>
          <a:prstGeom prst="rect">
            <a:avLst/>
          </a:prstGeom>
        </p:spPr>
      </p:pic>
      <p:sp>
        <p:nvSpPr>
          <p:cNvPr id="2" name="Date Placeholder 1">
            <a:extLst>
              <a:ext uri="{FF2B5EF4-FFF2-40B4-BE49-F238E27FC236}">
                <a16:creationId xmlns:a16="http://schemas.microsoft.com/office/drawing/2014/main" id="{CA7760E8-4BC6-9379-0292-E538FD7E7F6E}"/>
              </a:ext>
            </a:extLst>
          </p:cNvPr>
          <p:cNvSpPr>
            <a:spLocks noGrp="1"/>
          </p:cNvSpPr>
          <p:nvPr>
            <p:ph type="dt" sz="half" idx="10"/>
          </p:nvPr>
        </p:nvSpPr>
        <p:spPr/>
        <p:txBody>
          <a:bodyPr/>
          <a:lstStyle/>
          <a:p>
            <a:fld id="{C6EDE133-48EC-254D-9865-A7A660CAACE9}" type="datetime1">
              <a:rPr lang="en-US" smtClean="0"/>
              <a:t>6/30/2026</a:t>
            </a:fld>
            <a:endParaRPr lang="en-US"/>
          </a:p>
        </p:txBody>
      </p:sp>
      <p:sp>
        <p:nvSpPr>
          <p:cNvPr id="3" name="Footer Placeholder 2">
            <a:extLst>
              <a:ext uri="{FF2B5EF4-FFF2-40B4-BE49-F238E27FC236}">
                <a16:creationId xmlns:a16="http://schemas.microsoft.com/office/drawing/2014/main" id="{4AE1FD51-A87A-8B48-647E-81B4272168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24B0DA-B764-34E2-364B-405A15F9819F}"/>
              </a:ext>
            </a:extLst>
          </p:cNvPr>
          <p:cNvSpPr>
            <a:spLocks noGrp="1"/>
          </p:cNvSpPr>
          <p:nvPr>
            <p:ph type="sldNum" sz="quarter" idx="12"/>
          </p:nvPr>
        </p:nvSpPr>
        <p:spPr/>
        <p:txBody>
          <a:bodyPr/>
          <a:lstStyle/>
          <a:p>
            <a:fld id="{88E0E29E-E225-F048-A964-380D52CA58AC}" type="slidenum">
              <a:rPr lang="en-US" smtClean="0"/>
              <a:t>‹#›</a:t>
            </a:fld>
            <a:endParaRPr lang="en-US"/>
          </a:p>
        </p:txBody>
      </p:sp>
    </p:spTree>
    <p:extLst>
      <p:ext uri="{BB962C8B-B14F-4D97-AF65-F5344CB8AC3E}">
        <p14:creationId xmlns:p14="http://schemas.microsoft.com/office/powerpoint/2010/main" val="11292337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white rectangular frame with a bright light&#10;&#10;Description automatically generated with medium confidence">
            <a:extLst>
              <a:ext uri="{FF2B5EF4-FFF2-40B4-BE49-F238E27FC236}">
                <a16:creationId xmlns:a16="http://schemas.microsoft.com/office/drawing/2014/main" id="{D3859B25-A683-695D-E102-8CD79D33BE73}"/>
              </a:ext>
            </a:extLst>
          </p:cNvPr>
          <p:cNvPicPr>
            <a:picLocks noChangeAspect="1"/>
          </p:cNvPicPr>
          <p:nvPr userDrawn="1"/>
        </p:nvPicPr>
        <p:blipFill>
          <a:blip r:embed="rId7"/>
          <a:stretch>
            <a:fillRect/>
          </a:stretch>
        </p:blipFill>
        <p:spPr>
          <a:xfrm>
            <a:off x="6350" y="0"/>
            <a:ext cx="12185650" cy="6861574"/>
          </a:xfrm>
          <a:prstGeom prst="rect">
            <a:avLst/>
          </a:prstGeom>
        </p:spPr>
      </p:pic>
      <p:sp>
        <p:nvSpPr>
          <p:cNvPr id="2" name="Title Placeholder 1">
            <a:extLst>
              <a:ext uri="{FF2B5EF4-FFF2-40B4-BE49-F238E27FC236}">
                <a16:creationId xmlns:a16="http://schemas.microsoft.com/office/drawing/2014/main" id="{56E24F98-321B-BACD-55A3-C5527CAFECE6}"/>
              </a:ext>
            </a:extLst>
          </p:cNvPr>
          <p:cNvSpPr>
            <a:spLocks noGrp="1"/>
          </p:cNvSpPr>
          <p:nvPr>
            <p:ph type="title"/>
          </p:nvPr>
        </p:nvSpPr>
        <p:spPr>
          <a:xfrm>
            <a:off x="838200" y="99454"/>
            <a:ext cx="10515600" cy="571500"/>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B091F44-16D1-4EE5-1888-C0715117B60A}"/>
              </a:ext>
            </a:extLst>
          </p:cNvPr>
          <p:cNvSpPr>
            <a:spLocks noGrp="1"/>
          </p:cNvSpPr>
          <p:nvPr>
            <p:ph type="body" idx="1"/>
          </p:nvPr>
        </p:nvSpPr>
        <p:spPr>
          <a:xfrm>
            <a:off x="838200" y="125333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925FD-FF4E-A2D8-3007-6D2D0DA5F3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AE25AD-F9AD-244B-BC9A-4E98246A4942}" type="datetime1">
              <a:rPr lang="en-US" smtClean="0"/>
              <a:t>6/30/2026</a:t>
            </a:fld>
            <a:endParaRPr lang="en-US"/>
          </a:p>
        </p:txBody>
      </p:sp>
      <p:sp>
        <p:nvSpPr>
          <p:cNvPr id="5" name="Footer Placeholder 4">
            <a:extLst>
              <a:ext uri="{FF2B5EF4-FFF2-40B4-BE49-F238E27FC236}">
                <a16:creationId xmlns:a16="http://schemas.microsoft.com/office/drawing/2014/main" id="{ACEA5D69-64B2-23FA-D9BE-A45A67C6E1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FDBE8E-3E1F-0D80-3B7A-8A17DE870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E0E29E-E225-F048-A964-380D52CA58AC}" type="slidenum">
              <a:rPr lang="en-US" smtClean="0"/>
              <a:t>‹#›</a:t>
            </a:fld>
            <a:endParaRPr lang="en-US"/>
          </a:p>
        </p:txBody>
      </p:sp>
    </p:spTree>
    <p:extLst>
      <p:ext uri="{BB962C8B-B14F-4D97-AF65-F5344CB8AC3E}">
        <p14:creationId xmlns:p14="http://schemas.microsoft.com/office/powerpoint/2010/main" val="1580133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Lst>
  <p:hf hdr="0" ftr="0" dt="0"/>
  <p:txStyles>
    <p:titleStyle>
      <a:lvl1pPr algn="ctr" defTabSz="914400" rtl="0" eaLnBrk="1" latinLnBrk="0" hangingPunct="1">
        <a:lnSpc>
          <a:spcPct val="90000"/>
        </a:lnSpc>
        <a:spcBef>
          <a:spcPct val="0"/>
        </a:spcBef>
        <a:buNone/>
        <a:defRPr sz="3500" kern="12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hesto.smce.nasa.gov/focused-topics/#focusedtopic_tr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sti.nasa.gov/submit-to-pubspace/"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87D38-CF6D-FD14-596A-871E7BBE1BED}"/>
              </a:ext>
            </a:extLst>
          </p:cNvPr>
          <p:cNvSpPr>
            <a:spLocks noGrp="1"/>
          </p:cNvSpPr>
          <p:nvPr>
            <p:ph type="ctrTitle"/>
          </p:nvPr>
        </p:nvSpPr>
        <p:spPr>
          <a:xfrm>
            <a:off x="0" y="5004486"/>
            <a:ext cx="12192000" cy="878207"/>
          </a:xfrm>
        </p:spPr>
        <p:txBody>
          <a:bodyPr/>
          <a:lstStyle/>
          <a:p>
            <a:r>
              <a:rPr lang="en-US" dirty="0"/>
              <a:t>HESTO Report: 12 2026</a:t>
            </a:r>
          </a:p>
        </p:txBody>
      </p:sp>
      <p:sp>
        <p:nvSpPr>
          <p:cNvPr id="6" name="TextBox 5">
            <a:extLst>
              <a:ext uri="{FF2B5EF4-FFF2-40B4-BE49-F238E27FC236}">
                <a16:creationId xmlns:a16="http://schemas.microsoft.com/office/drawing/2014/main" id="{22FE2857-4DA5-850F-EB1A-E0B269047B62}"/>
              </a:ext>
            </a:extLst>
          </p:cNvPr>
          <p:cNvSpPr txBox="1"/>
          <p:nvPr/>
        </p:nvSpPr>
        <p:spPr>
          <a:xfrm>
            <a:off x="1701210" y="5805377"/>
            <a:ext cx="4274287" cy="369332"/>
          </a:xfrm>
          <a:prstGeom prst="rect">
            <a:avLst/>
          </a:prstGeom>
          <a:noFill/>
        </p:spPr>
        <p:txBody>
          <a:bodyPr wrap="square" rtlCol="0">
            <a:spAutoFit/>
          </a:bodyPr>
          <a:lstStyle/>
          <a:p>
            <a:r>
              <a:rPr lang="en-US" b="1" dirty="0"/>
              <a:t>Principal Investigator: </a:t>
            </a:r>
            <a:r>
              <a:rPr lang="en-US" dirty="0"/>
              <a:t>Jane Smith</a:t>
            </a:r>
          </a:p>
        </p:txBody>
      </p:sp>
      <p:sp>
        <p:nvSpPr>
          <p:cNvPr id="7" name="TextBox 6">
            <a:extLst>
              <a:ext uri="{FF2B5EF4-FFF2-40B4-BE49-F238E27FC236}">
                <a16:creationId xmlns:a16="http://schemas.microsoft.com/office/drawing/2014/main" id="{8DEA51E8-81C2-EDA2-6053-7B4F47AC6879}"/>
              </a:ext>
            </a:extLst>
          </p:cNvPr>
          <p:cNvSpPr txBox="1"/>
          <p:nvPr/>
        </p:nvSpPr>
        <p:spPr>
          <a:xfrm>
            <a:off x="7549121" y="5805377"/>
            <a:ext cx="3760379" cy="369332"/>
          </a:xfrm>
          <a:prstGeom prst="rect">
            <a:avLst/>
          </a:prstGeom>
          <a:noFill/>
        </p:spPr>
        <p:txBody>
          <a:bodyPr wrap="square" rtlCol="0">
            <a:spAutoFit/>
          </a:bodyPr>
          <a:lstStyle/>
          <a:p>
            <a:r>
              <a:rPr lang="en-US" b="1" dirty="0"/>
              <a:t>Proposal #: </a:t>
            </a:r>
            <a:r>
              <a:rPr lang="en-US" dirty="0"/>
              <a:t>24-HTIDS24-0009</a:t>
            </a:r>
          </a:p>
        </p:txBody>
      </p:sp>
    </p:spTree>
    <p:extLst>
      <p:ext uri="{BB962C8B-B14F-4D97-AF65-F5344CB8AC3E}">
        <p14:creationId xmlns:p14="http://schemas.microsoft.com/office/powerpoint/2010/main" val="2657344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209B-5D8E-1725-C20C-CD3866BBF96F}"/>
              </a:ext>
            </a:extLst>
          </p:cNvPr>
          <p:cNvSpPr>
            <a:spLocks noGrp="1"/>
          </p:cNvSpPr>
          <p:nvPr>
            <p:ph type="title"/>
          </p:nvPr>
        </p:nvSpPr>
        <p:spPr/>
        <p:txBody>
          <a:bodyPr/>
          <a:lstStyle/>
          <a:p>
            <a:r>
              <a:rPr lang="en-US"/>
              <a:t>Summary</a:t>
            </a:r>
          </a:p>
        </p:txBody>
      </p:sp>
      <p:graphicFrame>
        <p:nvGraphicFramePr>
          <p:cNvPr id="12" name="Table 3">
            <a:extLst>
              <a:ext uri="{FF2B5EF4-FFF2-40B4-BE49-F238E27FC236}">
                <a16:creationId xmlns:a16="http://schemas.microsoft.com/office/drawing/2014/main" id="{F4B26A02-7E50-9F2F-FF3C-48D09D219219}"/>
              </a:ext>
            </a:extLst>
          </p:cNvPr>
          <p:cNvGraphicFramePr>
            <a:graphicFrameLocks noGrp="1"/>
          </p:cNvGraphicFramePr>
          <p:nvPr>
            <p:extLst>
              <p:ext uri="{D42A27DB-BD31-4B8C-83A1-F6EECF244321}">
                <p14:modId xmlns:p14="http://schemas.microsoft.com/office/powerpoint/2010/main" val="2631573701"/>
              </p:ext>
            </p:extLst>
          </p:nvPr>
        </p:nvGraphicFramePr>
        <p:xfrm>
          <a:off x="195942" y="1081314"/>
          <a:ext cx="6932178" cy="5393327"/>
        </p:xfrm>
        <a:graphic>
          <a:graphicData uri="http://schemas.openxmlformats.org/drawingml/2006/table">
            <a:tbl>
              <a:tblPr firstRow="1" bandRow="1">
                <a:tableStyleId>{5940675A-B579-460E-94D1-54222C63F5DA}</a:tableStyleId>
              </a:tblPr>
              <a:tblGrid>
                <a:gridCol w="2707046">
                  <a:extLst>
                    <a:ext uri="{9D8B030D-6E8A-4147-A177-3AD203B41FA5}">
                      <a16:colId xmlns:a16="http://schemas.microsoft.com/office/drawing/2014/main" val="2828065959"/>
                    </a:ext>
                  </a:extLst>
                </a:gridCol>
                <a:gridCol w="4225132">
                  <a:extLst>
                    <a:ext uri="{9D8B030D-6E8A-4147-A177-3AD203B41FA5}">
                      <a16:colId xmlns:a16="http://schemas.microsoft.com/office/drawing/2014/main" val="4047677880"/>
                    </a:ext>
                  </a:extLst>
                </a:gridCol>
              </a:tblGrid>
              <a:tr h="375281">
                <a:tc>
                  <a:txBody>
                    <a:bodyPr/>
                    <a:lstStyle/>
                    <a:p>
                      <a:pPr lvl="0">
                        <a:buNone/>
                      </a:pPr>
                      <a:r>
                        <a:rPr lang="en-US" sz="1400"/>
                        <a:t>Date</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lvl="0">
                        <a:buNone/>
                      </a:pPr>
                      <a:r>
                        <a:rPr lang="en-US" sz="1400" dirty="0"/>
                        <a:t>2026-12-10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28797978"/>
                  </a:ext>
                </a:extLst>
              </a:tr>
              <a:tr h="375281">
                <a:tc>
                  <a:txBody>
                    <a:bodyPr/>
                    <a:lstStyle/>
                    <a:p>
                      <a:pPr lvl="0">
                        <a:buNone/>
                      </a:pPr>
                      <a:r>
                        <a:rPr lang="en-US" sz="1400"/>
                        <a:t>Proposal Title</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lvl="0">
                        <a:buNone/>
                      </a:pPr>
                      <a:r>
                        <a:rPr lang="en-US" sz="1400" dirty="0"/>
                        <a:t>A project to develop a new x-ray detector</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50105641"/>
                  </a:ext>
                </a:extLst>
              </a:tr>
              <a:tr h="386004">
                <a:tc>
                  <a:txBody>
                    <a:bodyPr/>
                    <a:lstStyle/>
                    <a:p>
                      <a:pPr lvl="0">
                        <a:buNone/>
                      </a:pPr>
                      <a:r>
                        <a:rPr lang="en-US" sz="1500" b="0" i="0" u="none" strike="noStrike" noProof="0">
                          <a:solidFill>
                            <a:srgbClr val="000000"/>
                          </a:solidFill>
                          <a:latin typeface="Aptos Display"/>
                        </a:rPr>
                        <a:t>Technology Name (Acronym)</a:t>
                      </a:r>
                      <a:endParaRPr lang="en-US"/>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lvl="0">
                        <a:buNone/>
                      </a:pPr>
                      <a:r>
                        <a:rPr lang="en-US" sz="1400" dirty="0"/>
                        <a:t>AWESOME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11989196"/>
                  </a:ext>
                </a:extLst>
              </a:tr>
              <a:tr h="375281">
                <a:tc>
                  <a:txBody>
                    <a:bodyPr/>
                    <a:lstStyle/>
                    <a:p>
                      <a:r>
                        <a:rPr lang="en-US" sz="1400"/>
                        <a:t>Principal Investigator</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Jane Smith</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20988521"/>
                  </a:ext>
                </a:extLst>
              </a:tr>
              <a:tr h="375281">
                <a:tc>
                  <a:txBody>
                    <a:bodyPr/>
                    <a:lstStyle/>
                    <a:p>
                      <a:r>
                        <a:rPr lang="en-US" sz="1400"/>
                        <a:t>PI Email</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Jane.smith@fakeemail.org</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480942244"/>
                  </a:ext>
                </a:extLst>
              </a:tr>
              <a:tr h="375281">
                <a:tc>
                  <a:txBody>
                    <a:bodyPr/>
                    <a:lstStyle/>
                    <a:p>
                      <a:r>
                        <a:rPr lang="en-US" sz="1400" dirty="0"/>
                        <a:t>Affiliation</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NASA Goddard Space Flight Center</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73014176"/>
                  </a:ext>
                </a:extLst>
              </a:tr>
              <a:tr h="375281">
                <a:tc>
                  <a:txBody>
                    <a:bodyPr/>
                    <a:lstStyle/>
                    <a:p>
                      <a:r>
                        <a:rPr lang="en-US" sz="1400"/>
                        <a:t>Proposal ID</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24-HTIDS24-0009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31125570"/>
                  </a:ext>
                </a:extLst>
              </a:tr>
              <a:tr h="514672">
                <a:tc>
                  <a:txBody>
                    <a:bodyPr/>
                    <a:lstStyle/>
                    <a:p>
                      <a:r>
                        <a:rPr lang="en-US" sz="1400"/>
                        <a:t>Research Regime</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heliosphere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30165265"/>
                  </a:ext>
                </a:extLst>
              </a:tr>
              <a:tr h="375281">
                <a:tc>
                  <a:txBody>
                    <a:bodyPr/>
                    <a:lstStyle/>
                    <a:p>
                      <a:r>
                        <a:rPr lang="en-US" sz="1400"/>
                        <a:t>HESTO Taxonomy</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Photons – X-rays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69652077"/>
                  </a:ext>
                </a:extLst>
              </a:tr>
              <a:tr h="375281">
                <a:tc>
                  <a:txBody>
                    <a:bodyPr/>
                    <a:lstStyle/>
                    <a:p>
                      <a:r>
                        <a:rPr lang="en-US" sz="1400"/>
                        <a:t>Instrument Type(s)</a:t>
                      </a:r>
                    </a:p>
                  </a:txBody>
                  <a:tcP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Spectrometer</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51086942"/>
                  </a:ext>
                </a:extLst>
              </a:tr>
              <a:tr h="375281">
                <a:tc>
                  <a:txBody>
                    <a:bodyPr/>
                    <a:lstStyle/>
                    <a:p>
                      <a:r>
                        <a:rPr lang="en-US" sz="1400"/>
                        <a:t>Technology keyword</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sz="1400" dirty="0"/>
                        <a:t>Quantum Sensing</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40602574"/>
                  </a:ext>
                </a:extLst>
              </a:tr>
              <a:tr h="557561">
                <a:tc>
                  <a:txBody>
                    <a:bodyPr/>
                    <a:lstStyle/>
                    <a:p>
                      <a:pPr lvl="0">
                        <a:buNone/>
                      </a:pPr>
                      <a:r>
                        <a:rPr lang="en-US" sz="1400"/>
                        <a:t>Project Summary (two to three sentences)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lvl="0">
                        <a:buNone/>
                      </a:pPr>
                      <a:r>
                        <a:rPr lang="en-US" sz="1400" dirty="0"/>
                        <a:t>This is a project to develop a new x-ray detector. This is the second sentence. This is the third sentence.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417824123"/>
                  </a:ext>
                </a:extLst>
              </a:tr>
              <a:tr h="557561">
                <a:tc>
                  <a:txBody>
                    <a:bodyPr/>
                    <a:lstStyle/>
                    <a:p>
                      <a:pPr lvl="0">
                        <a:buNone/>
                      </a:pPr>
                      <a:r>
                        <a:rPr lang="en-US" sz="1400"/>
                        <a:t>Techport URL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lvl="0">
                        <a:buNone/>
                      </a:pPr>
                      <a:r>
                        <a:rPr lang="en-US" sz="1400" dirty="0"/>
                        <a:t>https://techport.nasa.gov/projects/95780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0722684"/>
                  </a:ext>
                </a:extLst>
              </a:tr>
            </a:tbl>
          </a:graphicData>
        </a:graphic>
      </p:graphicFrame>
      <p:sp>
        <p:nvSpPr>
          <p:cNvPr id="13" name="TextBox 12">
            <a:extLst>
              <a:ext uri="{FF2B5EF4-FFF2-40B4-BE49-F238E27FC236}">
                <a16:creationId xmlns:a16="http://schemas.microsoft.com/office/drawing/2014/main" id="{50F5BB87-775D-21E6-3A49-E73E535689E4}"/>
              </a:ext>
            </a:extLst>
          </p:cNvPr>
          <p:cNvSpPr txBox="1"/>
          <p:nvPr/>
        </p:nvSpPr>
        <p:spPr>
          <a:xfrm>
            <a:off x="7272671" y="1887452"/>
            <a:ext cx="4572000" cy="3139321"/>
          </a:xfrm>
          <a:prstGeom prst="rect">
            <a:avLst/>
          </a:prstGeom>
          <a:solidFill>
            <a:schemeClr val="accent2">
              <a:lumMod val="20000"/>
              <a:lumOff val="80000"/>
            </a:schemeClr>
          </a:solidFill>
        </p:spPr>
        <p:txBody>
          <a:bodyPr wrap="square" rtlCol="0">
            <a:spAutoFit/>
          </a:bodyPr>
          <a:lstStyle/>
          <a:p>
            <a:pPr algn="ctr"/>
            <a:br>
              <a:rPr lang="en-US"/>
            </a:br>
            <a:br>
              <a:rPr lang="en-US"/>
            </a:br>
            <a:br>
              <a:rPr lang="en-US"/>
            </a:br>
            <a:endParaRPr lang="en-US"/>
          </a:p>
          <a:p>
            <a:pPr algn="ctr"/>
            <a:br>
              <a:rPr lang="en-US">
                <a:solidFill>
                  <a:schemeClr val="bg1">
                    <a:lumMod val="50000"/>
                  </a:schemeClr>
                </a:solidFill>
              </a:rPr>
            </a:br>
            <a:r>
              <a:rPr lang="en-US">
                <a:solidFill>
                  <a:schemeClr val="bg1">
                    <a:lumMod val="50000"/>
                  </a:schemeClr>
                </a:solidFill>
              </a:rPr>
              <a:t>INCLUDE IMAGE HERE</a:t>
            </a:r>
            <a:br>
              <a:rPr lang="en-US">
                <a:solidFill>
                  <a:schemeClr val="bg1">
                    <a:lumMod val="50000"/>
                  </a:schemeClr>
                </a:solidFill>
              </a:rPr>
            </a:br>
            <a:br>
              <a:rPr lang="en-US">
                <a:solidFill>
                  <a:schemeClr val="bg1">
                    <a:lumMod val="50000"/>
                  </a:schemeClr>
                </a:solidFill>
              </a:rPr>
            </a:br>
            <a:br>
              <a:rPr lang="en-US">
                <a:solidFill>
                  <a:schemeClr val="bg1">
                    <a:lumMod val="50000"/>
                  </a:schemeClr>
                </a:solidFill>
              </a:rPr>
            </a:br>
            <a:br>
              <a:rPr lang="en-US">
                <a:solidFill>
                  <a:schemeClr val="bg1">
                    <a:lumMod val="50000"/>
                  </a:schemeClr>
                </a:solidFill>
              </a:rPr>
            </a:br>
            <a:br>
              <a:rPr lang="en-US">
                <a:solidFill>
                  <a:schemeClr val="bg1">
                    <a:lumMod val="50000"/>
                  </a:schemeClr>
                </a:solidFill>
              </a:rPr>
            </a:br>
            <a:endParaRPr lang="en-US">
              <a:solidFill>
                <a:schemeClr val="bg1">
                  <a:lumMod val="50000"/>
                </a:schemeClr>
              </a:solidFill>
            </a:endParaRPr>
          </a:p>
        </p:txBody>
      </p:sp>
      <p:sp>
        <p:nvSpPr>
          <p:cNvPr id="19" name="Slide Number Placeholder 18">
            <a:extLst>
              <a:ext uri="{FF2B5EF4-FFF2-40B4-BE49-F238E27FC236}">
                <a16:creationId xmlns:a16="http://schemas.microsoft.com/office/drawing/2014/main" id="{4FF0D130-9C00-A7C8-DFC6-655FFA9DC750}"/>
              </a:ext>
            </a:extLst>
          </p:cNvPr>
          <p:cNvSpPr>
            <a:spLocks noGrp="1"/>
          </p:cNvSpPr>
          <p:nvPr>
            <p:ph type="sldNum" sz="quarter" idx="12"/>
          </p:nvPr>
        </p:nvSpPr>
        <p:spPr/>
        <p:txBody>
          <a:bodyPr/>
          <a:lstStyle/>
          <a:p>
            <a:fld id="{88E0E29E-E225-F048-A964-380D52CA58AC}" type="slidenum">
              <a:rPr lang="en-US" smtClean="0"/>
              <a:t>2</a:t>
            </a:fld>
            <a:endParaRPr lang="en-US"/>
          </a:p>
        </p:txBody>
      </p:sp>
      <p:sp>
        <p:nvSpPr>
          <p:cNvPr id="20" name="TextBox 19">
            <a:extLst>
              <a:ext uri="{FF2B5EF4-FFF2-40B4-BE49-F238E27FC236}">
                <a16:creationId xmlns:a16="http://schemas.microsoft.com/office/drawing/2014/main" id="{85E319A4-CFA6-1402-E1A2-F6BA32589232}"/>
              </a:ext>
            </a:extLst>
          </p:cNvPr>
          <p:cNvSpPr txBox="1"/>
          <p:nvPr/>
        </p:nvSpPr>
        <p:spPr>
          <a:xfrm>
            <a:off x="9032649" y="735070"/>
            <a:ext cx="3078087" cy="307777"/>
          </a:xfrm>
          <a:prstGeom prst="rect">
            <a:avLst/>
          </a:prstGeom>
          <a:noFill/>
        </p:spPr>
        <p:txBody>
          <a:bodyPr wrap="none" rtlCol="0">
            <a:spAutoFit/>
          </a:bodyPr>
          <a:lstStyle/>
          <a:p>
            <a:r>
              <a:rPr lang="en-US" sz="1400" b="1"/>
              <a:t>see Guidance Section (slides 24-32)</a:t>
            </a:r>
          </a:p>
        </p:txBody>
      </p:sp>
      <p:sp>
        <p:nvSpPr>
          <p:cNvPr id="3" name="TextBox 2">
            <a:extLst>
              <a:ext uri="{FF2B5EF4-FFF2-40B4-BE49-F238E27FC236}">
                <a16:creationId xmlns:a16="http://schemas.microsoft.com/office/drawing/2014/main" id="{534914D9-A465-DE12-2193-2EDF01D92B99}"/>
              </a:ext>
            </a:extLst>
          </p:cNvPr>
          <p:cNvSpPr txBox="1"/>
          <p:nvPr/>
        </p:nvSpPr>
        <p:spPr>
          <a:xfrm>
            <a:off x="9459532" y="1287887"/>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3088529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D0176-77A5-85D5-0D94-40DE2AD9C603}"/>
              </a:ext>
            </a:extLst>
          </p:cNvPr>
          <p:cNvSpPr>
            <a:spLocks noGrp="1"/>
          </p:cNvSpPr>
          <p:nvPr>
            <p:ph type="title"/>
          </p:nvPr>
        </p:nvSpPr>
        <p:spPr>
          <a:xfrm>
            <a:off x="2796988" y="0"/>
            <a:ext cx="7301753" cy="670096"/>
          </a:xfrm>
        </p:spPr>
        <p:txBody>
          <a:bodyPr/>
          <a:lstStyle/>
          <a:p>
            <a:r>
              <a:rPr lang="en-US" dirty="0"/>
              <a:t>    </a:t>
            </a:r>
            <a:r>
              <a:rPr lang="en-US" sz="3200" dirty="0"/>
              <a:t>Project’s Relevance and Impact </a:t>
            </a:r>
            <a:endParaRPr lang="en-US" sz="1800" dirty="0"/>
          </a:p>
        </p:txBody>
      </p:sp>
      <p:sp>
        <p:nvSpPr>
          <p:cNvPr id="4" name="Text Placeholder 4">
            <a:extLst>
              <a:ext uri="{FF2B5EF4-FFF2-40B4-BE49-F238E27FC236}">
                <a16:creationId xmlns:a16="http://schemas.microsoft.com/office/drawing/2014/main" id="{F93C2E02-CFC0-C203-BE34-5A74BFDE9BE4}"/>
              </a:ext>
            </a:extLst>
          </p:cNvPr>
          <p:cNvSpPr>
            <a:spLocks noGrp="1"/>
          </p:cNvSpPr>
          <p:nvPr>
            <p:ph type="body" idx="1"/>
          </p:nvPr>
        </p:nvSpPr>
        <p:spPr>
          <a:xfrm>
            <a:off x="293599" y="1207314"/>
            <a:ext cx="11540591" cy="5443541"/>
          </a:xfrm>
          <a:ln>
            <a:noFill/>
          </a:ln>
        </p:spPr>
        <p:txBody>
          <a:bodyPr vert="horz" lIns="91440" tIns="45720" rIns="91440" bIns="45720" numCol="1" spcCol="182880" rtlCol="0" anchor="t">
            <a:normAutofit/>
          </a:bodyPr>
          <a:lstStyle/>
          <a:p>
            <a:pPr marL="342900" indent="-342900">
              <a:buFont typeface="Arial" panose="020B0604020202020204" pitchFamily="34" charset="0"/>
              <a:buChar char="•"/>
            </a:pPr>
            <a:r>
              <a:rPr lang="en-US" sz="2400">
                <a:solidFill>
                  <a:schemeClr val="tx1"/>
                </a:solidFill>
              </a:rPr>
              <a:t>NASA Science Goals and Objectives</a:t>
            </a:r>
          </a:p>
          <a:p>
            <a:pPr marL="742950" lvl="1" indent="-285750">
              <a:buClr>
                <a:schemeClr val="accent2"/>
              </a:buClr>
              <a:buFont typeface="Wingdings" pitchFamily="2" charset="2"/>
              <a:buChar char="§"/>
            </a:pPr>
            <a:r>
              <a:rPr lang="en-US" sz="1800">
                <a:solidFill>
                  <a:schemeClr val="tx1"/>
                </a:solidFill>
              </a:rPr>
              <a:t>Describe the science goals and objectives this technology can address </a:t>
            </a:r>
          </a:p>
          <a:p>
            <a:pPr marL="742950" lvl="1" indent="-285750">
              <a:buClr>
                <a:schemeClr val="accent2"/>
              </a:buClr>
              <a:buFont typeface="Wingdings" pitchFamily="2" charset="2"/>
              <a:buChar char="§"/>
            </a:pPr>
            <a:r>
              <a:rPr lang="en-US" sz="1800">
                <a:solidFill>
                  <a:schemeClr val="tx1"/>
                </a:solidFill>
              </a:rPr>
              <a:t>List future NASA missions that would benefit from this technology</a:t>
            </a:r>
          </a:p>
          <a:p>
            <a:pPr marL="742950" lvl="1" indent="-285750">
              <a:buClr>
                <a:schemeClr val="accent2"/>
              </a:buClr>
              <a:buFont typeface="Wingdings" pitchFamily="2" charset="2"/>
              <a:buChar char="§"/>
            </a:pPr>
            <a:r>
              <a:rPr lang="en-US" sz="1800">
                <a:solidFill>
                  <a:schemeClr val="tx1"/>
                </a:solidFill>
              </a:rPr>
              <a:t>Describe how your technology improves upon existing approaches and how it may expand the science goals and objectives of a future NASA mission</a:t>
            </a:r>
          </a:p>
          <a:p>
            <a:pPr marL="114300" indent="-342900">
              <a:buFont typeface="Arial" panose="020B0604020202020204" pitchFamily="34" charset="0"/>
              <a:buChar char="•"/>
            </a:pPr>
            <a:r>
              <a:rPr lang="en-US">
                <a:solidFill>
                  <a:schemeClr val="tx1"/>
                </a:solidFill>
              </a:rPr>
              <a:t>NASA Agency Goals and Objectives</a:t>
            </a:r>
          </a:p>
          <a:p>
            <a:pPr marL="742950" lvl="1" indent="-285750">
              <a:buClr>
                <a:schemeClr val="accent2"/>
              </a:buClr>
              <a:buFont typeface="Wingdings" pitchFamily="2" charset="2"/>
              <a:buChar char="§"/>
            </a:pPr>
            <a:r>
              <a:rPr lang="en-US" sz="1800">
                <a:solidFill>
                  <a:schemeClr val="tx1"/>
                </a:solidFill>
              </a:rPr>
              <a:t>Describe how your technology could benefit NASA objectives (e.g., returning to the Moon, going to Mars, space weather forecasting/nowcasting, etc.) </a:t>
            </a:r>
          </a:p>
          <a:p>
            <a:pPr marL="342900" indent="-342900">
              <a:buFont typeface="Arial" panose="020B0604020202020204" pitchFamily="34" charset="0"/>
              <a:buChar char="•"/>
            </a:pPr>
            <a:r>
              <a:rPr lang="en-US" sz="2400">
                <a:solidFill>
                  <a:schemeClr val="tx1"/>
                </a:solidFill>
              </a:rPr>
              <a:t>Benefit to </a:t>
            </a:r>
            <a:r>
              <a:rPr lang="en-US"/>
              <a:t>the Country</a:t>
            </a:r>
            <a:endParaRPr lang="en-US" sz="2400">
              <a:solidFill>
                <a:schemeClr val="tx1"/>
              </a:solidFill>
            </a:endParaRPr>
          </a:p>
          <a:p>
            <a:pPr marL="742950" lvl="1" indent="-285750">
              <a:buClr>
                <a:schemeClr val="accent2"/>
              </a:buClr>
              <a:buFont typeface="Wingdings" pitchFamily="2" charset="2"/>
              <a:buChar char="§"/>
            </a:pPr>
            <a:r>
              <a:rPr lang="en-US" sz="1800">
                <a:solidFill>
                  <a:schemeClr val="tx1"/>
                </a:solidFill>
              </a:rPr>
              <a:t>Describe how your technology could provide benefits more broadly, beyond NASA or the US Government</a:t>
            </a:r>
          </a:p>
          <a:p>
            <a:pPr marL="742950" lvl="1" indent="-285750">
              <a:buClr>
                <a:schemeClr val="accent2"/>
              </a:buClr>
              <a:buFont typeface="Wingdings" pitchFamily="2" charset="2"/>
              <a:buChar char="§"/>
            </a:pPr>
            <a:r>
              <a:rPr lang="en-US" sz="1800">
                <a:solidFill>
                  <a:schemeClr val="tx1"/>
                </a:solidFill>
              </a:rPr>
              <a:t>Why should the average US taxpayer be excited about this new technology? </a:t>
            </a:r>
          </a:p>
          <a:p>
            <a:pPr marL="742950" lvl="1" indent="-285750">
              <a:buClr>
                <a:schemeClr val="accent2"/>
              </a:buClr>
              <a:buFont typeface="Wingdings" pitchFamily="2" charset="2"/>
              <a:buChar char="§"/>
            </a:pPr>
            <a:r>
              <a:rPr lang="en-US" sz="1800">
                <a:solidFill>
                  <a:schemeClr val="tx1"/>
                </a:solidFill>
              </a:rPr>
              <a:t>Where and how could the commercial sector or US industry apply your technology?</a:t>
            </a:r>
            <a:endParaRPr lang="en-US">
              <a:solidFill>
                <a:schemeClr val="tx1"/>
              </a:solidFill>
            </a:endParaRPr>
          </a:p>
          <a:p>
            <a:endParaRPr lang="en-US">
              <a:solidFill>
                <a:schemeClr val="tx1"/>
              </a:solidFill>
            </a:endParaRPr>
          </a:p>
        </p:txBody>
      </p:sp>
      <p:sp>
        <p:nvSpPr>
          <p:cNvPr id="5" name="Slide Number Placeholder 4">
            <a:extLst>
              <a:ext uri="{FF2B5EF4-FFF2-40B4-BE49-F238E27FC236}">
                <a16:creationId xmlns:a16="http://schemas.microsoft.com/office/drawing/2014/main" id="{173A7DCD-C6D4-A2ED-D26B-A7DA768376CA}"/>
              </a:ext>
            </a:extLst>
          </p:cNvPr>
          <p:cNvSpPr>
            <a:spLocks noGrp="1"/>
          </p:cNvSpPr>
          <p:nvPr>
            <p:ph type="sldNum" sz="quarter" idx="12"/>
          </p:nvPr>
        </p:nvSpPr>
        <p:spPr/>
        <p:txBody>
          <a:bodyPr/>
          <a:lstStyle/>
          <a:p>
            <a:fld id="{88E0E29E-E225-F048-A964-380D52CA58AC}" type="slidenum">
              <a:rPr lang="en-US" smtClean="0"/>
              <a:t>3</a:t>
            </a:fld>
            <a:endParaRPr lang="en-US"/>
          </a:p>
        </p:txBody>
      </p:sp>
      <p:sp>
        <p:nvSpPr>
          <p:cNvPr id="3" name="TextBox 2">
            <a:extLst>
              <a:ext uri="{FF2B5EF4-FFF2-40B4-BE49-F238E27FC236}">
                <a16:creationId xmlns:a16="http://schemas.microsoft.com/office/drawing/2014/main" id="{C4477E3D-06CF-0E8B-C7EB-7E988424969B}"/>
              </a:ext>
            </a:extLst>
          </p:cNvPr>
          <p:cNvSpPr txBox="1"/>
          <p:nvPr/>
        </p:nvSpPr>
        <p:spPr>
          <a:xfrm>
            <a:off x="741218" y="5980091"/>
            <a:ext cx="10515599" cy="369332"/>
          </a:xfrm>
          <a:prstGeom prst="rect">
            <a:avLst/>
          </a:prstGeom>
          <a:solidFill>
            <a:schemeClr val="accent1"/>
          </a:solidFill>
        </p:spPr>
        <p:txBody>
          <a:bodyPr wrap="square" lIns="91440" tIns="45720" rIns="91440" bIns="45720" rtlCol="0" anchor="t">
            <a:spAutoFit/>
          </a:bodyPr>
          <a:lstStyle/>
          <a:p>
            <a:pPr algn="ctr"/>
            <a:r>
              <a:rPr lang="en-US" dirty="0">
                <a:solidFill>
                  <a:schemeClr val="bg1"/>
                </a:solidFill>
              </a:rPr>
              <a:t>See example on slide 28, </a:t>
            </a:r>
            <a:r>
              <a:rPr lang="en-US" b="1" dirty="0">
                <a:solidFill>
                  <a:schemeClr val="bg1"/>
                </a:solidFill>
              </a:rPr>
              <a:t>To be published on TechPort</a:t>
            </a:r>
          </a:p>
        </p:txBody>
      </p:sp>
      <p:sp>
        <p:nvSpPr>
          <p:cNvPr id="6" name="TextBox 5">
            <a:extLst>
              <a:ext uri="{FF2B5EF4-FFF2-40B4-BE49-F238E27FC236}">
                <a16:creationId xmlns:a16="http://schemas.microsoft.com/office/drawing/2014/main" id="{682E5543-5326-F87B-41C6-91E72A7D3517}"/>
              </a:ext>
            </a:extLst>
          </p:cNvPr>
          <p:cNvSpPr txBox="1"/>
          <p:nvPr/>
        </p:nvSpPr>
        <p:spPr>
          <a:xfrm>
            <a:off x="9459532" y="1287887"/>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3574870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E47A-ADB2-2AE8-3771-D9A36C66BE2C}"/>
              </a:ext>
            </a:extLst>
          </p:cNvPr>
          <p:cNvSpPr>
            <a:spLocks noGrp="1"/>
          </p:cNvSpPr>
          <p:nvPr>
            <p:ph type="title"/>
          </p:nvPr>
        </p:nvSpPr>
        <p:spPr/>
        <p:txBody>
          <a:bodyPr/>
          <a:lstStyle/>
          <a:p>
            <a:r>
              <a:rPr lang="en-US"/>
              <a:t>Key Accomplishments</a:t>
            </a:r>
          </a:p>
        </p:txBody>
      </p:sp>
      <p:sp>
        <p:nvSpPr>
          <p:cNvPr id="4" name="Text Placeholder 4">
            <a:extLst>
              <a:ext uri="{FF2B5EF4-FFF2-40B4-BE49-F238E27FC236}">
                <a16:creationId xmlns:a16="http://schemas.microsoft.com/office/drawing/2014/main" id="{AF5212D0-042F-F3AD-4CFE-91C0B70245D7}"/>
              </a:ext>
            </a:extLst>
          </p:cNvPr>
          <p:cNvSpPr txBox="1">
            <a:spLocks/>
          </p:cNvSpPr>
          <p:nvPr/>
        </p:nvSpPr>
        <p:spPr>
          <a:xfrm>
            <a:off x="342122" y="1207314"/>
            <a:ext cx="11489711" cy="5443541"/>
          </a:xfrm>
          <a:prstGeom prst="rect">
            <a:avLst/>
          </a:prstGeom>
          <a:ln>
            <a:solidFill>
              <a:schemeClr val="tx1"/>
            </a:solidFill>
          </a:ln>
        </p:spPr>
        <p:txBody>
          <a:bodyPr vert="horz" lIns="91440" tIns="45720" rIns="91440" bIns="45720" numCol="1" spcCol="18288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000" b="1">
                <a:solidFill>
                  <a:schemeClr val="tx1"/>
                </a:solidFill>
                <a:latin typeface="+mn-lt"/>
              </a:rPr>
              <a:t>Key Accomplishments in this Reporting Period:</a:t>
            </a:r>
          </a:p>
          <a:p>
            <a:r>
              <a:rPr lang="en-US" sz="2000">
                <a:solidFill>
                  <a:schemeClr val="tx1"/>
                </a:solidFill>
                <a:latin typeface="+mn-lt"/>
              </a:rPr>
              <a:t>Tasks Completed …		</a:t>
            </a:r>
          </a:p>
          <a:p>
            <a:pPr lvl="1">
              <a:buClr>
                <a:schemeClr val="accent2"/>
              </a:buClr>
              <a:buFont typeface="Wingdings" pitchFamily="2" charset="2"/>
              <a:buChar char="§"/>
            </a:pPr>
            <a:r>
              <a:rPr lang="en-US" sz="1800" err="1">
                <a:solidFill>
                  <a:schemeClr val="tx1"/>
                </a:solidFill>
                <a:latin typeface="+mn-lt"/>
              </a:rPr>
              <a:t>Xxx</a:t>
            </a:r>
            <a:endParaRPr lang="en-US" sz="1800">
              <a:solidFill>
                <a:schemeClr val="tx1"/>
              </a:solidFill>
              <a:latin typeface="+mn-lt"/>
            </a:endParaRPr>
          </a:p>
          <a:p>
            <a:pPr lvl="1">
              <a:buClr>
                <a:schemeClr val="accent2"/>
              </a:buClr>
              <a:buFont typeface="Wingdings" pitchFamily="2" charset="2"/>
              <a:buChar char="§"/>
            </a:pPr>
            <a:r>
              <a:rPr lang="en-US" sz="1800" err="1">
                <a:solidFill>
                  <a:schemeClr val="tx1"/>
                </a:solidFill>
                <a:latin typeface="+mn-lt"/>
              </a:rPr>
              <a:t>Yyyy</a:t>
            </a:r>
            <a:endParaRPr lang="en-US" sz="1800">
              <a:solidFill>
                <a:schemeClr val="tx1"/>
              </a:solidFill>
              <a:latin typeface="+mn-lt"/>
            </a:endParaRPr>
          </a:p>
          <a:p>
            <a:pPr lvl="1">
              <a:buClr>
                <a:schemeClr val="accent2"/>
              </a:buClr>
              <a:buFont typeface="Wingdings" pitchFamily="2" charset="2"/>
              <a:buChar char="§"/>
            </a:pPr>
            <a:r>
              <a:rPr lang="en-US" sz="1800">
                <a:solidFill>
                  <a:schemeClr val="tx1"/>
                </a:solidFill>
                <a:latin typeface="+mn-lt"/>
              </a:rPr>
              <a:t>Zzzz</a:t>
            </a:r>
            <a:endParaRPr lang="en-US" sz="2000">
              <a:solidFill>
                <a:schemeClr val="tx1"/>
              </a:solidFill>
              <a:latin typeface="+mn-lt"/>
            </a:endParaRPr>
          </a:p>
          <a:p>
            <a:r>
              <a:rPr lang="en-US" sz="2000">
                <a:solidFill>
                  <a:schemeClr val="tx1"/>
                </a:solidFill>
                <a:latin typeface="+mn-lt"/>
              </a:rPr>
              <a:t>Items Procured …</a:t>
            </a:r>
          </a:p>
          <a:p>
            <a:pPr lvl="1">
              <a:buClr>
                <a:schemeClr val="accent2"/>
              </a:buClr>
              <a:buFont typeface="Wingdings" pitchFamily="2" charset="2"/>
              <a:buChar char="§"/>
            </a:pPr>
            <a:r>
              <a:rPr lang="en-US" sz="1800" err="1">
                <a:solidFill>
                  <a:schemeClr val="tx1"/>
                </a:solidFill>
                <a:latin typeface="+mn-lt"/>
              </a:rPr>
              <a:t>Aaaa</a:t>
            </a:r>
            <a:endParaRPr lang="en-US" sz="1800">
              <a:solidFill>
                <a:schemeClr val="tx1"/>
              </a:solidFill>
              <a:latin typeface="+mn-lt"/>
            </a:endParaRPr>
          </a:p>
          <a:p>
            <a:pPr lvl="1">
              <a:buClr>
                <a:schemeClr val="accent2"/>
              </a:buClr>
              <a:buFont typeface="Wingdings" pitchFamily="2" charset="2"/>
              <a:buChar char="§"/>
            </a:pPr>
            <a:r>
              <a:rPr lang="en-US" sz="1800" err="1">
                <a:solidFill>
                  <a:schemeClr val="tx1"/>
                </a:solidFill>
                <a:latin typeface="+mn-lt"/>
              </a:rPr>
              <a:t>Bbbbb</a:t>
            </a:r>
            <a:endParaRPr lang="en-US" sz="1800">
              <a:solidFill>
                <a:schemeClr val="tx1"/>
              </a:solidFill>
              <a:latin typeface="+mn-lt"/>
            </a:endParaRPr>
          </a:p>
          <a:p>
            <a:r>
              <a:rPr lang="en-US" sz="2000">
                <a:solidFill>
                  <a:schemeClr val="tx1"/>
                </a:solidFill>
                <a:latin typeface="+mn-lt"/>
              </a:rPr>
              <a:t>Presented …</a:t>
            </a:r>
          </a:p>
          <a:p>
            <a:r>
              <a:rPr lang="en-US" sz="2000">
                <a:solidFill>
                  <a:schemeClr val="tx1"/>
                </a:solidFill>
                <a:latin typeface="+mn-lt"/>
              </a:rPr>
              <a:t>Other Accomplishments …</a:t>
            </a:r>
            <a:endParaRPr lang="en-US" sz="2400">
              <a:solidFill>
                <a:schemeClr val="tx1"/>
              </a:solidFill>
              <a:latin typeface="+mn-lt"/>
            </a:endParaRPr>
          </a:p>
        </p:txBody>
      </p:sp>
      <p:sp>
        <p:nvSpPr>
          <p:cNvPr id="5" name="Slide Number Placeholder 4">
            <a:extLst>
              <a:ext uri="{FF2B5EF4-FFF2-40B4-BE49-F238E27FC236}">
                <a16:creationId xmlns:a16="http://schemas.microsoft.com/office/drawing/2014/main" id="{A8A21C9B-8D87-4E55-6E92-F5CB3C7DCF11}"/>
              </a:ext>
            </a:extLst>
          </p:cNvPr>
          <p:cNvSpPr>
            <a:spLocks noGrp="1"/>
          </p:cNvSpPr>
          <p:nvPr>
            <p:ph type="sldNum" sz="quarter" idx="12"/>
          </p:nvPr>
        </p:nvSpPr>
        <p:spPr/>
        <p:txBody>
          <a:bodyPr/>
          <a:lstStyle/>
          <a:p>
            <a:fld id="{88E0E29E-E225-F048-A964-380D52CA58AC}" type="slidenum">
              <a:rPr lang="en-US" smtClean="0"/>
              <a:t>4</a:t>
            </a:fld>
            <a:endParaRPr lang="en-US"/>
          </a:p>
        </p:txBody>
      </p:sp>
    </p:spTree>
    <p:extLst>
      <p:ext uri="{BB962C8B-B14F-4D97-AF65-F5344CB8AC3E}">
        <p14:creationId xmlns:p14="http://schemas.microsoft.com/office/powerpoint/2010/main" val="750927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6CD6-3825-97A8-E4E7-429CEB2C56DA}"/>
              </a:ext>
            </a:extLst>
          </p:cNvPr>
          <p:cNvSpPr>
            <a:spLocks noGrp="1"/>
          </p:cNvSpPr>
          <p:nvPr>
            <p:ph type="title"/>
          </p:nvPr>
        </p:nvSpPr>
        <p:spPr/>
        <p:txBody>
          <a:bodyPr/>
          <a:lstStyle/>
          <a:p>
            <a:r>
              <a:rPr lang="en-US"/>
              <a:t>Project Highlights</a:t>
            </a:r>
          </a:p>
        </p:txBody>
      </p:sp>
      <p:sp>
        <p:nvSpPr>
          <p:cNvPr id="3" name="Text Placeholder 2">
            <a:extLst>
              <a:ext uri="{FF2B5EF4-FFF2-40B4-BE49-F238E27FC236}">
                <a16:creationId xmlns:a16="http://schemas.microsoft.com/office/drawing/2014/main" id="{27E44B3E-EE1C-9D68-3619-4DDC134CAA48}"/>
              </a:ext>
            </a:extLst>
          </p:cNvPr>
          <p:cNvSpPr>
            <a:spLocks noGrp="1"/>
          </p:cNvSpPr>
          <p:nvPr>
            <p:ph type="body" idx="1"/>
          </p:nvPr>
        </p:nvSpPr>
        <p:spPr>
          <a:xfrm>
            <a:off x="831850" y="1156364"/>
            <a:ext cx="10515600" cy="4965185"/>
          </a:xfrm>
        </p:spPr>
        <p:txBody>
          <a:bodyPr/>
          <a:lstStyle/>
          <a:p>
            <a:endParaRPr lang="en-US"/>
          </a:p>
        </p:txBody>
      </p:sp>
      <p:sp>
        <p:nvSpPr>
          <p:cNvPr id="4" name="TextBox 3">
            <a:extLst>
              <a:ext uri="{FF2B5EF4-FFF2-40B4-BE49-F238E27FC236}">
                <a16:creationId xmlns:a16="http://schemas.microsoft.com/office/drawing/2014/main" id="{4A381591-10F7-6F9E-3135-319E21197498}"/>
              </a:ext>
            </a:extLst>
          </p:cNvPr>
          <p:cNvSpPr txBox="1"/>
          <p:nvPr/>
        </p:nvSpPr>
        <p:spPr>
          <a:xfrm>
            <a:off x="8678922" y="871871"/>
            <a:ext cx="3513078" cy="307777"/>
          </a:xfrm>
          <a:prstGeom prst="rect">
            <a:avLst/>
          </a:prstGeom>
          <a:noFill/>
        </p:spPr>
        <p:txBody>
          <a:bodyPr wrap="none" rtlCol="0">
            <a:spAutoFit/>
          </a:bodyPr>
          <a:lstStyle/>
          <a:p>
            <a:r>
              <a:rPr lang="en-US" sz="1400" b="1"/>
              <a:t>Include photos, test results, events, etc.</a:t>
            </a:r>
          </a:p>
        </p:txBody>
      </p:sp>
      <p:sp>
        <p:nvSpPr>
          <p:cNvPr id="5" name="Slide Number Placeholder 4">
            <a:extLst>
              <a:ext uri="{FF2B5EF4-FFF2-40B4-BE49-F238E27FC236}">
                <a16:creationId xmlns:a16="http://schemas.microsoft.com/office/drawing/2014/main" id="{35C3903B-B4B2-B85D-6725-D103DA664F28}"/>
              </a:ext>
            </a:extLst>
          </p:cNvPr>
          <p:cNvSpPr>
            <a:spLocks noGrp="1"/>
          </p:cNvSpPr>
          <p:nvPr>
            <p:ph type="sldNum" sz="quarter" idx="12"/>
          </p:nvPr>
        </p:nvSpPr>
        <p:spPr/>
        <p:txBody>
          <a:bodyPr/>
          <a:lstStyle/>
          <a:p>
            <a:fld id="{88E0E29E-E225-F048-A964-380D52CA58AC}" type="slidenum">
              <a:rPr lang="en-US" smtClean="0"/>
              <a:t>5</a:t>
            </a:fld>
            <a:endParaRPr lang="en-US"/>
          </a:p>
        </p:txBody>
      </p:sp>
    </p:spTree>
    <p:extLst>
      <p:ext uri="{BB962C8B-B14F-4D97-AF65-F5344CB8AC3E}">
        <p14:creationId xmlns:p14="http://schemas.microsoft.com/office/powerpoint/2010/main" val="2593804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CF369-4C08-1038-591E-8A0BF873CF22}"/>
              </a:ext>
            </a:extLst>
          </p:cNvPr>
          <p:cNvSpPr>
            <a:spLocks noGrp="1"/>
          </p:cNvSpPr>
          <p:nvPr>
            <p:ph type="title"/>
          </p:nvPr>
        </p:nvSpPr>
        <p:spPr/>
        <p:txBody>
          <a:bodyPr/>
          <a:lstStyle/>
          <a:p>
            <a:r>
              <a:rPr lang="en-US" dirty="0"/>
              <a:t>System TRL Status</a:t>
            </a:r>
          </a:p>
        </p:txBody>
      </p:sp>
      <p:sp>
        <p:nvSpPr>
          <p:cNvPr id="4" name="Text Placeholder 4">
            <a:extLst>
              <a:ext uri="{FF2B5EF4-FFF2-40B4-BE49-F238E27FC236}">
                <a16:creationId xmlns:a16="http://schemas.microsoft.com/office/drawing/2014/main" id="{A0A8A7A9-091C-6BEB-BFD6-651D95EDFAA0}"/>
              </a:ext>
            </a:extLst>
          </p:cNvPr>
          <p:cNvSpPr txBox="1">
            <a:spLocks/>
          </p:cNvSpPr>
          <p:nvPr/>
        </p:nvSpPr>
        <p:spPr>
          <a:xfrm>
            <a:off x="6016369" y="926211"/>
            <a:ext cx="5865223" cy="5443541"/>
          </a:xfrm>
          <a:prstGeom prst="rect">
            <a:avLst/>
          </a:prstGeom>
          <a:ln>
            <a:solidFill>
              <a:schemeClr val="tx1"/>
            </a:solidFill>
          </a:ln>
        </p:spPr>
        <p:txBody>
          <a:bodyPr vert="horz" lIns="91440" tIns="45720" rIns="91440" bIns="45720" numCol="1" spcCol="18288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b="1">
                <a:solidFill>
                  <a:schemeClr val="tx1"/>
                </a:solidFill>
                <a:latin typeface="+mn-lt"/>
              </a:rPr>
              <a:t>Current TRL Assessment</a:t>
            </a:r>
          </a:p>
          <a:p>
            <a:r>
              <a:rPr lang="en-US" sz="1800">
                <a:solidFill>
                  <a:schemeClr val="tx1"/>
                </a:solidFill>
                <a:latin typeface="+mn-lt"/>
              </a:rPr>
              <a:t>XXX</a:t>
            </a:r>
          </a:p>
          <a:p>
            <a:pPr lvl="1">
              <a:buClr>
                <a:schemeClr val="accent2"/>
              </a:buClr>
              <a:buFont typeface="Wingdings" pitchFamily="2" charset="2"/>
              <a:buChar char="§"/>
            </a:pPr>
            <a:r>
              <a:rPr lang="en-US" sz="1800">
                <a:solidFill>
                  <a:schemeClr val="tx1"/>
                </a:solidFill>
                <a:latin typeface="+mn-lt"/>
              </a:rPr>
              <a:t>xxx</a:t>
            </a:r>
            <a:endParaRPr lang="en-US" sz="1600">
              <a:solidFill>
                <a:schemeClr val="tx1"/>
              </a:solidFill>
              <a:latin typeface="+mn-lt"/>
            </a:endParaRPr>
          </a:p>
          <a:p>
            <a:pPr marL="0" indent="0">
              <a:buNone/>
            </a:pPr>
            <a:endParaRPr lang="en-US" sz="1800" b="1">
              <a:solidFill>
                <a:schemeClr val="tx1"/>
              </a:solidFill>
              <a:latin typeface="+mn-lt"/>
            </a:endParaRPr>
          </a:p>
          <a:p>
            <a:pPr marL="0" indent="0">
              <a:buNone/>
            </a:pPr>
            <a:r>
              <a:rPr lang="en-US" sz="1800" b="1">
                <a:solidFill>
                  <a:schemeClr val="tx1"/>
                </a:solidFill>
                <a:latin typeface="+mn-lt"/>
              </a:rPr>
              <a:t>TRL Advancement Plan</a:t>
            </a:r>
            <a:endParaRPr lang="en-US" sz="1800">
              <a:solidFill>
                <a:schemeClr val="tx1"/>
              </a:solidFill>
              <a:latin typeface="+mn-lt"/>
            </a:endParaRPr>
          </a:p>
          <a:p>
            <a:pPr marL="342900" indent="-342900">
              <a:buFont typeface="+mj-lt"/>
              <a:buAutoNum type="arabicPeriod"/>
            </a:pPr>
            <a:r>
              <a:rPr lang="en-US" sz="1800">
                <a:solidFill>
                  <a:schemeClr val="tx1"/>
                </a:solidFill>
                <a:latin typeface="+mn-lt"/>
              </a:rPr>
              <a:t>Bench Testing</a:t>
            </a:r>
          </a:p>
          <a:p>
            <a:pPr lvl="1">
              <a:buClr>
                <a:schemeClr val="accent2"/>
              </a:buClr>
              <a:buFont typeface="Wingdings" pitchFamily="2" charset="2"/>
              <a:buChar char="§"/>
            </a:pPr>
            <a:r>
              <a:rPr lang="en-US" sz="1800" err="1">
                <a:solidFill>
                  <a:schemeClr val="tx1"/>
                </a:solidFill>
                <a:latin typeface="+mn-lt"/>
              </a:rPr>
              <a:t>Xxx</a:t>
            </a:r>
            <a:endParaRPr lang="en-US" sz="1800">
              <a:solidFill>
                <a:schemeClr val="tx1"/>
              </a:solidFill>
              <a:latin typeface="+mn-lt"/>
            </a:endParaRPr>
          </a:p>
          <a:p>
            <a:pPr marL="342900" indent="-342900">
              <a:buFont typeface="+mj-lt"/>
              <a:buAutoNum type="arabicPeriod"/>
            </a:pPr>
            <a:r>
              <a:rPr lang="en-US" sz="1800">
                <a:solidFill>
                  <a:schemeClr val="tx1"/>
                </a:solidFill>
                <a:latin typeface="+mn-lt"/>
              </a:rPr>
              <a:t>Radiation Testing</a:t>
            </a:r>
          </a:p>
          <a:p>
            <a:pPr lvl="1">
              <a:buClr>
                <a:schemeClr val="accent2"/>
              </a:buClr>
              <a:buFont typeface="Wingdings" pitchFamily="2" charset="2"/>
              <a:buChar char="§"/>
            </a:pPr>
            <a:r>
              <a:rPr lang="en-US" sz="1800" err="1">
                <a:solidFill>
                  <a:schemeClr val="tx1"/>
                </a:solidFill>
                <a:latin typeface="+mn-lt"/>
              </a:rPr>
              <a:t>Xxx</a:t>
            </a:r>
            <a:endParaRPr lang="en-US" sz="1600">
              <a:solidFill>
                <a:schemeClr val="tx1"/>
              </a:solidFill>
              <a:latin typeface="+mn-lt"/>
            </a:endParaRPr>
          </a:p>
          <a:p>
            <a:pPr marL="342900" indent="-342900">
              <a:buFont typeface="+mj-lt"/>
              <a:buAutoNum type="arabicPeriod"/>
            </a:pPr>
            <a:r>
              <a:rPr lang="en-US" sz="1800">
                <a:solidFill>
                  <a:schemeClr val="tx1"/>
                </a:solidFill>
                <a:latin typeface="+mn-lt"/>
              </a:rPr>
              <a:t>Vibration Testing</a:t>
            </a:r>
          </a:p>
          <a:p>
            <a:pPr lvl="1">
              <a:buClr>
                <a:schemeClr val="accent2"/>
              </a:buClr>
              <a:buFont typeface="Wingdings" pitchFamily="2" charset="2"/>
              <a:buChar char="§"/>
            </a:pPr>
            <a:r>
              <a:rPr lang="en-US" sz="1800" err="1">
                <a:solidFill>
                  <a:schemeClr val="tx1"/>
                </a:solidFill>
                <a:latin typeface="+mn-lt"/>
              </a:rPr>
              <a:t>Xxx</a:t>
            </a:r>
            <a:endParaRPr lang="en-US" sz="1600">
              <a:solidFill>
                <a:schemeClr val="tx1"/>
              </a:solidFill>
              <a:latin typeface="+mn-lt"/>
            </a:endParaRPr>
          </a:p>
          <a:p>
            <a:pPr marL="342900" indent="-342900">
              <a:buFont typeface="+mj-lt"/>
              <a:buAutoNum type="arabicPeriod"/>
            </a:pPr>
            <a:r>
              <a:rPr lang="en-US" sz="1800">
                <a:solidFill>
                  <a:schemeClr val="tx1"/>
                </a:solidFill>
                <a:latin typeface="+mn-lt"/>
              </a:rPr>
              <a:t>Thermal Vacuum Testing</a:t>
            </a:r>
          </a:p>
          <a:p>
            <a:pPr lvl="1">
              <a:buClr>
                <a:schemeClr val="accent2"/>
              </a:buClr>
              <a:buFont typeface="Wingdings" pitchFamily="2" charset="2"/>
              <a:buChar char="§"/>
            </a:pPr>
            <a:r>
              <a:rPr lang="en-US" sz="1800" err="1">
                <a:solidFill>
                  <a:schemeClr val="tx1"/>
                </a:solidFill>
                <a:latin typeface="+mn-lt"/>
              </a:rPr>
              <a:t>Xxx</a:t>
            </a:r>
            <a:endParaRPr lang="en-US" sz="1600">
              <a:solidFill>
                <a:schemeClr val="tx1"/>
              </a:solidFill>
              <a:latin typeface="+mn-lt"/>
            </a:endParaRPr>
          </a:p>
          <a:p>
            <a:pPr>
              <a:buClr>
                <a:schemeClr val="accent3"/>
              </a:buClr>
              <a:buFont typeface="Wingdings" pitchFamily="2" charset="2"/>
              <a:buChar char="§"/>
            </a:pPr>
            <a:endParaRPr lang="en-US" sz="2000">
              <a:solidFill>
                <a:schemeClr val="tx1"/>
              </a:solidFill>
              <a:latin typeface="+mn-lt"/>
            </a:endParaRPr>
          </a:p>
        </p:txBody>
      </p:sp>
      <p:graphicFrame>
        <p:nvGraphicFramePr>
          <p:cNvPr id="5" name="Table 2">
            <a:extLst>
              <a:ext uri="{FF2B5EF4-FFF2-40B4-BE49-F238E27FC236}">
                <a16:creationId xmlns:a16="http://schemas.microsoft.com/office/drawing/2014/main" id="{C933F2F0-4705-DB41-CE01-5E8063D32211}"/>
              </a:ext>
            </a:extLst>
          </p:cNvPr>
          <p:cNvGraphicFramePr>
            <a:graphicFrameLocks noGrp="1"/>
          </p:cNvGraphicFramePr>
          <p:nvPr>
            <p:extLst>
              <p:ext uri="{D42A27DB-BD31-4B8C-83A1-F6EECF244321}">
                <p14:modId xmlns:p14="http://schemas.microsoft.com/office/powerpoint/2010/main" val="816358816"/>
              </p:ext>
            </p:extLst>
          </p:nvPr>
        </p:nvGraphicFramePr>
        <p:xfrm>
          <a:off x="310408" y="926211"/>
          <a:ext cx="5518114" cy="5443541"/>
        </p:xfrm>
        <a:graphic>
          <a:graphicData uri="http://schemas.openxmlformats.org/drawingml/2006/table">
            <a:tbl>
              <a:tblPr firstRow="1" bandRow="1">
                <a:tableStyleId>{073A0DAA-6AF3-43AB-8588-CEC1D06C72B9}</a:tableStyleId>
              </a:tblPr>
              <a:tblGrid>
                <a:gridCol w="1729886">
                  <a:extLst>
                    <a:ext uri="{9D8B030D-6E8A-4147-A177-3AD203B41FA5}">
                      <a16:colId xmlns:a16="http://schemas.microsoft.com/office/drawing/2014/main" val="2086330403"/>
                    </a:ext>
                  </a:extLst>
                </a:gridCol>
                <a:gridCol w="3788228">
                  <a:extLst>
                    <a:ext uri="{9D8B030D-6E8A-4147-A177-3AD203B41FA5}">
                      <a16:colId xmlns:a16="http://schemas.microsoft.com/office/drawing/2014/main" val="4125990870"/>
                    </a:ext>
                  </a:extLst>
                </a:gridCol>
              </a:tblGrid>
              <a:tr h="342818">
                <a:tc gridSpan="2">
                  <a:txBody>
                    <a:bodyPr/>
                    <a:lstStyle/>
                    <a:p>
                      <a:pPr algn="ctr"/>
                      <a:r>
                        <a:rPr lang="en-US" sz="1600"/>
                        <a:t>Technology Information</a:t>
                      </a:r>
                    </a:p>
                  </a:txBody>
                  <a:tcPr anchor="ctr"/>
                </a:tc>
                <a:tc hMerge="1">
                  <a:txBody>
                    <a:bodyPr/>
                    <a:lstStyle/>
                    <a:p>
                      <a:endParaRPr lang="en-US" sz="1600"/>
                    </a:p>
                  </a:txBody>
                  <a:tcPr anchor="ctr"/>
                </a:tc>
                <a:extLst>
                  <a:ext uri="{0D108BD9-81ED-4DB2-BD59-A6C34878D82A}">
                    <a16:rowId xmlns:a16="http://schemas.microsoft.com/office/drawing/2014/main" val="1644467020"/>
                  </a:ext>
                </a:extLst>
              </a:tr>
              <a:tr h="379178">
                <a:tc>
                  <a:txBody>
                    <a:bodyPr/>
                    <a:lstStyle/>
                    <a:p>
                      <a:r>
                        <a:rPr lang="en-US" sz="1400"/>
                        <a:t>Name</a:t>
                      </a:r>
                    </a:p>
                  </a:txBody>
                  <a:tcPr anchor="ctr"/>
                </a:tc>
                <a:tc>
                  <a:txBody>
                    <a:bodyPr/>
                    <a:lstStyle/>
                    <a:p>
                      <a:endParaRPr lang="en-US" sz="1400"/>
                    </a:p>
                  </a:txBody>
                  <a:tcPr anchor="ctr"/>
                </a:tc>
                <a:extLst>
                  <a:ext uri="{0D108BD9-81ED-4DB2-BD59-A6C34878D82A}">
                    <a16:rowId xmlns:a16="http://schemas.microsoft.com/office/drawing/2014/main" val="781121940"/>
                  </a:ext>
                </a:extLst>
              </a:tr>
              <a:tr h="3584011">
                <a:tc>
                  <a:txBody>
                    <a:bodyPr/>
                    <a:lstStyle/>
                    <a:p>
                      <a:r>
                        <a:rPr lang="en-US" sz="1400"/>
                        <a:t>Description and Purpose</a:t>
                      </a:r>
                    </a:p>
                  </a:txBody>
                  <a:tcPr anchor="ctr"/>
                </a:tc>
                <a:tc>
                  <a:txBody>
                    <a:bodyPr/>
                    <a:lstStyle/>
                    <a:p>
                      <a:endParaRPr lang="en-US" sz="1400" dirty="0"/>
                    </a:p>
                  </a:txBody>
                  <a:tcPr anchor="ctr"/>
                </a:tc>
                <a:extLst>
                  <a:ext uri="{0D108BD9-81ED-4DB2-BD59-A6C34878D82A}">
                    <a16:rowId xmlns:a16="http://schemas.microsoft.com/office/drawing/2014/main" val="1865178220"/>
                  </a:ext>
                </a:extLst>
              </a:tr>
              <a:tr h="379178">
                <a:tc>
                  <a:txBody>
                    <a:bodyPr/>
                    <a:lstStyle/>
                    <a:p>
                      <a:r>
                        <a:rPr lang="en-US" sz="1400"/>
                        <a:t>TRL Coming In</a:t>
                      </a:r>
                    </a:p>
                  </a:txBody>
                  <a:tcPr anchor="ctr"/>
                </a:tc>
                <a:tc>
                  <a:txBody>
                    <a:bodyPr/>
                    <a:lstStyle/>
                    <a:p>
                      <a:pPr algn="ctr"/>
                      <a:r>
                        <a:rPr lang="en-US" sz="1400" dirty="0"/>
                        <a:t>4</a:t>
                      </a:r>
                    </a:p>
                  </a:txBody>
                  <a:tcPr anchor="ctr"/>
                </a:tc>
                <a:extLst>
                  <a:ext uri="{0D108BD9-81ED-4DB2-BD59-A6C34878D82A}">
                    <a16:rowId xmlns:a16="http://schemas.microsoft.com/office/drawing/2014/main" val="984117407"/>
                  </a:ext>
                </a:extLst>
              </a:tr>
              <a:tr h="379178">
                <a:tc>
                  <a:txBody>
                    <a:bodyPr/>
                    <a:lstStyle/>
                    <a:p>
                      <a:r>
                        <a:rPr lang="en-US" sz="1400"/>
                        <a:t>Current TRL</a:t>
                      </a:r>
                    </a:p>
                  </a:txBody>
                  <a:tcPr anchor="ctr"/>
                </a:tc>
                <a:tc>
                  <a:txBody>
                    <a:bodyPr/>
                    <a:lstStyle/>
                    <a:p>
                      <a:pPr algn="ctr"/>
                      <a:r>
                        <a:rPr lang="en-US" sz="1400" dirty="0"/>
                        <a:t>5</a:t>
                      </a:r>
                    </a:p>
                  </a:txBody>
                  <a:tcPr anchor="ctr"/>
                </a:tc>
                <a:extLst>
                  <a:ext uri="{0D108BD9-81ED-4DB2-BD59-A6C34878D82A}">
                    <a16:rowId xmlns:a16="http://schemas.microsoft.com/office/drawing/2014/main" val="555945980"/>
                  </a:ext>
                </a:extLst>
              </a:tr>
              <a:tr h="379178">
                <a:tc>
                  <a:txBody>
                    <a:bodyPr/>
                    <a:lstStyle/>
                    <a:p>
                      <a:r>
                        <a:rPr lang="en-US" sz="1400"/>
                        <a:t>Planned Exit TRL</a:t>
                      </a:r>
                    </a:p>
                  </a:txBody>
                  <a:tcPr anchor="ctr"/>
                </a:tc>
                <a:tc>
                  <a:txBody>
                    <a:bodyPr/>
                    <a:lstStyle/>
                    <a:p>
                      <a:pPr algn="ctr"/>
                      <a:r>
                        <a:rPr lang="en-US" sz="1400" dirty="0"/>
                        <a:t>6</a:t>
                      </a:r>
                    </a:p>
                  </a:txBody>
                  <a:tcPr anchor="ctr"/>
                </a:tc>
                <a:extLst>
                  <a:ext uri="{0D108BD9-81ED-4DB2-BD59-A6C34878D82A}">
                    <a16:rowId xmlns:a16="http://schemas.microsoft.com/office/drawing/2014/main" val="470357989"/>
                  </a:ext>
                </a:extLst>
              </a:tr>
            </a:tbl>
          </a:graphicData>
        </a:graphic>
      </p:graphicFrame>
      <p:sp>
        <p:nvSpPr>
          <p:cNvPr id="6" name="Slide Number Placeholder 5">
            <a:extLst>
              <a:ext uri="{FF2B5EF4-FFF2-40B4-BE49-F238E27FC236}">
                <a16:creationId xmlns:a16="http://schemas.microsoft.com/office/drawing/2014/main" id="{43395740-C9B9-83B0-41FB-12DDF4897FDF}"/>
              </a:ext>
            </a:extLst>
          </p:cNvPr>
          <p:cNvSpPr>
            <a:spLocks noGrp="1"/>
          </p:cNvSpPr>
          <p:nvPr>
            <p:ph type="sldNum" sz="quarter" idx="12"/>
          </p:nvPr>
        </p:nvSpPr>
        <p:spPr/>
        <p:txBody>
          <a:bodyPr/>
          <a:lstStyle/>
          <a:p>
            <a:fld id="{88E0E29E-E225-F048-A964-380D52CA58AC}" type="slidenum">
              <a:rPr lang="en-US" smtClean="0"/>
              <a:t>6</a:t>
            </a:fld>
            <a:endParaRPr lang="en-US"/>
          </a:p>
        </p:txBody>
      </p:sp>
      <p:sp>
        <p:nvSpPr>
          <p:cNvPr id="3" name="TextBox 2">
            <a:extLst>
              <a:ext uri="{FF2B5EF4-FFF2-40B4-BE49-F238E27FC236}">
                <a16:creationId xmlns:a16="http://schemas.microsoft.com/office/drawing/2014/main" id="{2832E4F9-1DA4-7E61-9707-E52517227D11}"/>
              </a:ext>
            </a:extLst>
          </p:cNvPr>
          <p:cNvSpPr txBox="1"/>
          <p:nvPr/>
        </p:nvSpPr>
        <p:spPr>
          <a:xfrm>
            <a:off x="310408" y="6441201"/>
            <a:ext cx="11571184" cy="369332"/>
          </a:xfrm>
          <a:prstGeom prst="rect">
            <a:avLst/>
          </a:prstGeom>
          <a:solidFill>
            <a:schemeClr val="bg2">
              <a:lumMod val="75000"/>
            </a:schemeClr>
          </a:solidFill>
        </p:spPr>
        <p:txBody>
          <a:bodyPr wrap="square" rtlCol="0">
            <a:spAutoFit/>
          </a:bodyPr>
          <a:lstStyle/>
          <a:p>
            <a:r>
              <a:rPr lang="en-US">
                <a:solidFill>
                  <a:schemeClr val="bg1"/>
                </a:solidFill>
              </a:rPr>
              <a:t>See </a:t>
            </a:r>
            <a:r>
              <a:rPr lang="en-US">
                <a:solidFill>
                  <a:schemeClr val="bg1"/>
                </a:solidFill>
                <a:hlinkClick r:id="rId2">
                  <a:extLst>
                    <a:ext uri="{A12FA001-AC4F-418D-AE19-62706E023703}">
                      <ahyp:hlinkClr xmlns:ahyp="http://schemas.microsoft.com/office/drawing/2018/hyperlinkcolor" val="tx"/>
                    </a:ext>
                  </a:extLst>
                </a:hlinkClick>
              </a:rPr>
              <a:t>Focused Topics – NASA HESTO</a:t>
            </a:r>
            <a:r>
              <a:rPr lang="en-US">
                <a:solidFill>
                  <a:schemeClr val="bg1"/>
                </a:solidFill>
              </a:rPr>
              <a:t> for guidance on TRL</a:t>
            </a:r>
          </a:p>
        </p:txBody>
      </p:sp>
      <p:sp>
        <p:nvSpPr>
          <p:cNvPr id="7" name="TextBox 6">
            <a:extLst>
              <a:ext uri="{FF2B5EF4-FFF2-40B4-BE49-F238E27FC236}">
                <a16:creationId xmlns:a16="http://schemas.microsoft.com/office/drawing/2014/main" id="{F38074B7-94D6-FC40-4DF1-0925312DC308}"/>
              </a:ext>
            </a:extLst>
          </p:cNvPr>
          <p:cNvSpPr txBox="1"/>
          <p:nvPr/>
        </p:nvSpPr>
        <p:spPr>
          <a:xfrm>
            <a:off x="9459532" y="1287887"/>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1460183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8D366-F211-387F-234B-EC09496820C1}"/>
              </a:ext>
            </a:extLst>
          </p:cNvPr>
          <p:cNvSpPr>
            <a:spLocks noGrp="1"/>
          </p:cNvSpPr>
          <p:nvPr>
            <p:ph type="title"/>
          </p:nvPr>
        </p:nvSpPr>
        <p:spPr/>
        <p:txBody>
          <a:bodyPr>
            <a:normAutofit/>
          </a:bodyPr>
          <a:lstStyle/>
          <a:p>
            <a:r>
              <a:rPr lang="en-US" sz="3800"/>
              <a:t>Technology Maturation and Infusion</a:t>
            </a:r>
          </a:p>
        </p:txBody>
      </p:sp>
      <p:sp>
        <p:nvSpPr>
          <p:cNvPr id="4" name="Text Placeholder 4">
            <a:extLst>
              <a:ext uri="{FF2B5EF4-FFF2-40B4-BE49-F238E27FC236}">
                <a16:creationId xmlns:a16="http://schemas.microsoft.com/office/drawing/2014/main" id="{A2DE3E5F-431D-1AA9-1E4D-752189B7C0C8}"/>
              </a:ext>
            </a:extLst>
          </p:cNvPr>
          <p:cNvSpPr>
            <a:spLocks noGrp="1"/>
          </p:cNvSpPr>
          <p:nvPr>
            <p:ph type="body" idx="1"/>
          </p:nvPr>
        </p:nvSpPr>
        <p:spPr>
          <a:xfrm>
            <a:off x="293600" y="1207314"/>
            <a:ext cx="5525364" cy="5443541"/>
          </a:xfrm>
          <a:ln>
            <a:solidFill>
              <a:schemeClr val="tx1"/>
            </a:solidFill>
          </a:ln>
        </p:spPr>
        <p:txBody>
          <a:bodyPr numCol="1" spcCol="182880">
            <a:normAutofit/>
          </a:bodyPr>
          <a:lstStyle/>
          <a:p>
            <a:pPr marL="0" indent="0">
              <a:buNone/>
            </a:pPr>
            <a:r>
              <a:rPr lang="en-US" sz="1800" b="1"/>
              <a:t>Technology Maturation Plan</a:t>
            </a:r>
            <a:endParaRPr lang="en-US" sz="1800" b="1">
              <a:solidFill>
                <a:schemeClr val="tx1"/>
              </a:solidFill>
              <a:latin typeface="+mn-lt"/>
            </a:endParaRPr>
          </a:p>
          <a:p>
            <a:pPr marL="285750" indent="-285750">
              <a:buFont typeface="Arial" panose="020B0604020202020204" pitchFamily="34" charset="0"/>
              <a:buChar char="•"/>
            </a:pPr>
            <a:r>
              <a:rPr lang="en-US" sz="1800">
                <a:solidFill>
                  <a:schemeClr val="tx1"/>
                </a:solidFill>
                <a:latin typeface="+mn-lt"/>
              </a:rPr>
              <a:t>XXX</a:t>
            </a:r>
          </a:p>
          <a:p>
            <a:pPr lvl="1">
              <a:buClr>
                <a:schemeClr val="accent2"/>
              </a:buClr>
              <a:buFont typeface="Wingdings" pitchFamily="2" charset="2"/>
              <a:buChar char="§"/>
            </a:pPr>
            <a:r>
              <a:rPr lang="en-US" sz="1800">
                <a:solidFill>
                  <a:schemeClr val="tx1"/>
                </a:solidFill>
                <a:latin typeface="+mn-lt"/>
              </a:rPr>
              <a:t> xxx</a:t>
            </a:r>
            <a:endParaRPr lang="en-US" sz="1600">
              <a:solidFill>
                <a:schemeClr val="tx1"/>
              </a:solidFill>
              <a:latin typeface="+mn-lt"/>
            </a:endParaRPr>
          </a:p>
          <a:p>
            <a:pPr lvl="1">
              <a:buClr>
                <a:schemeClr val="accent1"/>
              </a:buClr>
            </a:pPr>
            <a:endParaRPr lang="en-US" sz="1200">
              <a:solidFill>
                <a:schemeClr val="tx1"/>
              </a:solidFill>
              <a:latin typeface="+mn-lt"/>
            </a:endParaRPr>
          </a:p>
          <a:p>
            <a:endParaRPr lang="en-US">
              <a:solidFill>
                <a:schemeClr val="tx1"/>
              </a:solidFill>
            </a:endParaRPr>
          </a:p>
          <a:p>
            <a:endParaRPr lang="en-US">
              <a:solidFill>
                <a:schemeClr val="tx1"/>
              </a:solidFill>
            </a:endParaRPr>
          </a:p>
        </p:txBody>
      </p:sp>
      <p:sp>
        <p:nvSpPr>
          <p:cNvPr id="5" name="Text Placeholder 4">
            <a:extLst>
              <a:ext uri="{FF2B5EF4-FFF2-40B4-BE49-F238E27FC236}">
                <a16:creationId xmlns:a16="http://schemas.microsoft.com/office/drawing/2014/main" id="{3228A7E9-0C10-2344-EA57-BD71177756CA}"/>
              </a:ext>
            </a:extLst>
          </p:cNvPr>
          <p:cNvSpPr txBox="1">
            <a:spLocks/>
          </p:cNvSpPr>
          <p:nvPr/>
        </p:nvSpPr>
        <p:spPr>
          <a:xfrm>
            <a:off x="6016369" y="1207314"/>
            <a:ext cx="5865223" cy="5443541"/>
          </a:xfrm>
          <a:prstGeom prst="rect">
            <a:avLst/>
          </a:prstGeom>
          <a:ln>
            <a:solidFill>
              <a:schemeClr val="tx1"/>
            </a:solidFill>
          </a:ln>
        </p:spPr>
        <p:txBody>
          <a:bodyPr vert="horz" lIns="91440" tIns="45720" rIns="91440" bIns="45720" numCol="1" spcCol="18288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b="1">
                <a:solidFill>
                  <a:schemeClr val="tx1"/>
                </a:solidFill>
                <a:latin typeface="+mn-lt"/>
              </a:rPr>
              <a:t>Technology Infusion Plan</a:t>
            </a:r>
            <a:endParaRPr lang="en-US" sz="1800">
              <a:solidFill>
                <a:schemeClr val="tx1"/>
              </a:solidFill>
              <a:latin typeface="+mn-lt"/>
            </a:endParaRPr>
          </a:p>
          <a:p>
            <a:r>
              <a:rPr lang="en-US" sz="1800">
                <a:solidFill>
                  <a:schemeClr val="tx1"/>
                </a:solidFill>
                <a:latin typeface="+mn-lt"/>
              </a:rPr>
              <a:t>XXX</a:t>
            </a:r>
          </a:p>
          <a:p>
            <a:pPr lvl="1">
              <a:buClr>
                <a:schemeClr val="accent2"/>
              </a:buClr>
              <a:buFont typeface="Wingdings" pitchFamily="2" charset="2"/>
              <a:buChar char="§"/>
            </a:pPr>
            <a:r>
              <a:rPr lang="en-US" sz="1800">
                <a:solidFill>
                  <a:schemeClr val="tx1"/>
                </a:solidFill>
                <a:latin typeface="+mn-lt"/>
              </a:rPr>
              <a:t>xxx</a:t>
            </a:r>
            <a:endParaRPr lang="en-US" sz="1600">
              <a:solidFill>
                <a:schemeClr val="tx1"/>
              </a:solidFill>
              <a:latin typeface="+mn-lt"/>
            </a:endParaRPr>
          </a:p>
        </p:txBody>
      </p:sp>
      <p:sp>
        <p:nvSpPr>
          <p:cNvPr id="7" name="Slide Number Placeholder 6">
            <a:extLst>
              <a:ext uri="{FF2B5EF4-FFF2-40B4-BE49-F238E27FC236}">
                <a16:creationId xmlns:a16="http://schemas.microsoft.com/office/drawing/2014/main" id="{4814104F-7A9A-5DD8-F531-CEF2486E5780}"/>
              </a:ext>
            </a:extLst>
          </p:cNvPr>
          <p:cNvSpPr>
            <a:spLocks noGrp="1"/>
          </p:cNvSpPr>
          <p:nvPr>
            <p:ph type="sldNum" sz="quarter" idx="12"/>
          </p:nvPr>
        </p:nvSpPr>
        <p:spPr/>
        <p:txBody>
          <a:bodyPr/>
          <a:lstStyle/>
          <a:p>
            <a:fld id="{88E0E29E-E225-F048-A964-380D52CA58AC}" type="slidenum">
              <a:rPr lang="en-US" smtClean="0"/>
              <a:t>7</a:t>
            </a:fld>
            <a:endParaRPr lang="en-US"/>
          </a:p>
        </p:txBody>
      </p:sp>
    </p:spTree>
    <p:extLst>
      <p:ext uri="{BB962C8B-B14F-4D97-AF65-F5344CB8AC3E}">
        <p14:creationId xmlns:p14="http://schemas.microsoft.com/office/powerpoint/2010/main" val="3405258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A839-6D2D-09E6-185D-5A47D33B8CE8}"/>
              </a:ext>
            </a:extLst>
          </p:cNvPr>
          <p:cNvSpPr>
            <a:spLocks noGrp="1"/>
          </p:cNvSpPr>
          <p:nvPr>
            <p:ph type="title"/>
          </p:nvPr>
        </p:nvSpPr>
        <p:spPr/>
        <p:txBody>
          <a:bodyPr/>
          <a:lstStyle/>
          <a:p>
            <a:r>
              <a:rPr lang="en-US"/>
              <a:t>Science Traceability Matrix</a:t>
            </a:r>
          </a:p>
        </p:txBody>
      </p:sp>
      <p:graphicFrame>
        <p:nvGraphicFramePr>
          <p:cNvPr id="4" name="Table 3">
            <a:extLst>
              <a:ext uri="{FF2B5EF4-FFF2-40B4-BE49-F238E27FC236}">
                <a16:creationId xmlns:a16="http://schemas.microsoft.com/office/drawing/2014/main" id="{0692866C-E72E-1478-3537-290FB733D3BF}"/>
              </a:ext>
            </a:extLst>
          </p:cNvPr>
          <p:cNvGraphicFramePr>
            <a:graphicFrameLocks noGrp="1"/>
          </p:cNvGraphicFramePr>
          <p:nvPr>
            <p:extLst>
              <p:ext uri="{D42A27DB-BD31-4B8C-83A1-F6EECF244321}">
                <p14:modId xmlns:p14="http://schemas.microsoft.com/office/powerpoint/2010/main" val="3725364700"/>
              </p:ext>
            </p:extLst>
          </p:nvPr>
        </p:nvGraphicFramePr>
        <p:xfrm>
          <a:off x="298579" y="1476994"/>
          <a:ext cx="11632163" cy="3134053"/>
        </p:xfrm>
        <a:graphic>
          <a:graphicData uri="http://schemas.openxmlformats.org/drawingml/2006/table">
            <a:tbl>
              <a:tblPr firstRow="1" bandRow="1">
                <a:tableStyleId>{073A0DAA-6AF3-43AB-8588-CEC1D06C72B9}</a:tableStyleId>
              </a:tblPr>
              <a:tblGrid>
                <a:gridCol w="1328771">
                  <a:extLst>
                    <a:ext uri="{9D8B030D-6E8A-4147-A177-3AD203B41FA5}">
                      <a16:colId xmlns:a16="http://schemas.microsoft.com/office/drawing/2014/main" val="20000"/>
                    </a:ext>
                  </a:extLst>
                </a:gridCol>
                <a:gridCol w="1865218">
                  <a:extLst>
                    <a:ext uri="{9D8B030D-6E8A-4147-A177-3AD203B41FA5}">
                      <a16:colId xmlns:a16="http://schemas.microsoft.com/office/drawing/2014/main" val="3442683594"/>
                    </a:ext>
                  </a:extLst>
                </a:gridCol>
                <a:gridCol w="1432544">
                  <a:extLst>
                    <a:ext uri="{9D8B030D-6E8A-4147-A177-3AD203B41FA5}">
                      <a16:colId xmlns:a16="http://schemas.microsoft.com/office/drawing/2014/main" val="56280237"/>
                    </a:ext>
                  </a:extLst>
                </a:gridCol>
                <a:gridCol w="1614208">
                  <a:extLst>
                    <a:ext uri="{9D8B030D-6E8A-4147-A177-3AD203B41FA5}">
                      <a16:colId xmlns:a16="http://schemas.microsoft.com/office/drawing/2014/main" val="20001"/>
                    </a:ext>
                  </a:extLst>
                </a:gridCol>
                <a:gridCol w="1635918">
                  <a:extLst>
                    <a:ext uri="{9D8B030D-6E8A-4147-A177-3AD203B41FA5}">
                      <a16:colId xmlns:a16="http://schemas.microsoft.com/office/drawing/2014/main" val="20002"/>
                    </a:ext>
                  </a:extLst>
                </a:gridCol>
                <a:gridCol w="1760493">
                  <a:extLst>
                    <a:ext uri="{9D8B030D-6E8A-4147-A177-3AD203B41FA5}">
                      <a16:colId xmlns:a16="http://schemas.microsoft.com/office/drawing/2014/main" val="3664254247"/>
                    </a:ext>
                  </a:extLst>
                </a:gridCol>
                <a:gridCol w="1995011">
                  <a:extLst>
                    <a:ext uri="{9D8B030D-6E8A-4147-A177-3AD203B41FA5}">
                      <a16:colId xmlns:a16="http://schemas.microsoft.com/office/drawing/2014/main" val="3190695847"/>
                    </a:ext>
                  </a:extLst>
                </a:gridCol>
              </a:tblGrid>
              <a:tr h="359263">
                <a:tc rowSpan="2">
                  <a:txBody>
                    <a:bodyPr/>
                    <a:lstStyle/>
                    <a:p>
                      <a:pPr algn="ctr"/>
                      <a:r>
                        <a:rPr lang="en-US" sz="1100">
                          <a:latin typeface="+mn-lt"/>
                        </a:rPr>
                        <a:t>Goal</a:t>
                      </a:r>
                    </a:p>
                  </a:txBody>
                  <a:tcPr anchor="ctr"/>
                </a:tc>
                <a:tc rowSpan="2">
                  <a:txBody>
                    <a:bodyPr/>
                    <a:lstStyle/>
                    <a:p>
                      <a:pPr algn="ctr"/>
                      <a:r>
                        <a:rPr lang="en-US" sz="1100">
                          <a:latin typeface="+mn-lt"/>
                        </a:rPr>
                        <a:t>Objective</a:t>
                      </a:r>
                    </a:p>
                  </a:txBody>
                  <a:tcPr anchor="ctr"/>
                </a:tc>
                <a:tc gridSpan="2">
                  <a:txBody>
                    <a:bodyPr/>
                    <a:lstStyle/>
                    <a:p>
                      <a:pPr algn="ctr"/>
                      <a:r>
                        <a:rPr lang="en-US" sz="1100">
                          <a:latin typeface="+mn-lt"/>
                        </a:rPr>
                        <a:t>Scientific Measurement Requirements</a:t>
                      </a:r>
                    </a:p>
                  </a:txBody>
                  <a:tcPr anchor="ctr"/>
                </a:tc>
                <a:tc hMerge="1">
                  <a:txBody>
                    <a:bodyPr/>
                    <a:lstStyle/>
                    <a:p>
                      <a:pPr algn="ctr"/>
                      <a:endParaRPr lang="en-US" sz="1100">
                        <a:latin typeface="+mn-lt"/>
                      </a:endParaRPr>
                    </a:p>
                  </a:txBody>
                  <a:tcPr anchor="ctr"/>
                </a:tc>
                <a:tc rowSpan="2">
                  <a:txBody>
                    <a:bodyPr/>
                    <a:lstStyle/>
                    <a:p>
                      <a:pPr algn="ctr"/>
                      <a:r>
                        <a:rPr lang="en-US" sz="1100">
                          <a:latin typeface="+mn-lt"/>
                        </a:rPr>
                        <a:t>Instrument Performance Requirements</a:t>
                      </a:r>
                    </a:p>
                  </a:txBody>
                  <a:tcPr anchor="ctr"/>
                </a:tc>
                <a:tc rowSpan="2">
                  <a:txBody>
                    <a:bodyPr/>
                    <a:lstStyle/>
                    <a:p>
                      <a:pPr algn="ctr"/>
                      <a:r>
                        <a:rPr lang="en-US" sz="1100">
                          <a:latin typeface="+mn-lt"/>
                        </a:rPr>
                        <a:t>Projected Instrument Performance</a:t>
                      </a:r>
                    </a:p>
                  </a:txBody>
                  <a:tcPr anchor="ctr"/>
                </a:tc>
                <a:tc rowSpan="2">
                  <a:txBody>
                    <a:bodyPr/>
                    <a:lstStyle/>
                    <a:p>
                      <a:pPr algn="ctr"/>
                      <a:r>
                        <a:rPr lang="en-US" sz="1100">
                          <a:latin typeface="+mn-lt"/>
                        </a:rPr>
                        <a:t>Future Mission Requirements (Top Level)</a:t>
                      </a:r>
                    </a:p>
                  </a:txBody>
                  <a:tcPr anchor="ctr"/>
                </a:tc>
                <a:extLst>
                  <a:ext uri="{0D108BD9-81ED-4DB2-BD59-A6C34878D82A}">
                    <a16:rowId xmlns:a16="http://schemas.microsoft.com/office/drawing/2014/main" val="3162222325"/>
                  </a:ext>
                </a:extLst>
              </a:tr>
              <a:tr h="359263">
                <a:tc vMerge="1">
                  <a:txBody>
                    <a:bodyPr/>
                    <a:lstStyle/>
                    <a:p>
                      <a:pPr algn="ctr"/>
                      <a:r>
                        <a:rPr lang="en-US" sz="1100">
                          <a:latin typeface="+mn-lt"/>
                        </a:rPr>
                        <a:t>Goal</a:t>
                      </a:r>
                    </a:p>
                  </a:txBody>
                  <a:tcPr anchor="ctr"/>
                </a:tc>
                <a:tc vMerge="1">
                  <a:txBody>
                    <a:bodyPr/>
                    <a:lstStyle/>
                    <a:p>
                      <a:pPr algn="ctr"/>
                      <a:r>
                        <a:rPr lang="en-US" sz="1100">
                          <a:latin typeface="+mn-lt"/>
                        </a:rPr>
                        <a:t>Objective</a:t>
                      </a:r>
                    </a:p>
                  </a:txBody>
                  <a:tcPr anchor="ctr"/>
                </a:tc>
                <a:tc>
                  <a:txBody>
                    <a:bodyPr/>
                    <a:lstStyle/>
                    <a:p>
                      <a:pPr algn="ctr"/>
                      <a:r>
                        <a:rPr lang="en-US" sz="1100">
                          <a:latin typeface="+mn-lt"/>
                        </a:rPr>
                        <a:t>Physical Parameters</a:t>
                      </a:r>
                    </a:p>
                  </a:txBody>
                  <a:tcPr anchor="ctr"/>
                </a:tc>
                <a:tc>
                  <a:txBody>
                    <a:bodyPr/>
                    <a:lstStyle/>
                    <a:p>
                      <a:pPr algn="ctr"/>
                      <a:r>
                        <a:rPr lang="en-US" sz="1100">
                          <a:latin typeface="+mn-lt"/>
                        </a:rPr>
                        <a:t>Observables</a:t>
                      </a:r>
                    </a:p>
                  </a:txBody>
                  <a:tcPr anchor="ctr"/>
                </a:tc>
                <a:tc vMerge="1">
                  <a:txBody>
                    <a:bodyPr/>
                    <a:lstStyle/>
                    <a:p>
                      <a:pPr algn="ctr"/>
                      <a:r>
                        <a:rPr lang="en-US" sz="1100">
                          <a:latin typeface="+mn-lt"/>
                        </a:rPr>
                        <a:t>Instrument Performance Requirements</a:t>
                      </a:r>
                    </a:p>
                  </a:txBody>
                  <a:tcPr anchor="ctr"/>
                </a:tc>
                <a:tc vMerge="1">
                  <a:txBody>
                    <a:bodyPr/>
                    <a:lstStyle/>
                    <a:p>
                      <a:pPr algn="ctr"/>
                      <a:r>
                        <a:rPr lang="en-US" sz="1100">
                          <a:latin typeface="+mn-lt"/>
                        </a:rPr>
                        <a:t>Projected Instrument Performance</a:t>
                      </a:r>
                    </a:p>
                  </a:txBody>
                  <a:tcPr anchor="ctr"/>
                </a:tc>
                <a:tc vMerge="1">
                  <a:txBody>
                    <a:bodyPr/>
                    <a:lstStyle/>
                    <a:p>
                      <a:pPr algn="ctr"/>
                      <a:r>
                        <a:rPr lang="en-US" sz="1100">
                          <a:latin typeface="+mn-lt"/>
                        </a:rPr>
                        <a:t>Mission Requirements (Top Level)</a:t>
                      </a:r>
                    </a:p>
                  </a:txBody>
                  <a:tcPr anchor="ctr"/>
                </a:tc>
                <a:extLst>
                  <a:ext uri="{0D108BD9-81ED-4DB2-BD59-A6C34878D82A}">
                    <a16:rowId xmlns:a16="http://schemas.microsoft.com/office/drawing/2014/main" val="10000"/>
                  </a:ext>
                </a:extLst>
              </a:tr>
              <a:tr h="335313">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latin typeface="+mn-lt"/>
                        </a:rPr>
                        <a:t>Goal 1</a:t>
                      </a:r>
                    </a:p>
                  </a:txBody>
                  <a:tcPr anchor="ctr">
                    <a:solidFill>
                      <a:srgbClr val="E7E7E7"/>
                    </a:solidFill>
                  </a:tcPr>
                </a:tc>
                <a:tc>
                  <a:txBody>
                    <a:bodyPr/>
                    <a:lstStyle/>
                    <a:p>
                      <a:pPr algn="l"/>
                      <a:r>
                        <a:rPr lang="en-US" sz="1000" baseline="0">
                          <a:latin typeface="+mn-lt"/>
                        </a:rPr>
                        <a:t>Objective 1</a:t>
                      </a:r>
                    </a:p>
                  </a:txBody>
                  <a:tcPr anchor="ctr">
                    <a:solidFill>
                      <a:srgbClr val="E7E7E7"/>
                    </a:solidFill>
                  </a:tcPr>
                </a:tc>
                <a:tc>
                  <a:txBody>
                    <a:bodyPr/>
                    <a:lstStyle/>
                    <a:p>
                      <a:pPr algn="ctr"/>
                      <a:r>
                        <a:rPr lang="en-US" sz="1000" baseline="0">
                          <a:latin typeface="+mn-lt"/>
                        </a:rPr>
                        <a:t>Phys. Para. 1a</a:t>
                      </a:r>
                    </a:p>
                  </a:txBody>
                  <a:tcPr anchor="ctr">
                    <a:solidFill>
                      <a:srgbClr val="E7E7E7"/>
                    </a:solidFill>
                  </a:tcPr>
                </a:tc>
                <a:tc>
                  <a:txBody>
                    <a:bodyPr/>
                    <a:lstStyle/>
                    <a:p>
                      <a:pPr algn="ctr"/>
                      <a:r>
                        <a:rPr lang="en-US" sz="1000" baseline="0">
                          <a:latin typeface="+mn-lt"/>
                        </a:rPr>
                        <a:t>Obs. 1a-1</a:t>
                      </a: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aseline="0">
                          <a:latin typeface="+mn-lt"/>
                        </a:rPr>
                        <a:t>Observing Strategies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aseline="0">
                          <a:latin typeface="+mn-lt"/>
                        </a:rPr>
                        <a:t>Phenomena Observation Requirements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aseline="0">
                          <a:latin typeface="+mn-lt"/>
                        </a:rPr>
                        <a:t>Launch Window</a:t>
                      </a:r>
                    </a:p>
                  </a:txBody>
                  <a:tcPr anchor="ctr">
                    <a:solidFill>
                      <a:srgbClr val="E7E7E7"/>
                    </a:solidFill>
                  </a:tcPr>
                </a:tc>
                <a:extLst>
                  <a:ext uri="{0D108BD9-81ED-4DB2-BD59-A6C34878D82A}">
                    <a16:rowId xmlns:a16="http://schemas.microsoft.com/office/drawing/2014/main" val="10001"/>
                  </a:ext>
                </a:extLst>
              </a:tr>
              <a:tr h="369481">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anchor="ctr"/>
                </a:tc>
                <a:tc rowSpan="2">
                  <a:txBody>
                    <a:bodyPr/>
                    <a:lstStyle/>
                    <a:p>
                      <a:pPr algn="l"/>
                      <a:r>
                        <a:rPr lang="en-US" sz="1000" baseline="0">
                          <a:latin typeface="+mn-lt"/>
                        </a:rPr>
                        <a:t>Objective 2</a:t>
                      </a:r>
                    </a:p>
                  </a:txBody>
                  <a:tcPr anchor="ctr">
                    <a:solidFill>
                      <a:srgbClr val="E7E7E7"/>
                    </a:solidFill>
                  </a:tcPr>
                </a:tc>
                <a:tc>
                  <a:txBody>
                    <a:bodyPr/>
                    <a:lstStyle/>
                    <a:p>
                      <a:pPr algn="ctr"/>
                      <a:r>
                        <a:rPr lang="en-US" sz="1000" baseline="0">
                          <a:latin typeface="+mn-lt"/>
                        </a:rPr>
                        <a:t>Phys. Para 2a</a:t>
                      </a:r>
                    </a:p>
                  </a:txBody>
                  <a:tcPr anchor="ctr">
                    <a:solidFill>
                      <a:srgbClr val="E7E7E7"/>
                    </a:solidFill>
                  </a:tcPr>
                </a:tc>
                <a:tc>
                  <a:txBody>
                    <a:bodyPr/>
                    <a:lstStyle/>
                    <a:p>
                      <a:pPr algn="ctr"/>
                      <a:r>
                        <a:rPr lang="en-US" sz="1000" baseline="0">
                          <a:latin typeface="+mn-lt"/>
                        </a:rPr>
                        <a:t>Obs. 2a-1</a:t>
                      </a:r>
                    </a:p>
                  </a:txBody>
                  <a:tcPr anchor="ctr">
                    <a:solidFill>
                      <a:srgbClr val="E7E7E7"/>
                    </a:solidFill>
                  </a:tcPr>
                </a:tc>
                <a:tc>
                  <a:txBody>
                    <a:bodyPr/>
                    <a:lstStyle/>
                    <a:p>
                      <a:pPr algn="ctr"/>
                      <a:endParaRPr lang="en-US" sz="1000" baseline="0">
                        <a:latin typeface="+mn-lt"/>
                      </a:endParaRPr>
                    </a:p>
                  </a:txBody>
                  <a:tcPr anchor="ctr">
                    <a:solidFill>
                      <a:srgbClr val="E7E7E7"/>
                    </a:solidFill>
                  </a:tcPr>
                </a:tc>
                <a:tc>
                  <a:txBody>
                    <a:bodyPr/>
                    <a:lstStyle/>
                    <a:p>
                      <a:pPr algn="ctr"/>
                      <a:endParaRPr lang="en-US" sz="1000" baseline="0">
                        <a:latin typeface="+mn-lt"/>
                      </a:endParaRPr>
                    </a:p>
                  </a:txBody>
                  <a:tcPr anchor="ctr">
                    <a:solidFill>
                      <a:srgbClr val="E7E7E7"/>
                    </a:solidFill>
                  </a:tcPr>
                </a:tc>
                <a:tc vMerge="1">
                  <a:txBody>
                    <a:bodyPr/>
                    <a:lstStyle/>
                    <a:p>
                      <a:pPr algn="ctr"/>
                      <a:endParaRPr lang="en-US" sz="1000" baseline="0">
                        <a:latin typeface="+mn-lt"/>
                      </a:endParaRPr>
                    </a:p>
                  </a:txBody>
                  <a:tcPr anchor="ctr"/>
                </a:tc>
                <a:extLst>
                  <a:ext uri="{0D108BD9-81ED-4DB2-BD59-A6C34878D82A}">
                    <a16:rowId xmlns:a16="http://schemas.microsoft.com/office/drawing/2014/main" val="3482531676"/>
                  </a:ext>
                </a:extLst>
              </a:tr>
              <a:tr h="369481">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anchor="ctr"/>
                </a:tc>
                <a:tc vMerge="1">
                  <a:txBody>
                    <a:bodyPr/>
                    <a:lstStyle/>
                    <a:p>
                      <a:pPr algn="l"/>
                      <a:endParaRPr lang="en-US" sz="1000" baseline="0">
                        <a:latin typeface="+mn-lt"/>
                      </a:endParaRPr>
                    </a:p>
                  </a:txBody>
                  <a:tcPr anchor="ctr"/>
                </a:tc>
                <a:tc>
                  <a:txBody>
                    <a:bodyPr/>
                    <a:lstStyle/>
                    <a:p>
                      <a:pPr algn="ctr"/>
                      <a:r>
                        <a:rPr lang="en-US" sz="1000" baseline="0">
                          <a:latin typeface="+mn-lt"/>
                        </a:rPr>
                        <a:t>Phys. Para 2b</a:t>
                      </a:r>
                    </a:p>
                  </a:txBody>
                  <a:tcPr anchor="ctr">
                    <a:solidFill>
                      <a:srgbClr val="E7E7E7"/>
                    </a:solidFill>
                  </a:tcPr>
                </a:tc>
                <a:tc>
                  <a:txBody>
                    <a:bodyPr/>
                    <a:lstStyle/>
                    <a:p>
                      <a:pPr algn="ctr"/>
                      <a:r>
                        <a:rPr lang="en-US" sz="1000" baseline="0">
                          <a:latin typeface="+mn-lt"/>
                        </a:rPr>
                        <a:t>Obs. 2b-1</a:t>
                      </a:r>
                    </a:p>
                  </a:txBody>
                  <a:tcPr anchor="ctr">
                    <a:solidFill>
                      <a:srgbClr val="E7E7E7"/>
                    </a:solidFill>
                  </a:tcPr>
                </a:tc>
                <a:tc>
                  <a:txBody>
                    <a:bodyPr/>
                    <a:lstStyle/>
                    <a:p>
                      <a:pPr algn="ctr"/>
                      <a:endParaRPr lang="en-US" sz="1000" baseline="0">
                        <a:latin typeface="+mn-lt"/>
                      </a:endParaRPr>
                    </a:p>
                  </a:txBody>
                  <a:tcPr anchor="ctr">
                    <a:solidFill>
                      <a:srgbClr val="E7E7E7"/>
                    </a:solidFill>
                  </a:tcPr>
                </a:tc>
                <a:tc>
                  <a:txBody>
                    <a:bodyPr/>
                    <a:lstStyle/>
                    <a:p>
                      <a:pPr algn="ctr"/>
                      <a:endParaRPr lang="en-US" sz="1000" baseline="0">
                        <a:latin typeface="+mn-lt"/>
                      </a:endParaRPr>
                    </a:p>
                  </a:txBody>
                  <a:tcPr anchor="ctr">
                    <a:solidFill>
                      <a:srgbClr val="E7E7E7"/>
                    </a:solidFill>
                  </a:tcPr>
                </a:tc>
                <a:tc vMerge="1">
                  <a:txBody>
                    <a:bodyPr/>
                    <a:lstStyle/>
                    <a:p>
                      <a:pPr algn="ctr"/>
                      <a:endParaRPr lang="en-US" sz="1000" baseline="0">
                        <a:latin typeface="+mn-lt"/>
                      </a:endParaRPr>
                    </a:p>
                  </a:txBody>
                  <a:tcPr anchor="ctr"/>
                </a:tc>
                <a:extLst>
                  <a:ext uri="{0D108BD9-81ED-4DB2-BD59-A6C34878D82A}">
                    <a16:rowId xmlns:a16="http://schemas.microsoft.com/office/drawing/2014/main" val="10002"/>
                  </a:ext>
                </a:extLst>
              </a:tr>
              <a:tr h="335313">
                <a:tc rowSpan="2">
                  <a:txBody>
                    <a:bodyPr/>
                    <a:lstStyle/>
                    <a:p>
                      <a:pPr algn="ctr"/>
                      <a:r>
                        <a:rPr lang="en-US" sz="1000" b="0">
                          <a:latin typeface="+mn-lt"/>
                        </a:rPr>
                        <a:t>Goal 2</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aseline="0">
                          <a:latin typeface="+mn-lt"/>
                        </a:rPr>
                        <a:t>Objective 3</a:t>
                      </a:r>
                    </a:p>
                  </a:txBody>
                  <a:tcPr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aseline="0">
                          <a:latin typeface="+mn-lt"/>
                        </a:rPr>
                        <a:t>Phys. Para 3a</a:t>
                      </a: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aseline="0">
                          <a:latin typeface="+mn-lt"/>
                        </a:rPr>
                        <a:t>Obs. 3a-1</a:t>
                      </a: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3073810387"/>
                  </a:ext>
                </a:extLst>
              </a:tr>
              <a:tr h="335313">
                <a:tc vMerge="1">
                  <a:txBody>
                    <a:bodyPr/>
                    <a:lstStyle/>
                    <a:p>
                      <a:pPr algn="ctr"/>
                      <a:endParaRPr lang="en-US" sz="1000" b="1">
                        <a:latin typeface="+mn-lt"/>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aseline="0">
                          <a:latin typeface="+mn-lt"/>
                        </a:rPr>
                        <a:t>Obs. 3a-2</a:t>
                      </a: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3343913331"/>
                  </a:ext>
                </a:extLst>
              </a:tr>
              <a:tr h="335313">
                <a:tc>
                  <a:txBody>
                    <a:bodyPr/>
                    <a:lstStyle/>
                    <a:p>
                      <a:pPr algn="ctr"/>
                      <a:endParaRPr lang="en-US" sz="1000" b="0">
                        <a:latin typeface="+mn-l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5"/>
                  </a:ext>
                </a:extLst>
              </a:tr>
              <a:tr h="335313">
                <a:tc>
                  <a:txBody>
                    <a:bodyPr/>
                    <a:lstStyle/>
                    <a:p>
                      <a:pPr algn="ctr"/>
                      <a:endParaRPr lang="en-US" sz="1000" b="0">
                        <a:latin typeface="+mn-l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solidFill>
                      <a:srgbClr val="E7E7E7"/>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10BFB79B-8CC4-C534-3263-7FC0E6A1BE5E}"/>
              </a:ext>
            </a:extLst>
          </p:cNvPr>
          <p:cNvSpPr txBox="1"/>
          <p:nvPr/>
        </p:nvSpPr>
        <p:spPr>
          <a:xfrm>
            <a:off x="9804391" y="765767"/>
            <a:ext cx="2126351" cy="307777"/>
          </a:xfrm>
          <a:prstGeom prst="rect">
            <a:avLst/>
          </a:prstGeom>
          <a:noFill/>
        </p:spPr>
        <p:txBody>
          <a:bodyPr wrap="none" rtlCol="0">
            <a:spAutoFit/>
          </a:bodyPr>
          <a:lstStyle/>
          <a:p>
            <a:r>
              <a:rPr lang="en-US" sz="1400" b="1">
                <a:cs typeface="Arial Narrow" panose="020B0604020202020204" pitchFamily="34" charset="0"/>
              </a:rPr>
              <a:t>Note any changes in </a:t>
            </a:r>
            <a:r>
              <a:rPr lang="en-US" sz="1400" b="1">
                <a:solidFill>
                  <a:srgbClr val="FF0000"/>
                </a:solidFill>
                <a:cs typeface="Arial Narrow" panose="020B0604020202020204" pitchFamily="34" charset="0"/>
              </a:rPr>
              <a:t>red</a:t>
            </a:r>
            <a:endParaRPr lang="en-US" sz="1400">
              <a:solidFill>
                <a:srgbClr val="FF0000"/>
              </a:solidFill>
            </a:endParaRPr>
          </a:p>
        </p:txBody>
      </p:sp>
      <p:sp>
        <p:nvSpPr>
          <p:cNvPr id="6" name="Slide Number Placeholder 5">
            <a:extLst>
              <a:ext uri="{FF2B5EF4-FFF2-40B4-BE49-F238E27FC236}">
                <a16:creationId xmlns:a16="http://schemas.microsoft.com/office/drawing/2014/main" id="{23DCFB63-A104-E990-EED2-9BE24A78B17A}"/>
              </a:ext>
            </a:extLst>
          </p:cNvPr>
          <p:cNvSpPr>
            <a:spLocks noGrp="1"/>
          </p:cNvSpPr>
          <p:nvPr>
            <p:ph type="sldNum" sz="quarter" idx="12"/>
          </p:nvPr>
        </p:nvSpPr>
        <p:spPr/>
        <p:txBody>
          <a:bodyPr/>
          <a:lstStyle/>
          <a:p>
            <a:fld id="{88E0E29E-E225-F048-A964-380D52CA58AC}" type="slidenum">
              <a:rPr lang="en-US" smtClean="0"/>
              <a:t>8</a:t>
            </a:fld>
            <a:endParaRPr lang="en-US"/>
          </a:p>
        </p:txBody>
      </p:sp>
    </p:spTree>
    <p:extLst>
      <p:ext uri="{BB962C8B-B14F-4D97-AF65-F5344CB8AC3E}">
        <p14:creationId xmlns:p14="http://schemas.microsoft.com/office/powerpoint/2010/main" val="2226834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CD9BA-0B85-F06C-BD6A-C1C91A30C4D8}"/>
              </a:ext>
            </a:extLst>
          </p:cNvPr>
          <p:cNvSpPr>
            <a:spLocks noGrp="1"/>
          </p:cNvSpPr>
          <p:nvPr>
            <p:ph type="title"/>
          </p:nvPr>
        </p:nvSpPr>
        <p:spPr>
          <a:xfrm>
            <a:off x="2594344" y="31899"/>
            <a:ext cx="7517219" cy="670096"/>
          </a:xfrm>
        </p:spPr>
        <p:txBody>
          <a:bodyPr>
            <a:normAutofit/>
          </a:bodyPr>
          <a:lstStyle/>
          <a:p>
            <a:pPr algn="l"/>
            <a:r>
              <a:rPr lang="en-US" sz="2800" b="1"/>
              <a:t>Project Summary</a:t>
            </a:r>
          </a:p>
        </p:txBody>
      </p:sp>
      <p:graphicFrame>
        <p:nvGraphicFramePr>
          <p:cNvPr id="10" name="Table 3">
            <a:extLst>
              <a:ext uri="{FF2B5EF4-FFF2-40B4-BE49-F238E27FC236}">
                <a16:creationId xmlns:a16="http://schemas.microsoft.com/office/drawing/2014/main" id="{D0C732A8-21C7-3554-E3E9-1D20FE1769A9}"/>
              </a:ext>
            </a:extLst>
          </p:cNvPr>
          <p:cNvGraphicFramePr>
            <a:graphicFrameLocks noGrp="1"/>
          </p:cNvGraphicFramePr>
          <p:nvPr>
            <p:extLst>
              <p:ext uri="{D42A27DB-BD31-4B8C-83A1-F6EECF244321}">
                <p14:modId xmlns:p14="http://schemas.microsoft.com/office/powerpoint/2010/main" val="630273766"/>
              </p:ext>
            </p:extLst>
          </p:nvPr>
        </p:nvGraphicFramePr>
        <p:xfrm>
          <a:off x="243547" y="838960"/>
          <a:ext cx="11759221" cy="607806"/>
        </p:xfrm>
        <a:graphic>
          <a:graphicData uri="http://schemas.openxmlformats.org/drawingml/2006/table">
            <a:tbl>
              <a:tblPr firstRow="1" bandRow="1">
                <a:tableStyleId>{2D5ABB26-0587-4C30-8999-92F81FD0307C}</a:tableStyleId>
              </a:tblPr>
              <a:tblGrid>
                <a:gridCol w="1785396">
                  <a:extLst>
                    <a:ext uri="{9D8B030D-6E8A-4147-A177-3AD203B41FA5}">
                      <a16:colId xmlns:a16="http://schemas.microsoft.com/office/drawing/2014/main" val="2950836889"/>
                    </a:ext>
                  </a:extLst>
                </a:gridCol>
                <a:gridCol w="2017379">
                  <a:extLst>
                    <a:ext uri="{9D8B030D-6E8A-4147-A177-3AD203B41FA5}">
                      <a16:colId xmlns:a16="http://schemas.microsoft.com/office/drawing/2014/main" val="4254595220"/>
                    </a:ext>
                  </a:extLst>
                </a:gridCol>
                <a:gridCol w="1467185">
                  <a:extLst>
                    <a:ext uri="{9D8B030D-6E8A-4147-A177-3AD203B41FA5}">
                      <a16:colId xmlns:a16="http://schemas.microsoft.com/office/drawing/2014/main" val="192971573"/>
                    </a:ext>
                  </a:extLst>
                </a:gridCol>
                <a:gridCol w="2163087">
                  <a:extLst>
                    <a:ext uri="{9D8B030D-6E8A-4147-A177-3AD203B41FA5}">
                      <a16:colId xmlns:a16="http://schemas.microsoft.com/office/drawing/2014/main" val="2049460769"/>
                    </a:ext>
                  </a:extLst>
                </a:gridCol>
                <a:gridCol w="2163087">
                  <a:extLst>
                    <a:ext uri="{9D8B030D-6E8A-4147-A177-3AD203B41FA5}">
                      <a16:colId xmlns:a16="http://schemas.microsoft.com/office/drawing/2014/main" val="97824398"/>
                    </a:ext>
                  </a:extLst>
                </a:gridCol>
                <a:gridCol w="2163087">
                  <a:extLst>
                    <a:ext uri="{9D8B030D-6E8A-4147-A177-3AD203B41FA5}">
                      <a16:colId xmlns:a16="http://schemas.microsoft.com/office/drawing/2014/main" val="1527273468"/>
                    </a:ext>
                  </a:extLst>
                </a:gridCol>
              </a:tblGrid>
              <a:tr h="303903">
                <a:tc>
                  <a:txBody>
                    <a:bodyPr/>
                    <a:lstStyle/>
                    <a:p>
                      <a:r>
                        <a:rPr lang="en-US" sz="1100" b="1">
                          <a:solidFill>
                            <a:schemeClr val="tx1"/>
                          </a:solidFill>
                          <a:effectLst/>
                          <a:latin typeface="+mn-lt"/>
                        </a:rPr>
                        <a:t>Principal Investigator:</a:t>
                      </a:r>
                    </a:p>
                  </a:txBody>
                  <a:tcPr/>
                </a:tc>
                <a:tc>
                  <a:txBody>
                    <a:bodyPr/>
                    <a:lstStyle/>
                    <a:p>
                      <a:r>
                        <a:rPr lang="en-US" sz="1100" b="0">
                          <a:solidFill>
                            <a:schemeClr val="tx1"/>
                          </a:solidFill>
                          <a:effectLst/>
                          <a:latin typeface="+mn-lt"/>
                        </a:rPr>
                        <a:t>XXXX XXXXXXX</a:t>
                      </a:r>
                    </a:p>
                  </a:txBody>
                  <a:tcPr/>
                </a:tc>
                <a:tc>
                  <a:txBody>
                    <a:bodyPr/>
                    <a:lstStyle/>
                    <a:p>
                      <a:r>
                        <a:rPr lang="en-US" sz="1100" b="1">
                          <a:solidFill>
                            <a:schemeClr val="tx1"/>
                          </a:solidFill>
                          <a:effectLst/>
                          <a:latin typeface="+mn-lt"/>
                        </a:rPr>
                        <a:t>Lead Organization:</a:t>
                      </a:r>
                    </a:p>
                  </a:txBody>
                  <a:tcPr/>
                </a:tc>
                <a:tc>
                  <a:txBody>
                    <a:bodyPr/>
                    <a:lstStyle/>
                    <a:p>
                      <a:r>
                        <a:rPr lang="en-US" sz="1100" b="0">
                          <a:solidFill>
                            <a:schemeClr val="tx1"/>
                          </a:solidFill>
                          <a:effectLst/>
                          <a:latin typeface="+mn-lt"/>
                        </a:rPr>
                        <a:t>University of XXXX</a:t>
                      </a:r>
                    </a:p>
                  </a:txBody>
                  <a:tcPr/>
                </a:tc>
                <a:tc>
                  <a:txBody>
                    <a:bodyPr/>
                    <a:lstStyle/>
                    <a:p>
                      <a:r>
                        <a:rPr lang="en-US" sz="1100" b="1">
                          <a:solidFill>
                            <a:schemeClr val="tx1"/>
                          </a:solidFill>
                          <a:effectLst/>
                          <a:latin typeface="+mn-lt"/>
                        </a:rPr>
                        <a:t>Performance Period:</a:t>
                      </a:r>
                    </a:p>
                  </a:txBody>
                  <a:tcPr/>
                </a:tc>
                <a:tc>
                  <a:txBody>
                    <a:bodyPr/>
                    <a:lstStyle/>
                    <a:p>
                      <a:r>
                        <a:rPr lang="en-US" sz="1100" b="0">
                          <a:solidFill>
                            <a:schemeClr val="tx1"/>
                          </a:solidFill>
                          <a:effectLst/>
                          <a:latin typeface="+mn-lt"/>
                        </a:rPr>
                        <a:t>MM/DD/YY – MM/DD/YY</a:t>
                      </a:r>
                    </a:p>
                  </a:txBody>
                  <a:tcPr/>
                </a:tc>
                <a:extLst>
                  <a:ext uri="{0D108BD9-81ED-4DB2-BD59-A6C34878D82A}">
                    <a16:rowId xmlns:a16="http://schemas.microsoft.com/office/drawing/2014/main" val="1838558390"/>
                  </a:ext>
                </a:extLst>
              </a:tr>
              <a:tr h="303903">
                <a:tc>
                  <a:txBody>
                    <a:bodyPr/>
                    <a:lstStyle/>
                    <a:p>
                      <a:r>
                        <a:rPr lang="en-US" sz="1100" b="1">
                          <a:solidFill>
                            <a:schemeClr val="tx1"/>
                          </a:solidFill>
                          <a:effectLst/>
                          <a:latin typeface="+mn-lt"/>
                        </a:rPr>
                        <a:t>Proposal ID:</a:t>
                      </a:r>
                    </a:p>
                  </a:txBody>
                  <a:tcPr/>
                </a:tc>
                <a:tc>
                  <a:txBody>
                    <a:bodyPr/>
                    <a:lstStyle/>
                    <a:p>
                      <a:r>
                        <a:rPr lang="en-US" sz="1100" b="0">
                          <a:solidFill>
                            <a:schemeClr val="tx1"/>
                          </a:solidFill>
                          <a:effectLst/>
                          <a:latin typeface="+mn-lt"/>
                        </a:rPr>
                        <a:t>XX-HTIDSXX-XXXX</a:t>
                      </a:r>
                    </a:p>
                  </a:txBody>
                  <a:tcPr/>
                </a:tc>
                <a:tc>
                  <a:txBody>
                    <a:bodyPr/>
                    <a:lstStyle/>
                    <a:p>
                      <a:r>
                        <a:rPr lang="en-US" sz="1100" b="1">
                          <a:solidFill>
                            <a:schemeClr val="tx1"/>
                          </a:solidFill>
                          <a:effectLst/>
                          <a:latin typeface="+mn-lt"/>
                        </a:rPr>
                        <a:t>Total Investment:</a:t>
                      </a:r>
                    </a:p>
                  </a:txBody>
                  <a:tcPr/>
                </a:tc>
                <a:tc>
                  <a:txBody>
                    <a:bodyPr/>
                    <a:lstStyle/>
                    <a:p>
                      <a:r>
                        <a:rPr lang="en-US" sz="1100" b="0">
                          <a:solidFill>
                            <a:schemeClr val="tx1"/>
                          </a:solidFill>
                          <a:effectLst/>
                          <a:latin typeface="+mn-lt"/>
                        </a:rPr>
                        <a:t>$</a:t>
                      </a:r>
                    </a:p>
                  </a:txBody>
                  <a:tcPr/>
                </a:tc>
                <a:tc>
                  <a:txBody>
                    <a:bodyPr/>
                    <a:lstStyle/>
                    <a:p>
                      <a:r>
                        <a:rPr lang="en-US" sz="1100" b="1">
                          <a:solidFill>
                            <a:schemeClr val="tx1"/>
                          </a:solidFill>
                          <a:effectLst/>
                          <a:latin typeface="+mn-lt"/>
                        </a:rPr>
                        <a:t>Current Year:</a:t>
                      </a:r>
                    </a:p>
                  </a:txBody>
                  <a:tcPr/>
                </a:tc>
                <a:tc>
                  <a:txBody>
                    <a:bodyPr/>
                    <a:lstStyle/>
                    <a:p>
                      <a:pPr algn="l"/>
                      <a:r>
                        <a:rPr lang="en-US" sz="1100" b="0">
                          <a:solidFill>
                            <a:schemeClr val="tx1"/>
                          </a:solidFill>
                          <a:effectLst/>
                          <a:latin typeface="+mn-lt"/>
                        </a:rPr>
                        <a:t>3</a:t>
                      </a:r>
                    </a:p>
                  </a:txBody>
                  <a:tcPr anchor="ctr"/>
                </a:tc>
                <a:extLst>
                  <a:ext uri="{0D108BD9-81ED-4DB2-BD59-A6C34878D82A}">
                    <a16:rowId xmlns:a16="http://schemas.microsoft.com/office/drawing/2014/main" val="1507259332"/>
                  </a:ext>
                </a:extLst>
              </a:tr>
            </a:tbl>
          </a:graphicData>
        </a:graphic>
      </p:graphicFrame>
      <p:sp>
        <p:nvSpPr>
          <p:cNvPr id="14" name="Rectangle 13">
            <a:extLst>
              <a:ext uri="{FF2B5EF4-FFF2-40B4-BE49-F238E27FC236}">
                <a16:creationId xmlns:a16="http://schemas.microsoft.com/office/drawing/2014/main" id="{8FCD3C83-58D6-975A-2E65-EC39ADDF4A08}"/>
              </a:ext>
            </a:extLst>
          </p:cNvPr>
          <p:cNvSpPr/>
          <p:nvPr/>
        </p:nvSpPr>
        <p:spPr>
          <a:xfrm>
            <a:off x="325148" y="5071731"/>
            <a:ext cx="5831398" cy="1604988"/>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chemeClr val="bg1">
                  <a:lumMod val="75000"/>
                </a:schemeClr>
              </a:solidFill>
            </a:endParaRPr>
          </a:p>
        </p:txBody>
      </p:sp>
      <p:sp>
        <p:nvSpPr>
          <p:cNvPr id="15" name="TextBox 14">
            <a:extLst>
              <a:ext uri="{FF2B5EF4-FFF2-40B4-BE49-F238E27FC236}">
                <a16:creationId xmlns:a16="http://schemas.microsoft.com/office/drawing/2014/main" id="{EEF64201-EF9D-B426-4447-5FB4FC9613E6}"/>
              </a:ext>
            </a:extLst>
          </p:cNvPr>
          <p:cNvSpPr txBox="1"/>
          <p:nvPr/>
        </p:nvSpPr>
        <p:spPr>
          <a:xfrm>
            <a:off x="325147" y="5085343"/>
            <a:ext cx="5890092" cy="1107996"/>
          </a:xfrm>
          <a:prstGeom prst="rect">
            <a:avLst/>
          </a:prstGeom>
          <a:noFill/>
        </p:spPr>
        <p:txBody>
          <a:bodyPr wrap="square" lIns="91440" tIns="45720" rIns="91440" bIns="45720" rtlCol="0" anchor="t">
            <a:spAutoFit/>
          </a:bodyPr>
          <a:lstStyle/>
          <a:p>
            <a:r>
              <a:rPr lang="en-US" b="1">
                <a:latin typeface="+mj-lt"/>
              </a:rPr>
              <a:t>Highlight</a:t>
            </a:r>
          </a:p>
          <a:p>
            <a:endParaRPr lang="en-US" sz="1200" b="1">
              <a:solidFill>
                <a:srgbClr val="4A3974"/>
              </a:solidFill>
            </a:endParaRPr>
          </a:p>
          <a:p>
            <a:pPr marL="171450" indent="-171450">
              <a:buFont typeface="Arial" panose="020B0604020202020204" pitchFamily="34" charset="0"/>
              <a:buChar char="•"/>
            </a:pPr>
            <a:r>
              <a:rPr lang="en-US" sz="1200" b="1" err="1"/>
              <a:t>Xxxxxx</a:t>
            </a:r>
            <a:endParaRPr lang="en-US" sz="1200" b="1"/>
          </a:p>
          <a:p>
            <a:pPr marL="171450" indent="-171450">
              <a:buFont typeface="Arial" panose="020B0604020202020204" pitchFamily="34" charset="0"/>
              <a:buChar char="•"/>
            </a:pPr>
            <a:r>
              <a:rPr lang="en-US" sz="1200" b="1" err="1"/>
              <a:t>Xxxxxx</a:t>
            </a:r>
            <a:endParaRPr lang="en-US" sz="1200" b="1"/>
          </a:p>
          <a:p>
            <a:pPr marL="171450" indent="-171450">
              <a:buFont typeface="Arial" panose="020B0604020202020204" pitchFamily="34" charset="0"/>
              <a:buChar char="•"/>
            </a:pPr>
            <a:r>
              <a:rPr lang="en-US" sz="1200" b="1" err="1"/>
              <a:t>Xxxxxx</a:t>
            </a:r>
            <a:endParaRPr lang="en-US" sz="1200" b="1"/>
          </a:p>
        </p:txBody>
      </p:sp>
      <p:sp>
        <p:nvSpPr>
          <p:cNvPr id="17" name="Rectangle 16">
            <a:extLst>
              <a:ext uri="{FF2B5EF4-FFF2-40B4-BE49-F238E27FC236}">
                <a16:creationId xmlns:a16="http://schemas.microsoft.com/office/drawing/2014/main" id="{787DEF87-392D-44DD-D89D-F12AD5B97737}"/>
              </a:ext>
            </a:extLst>
          </p:cNvPr>
          <p:cNvSpPr/>
          <p:nvPr/>
        </p:nvSpPr>
        <p:spPr>
          <a:xfrm>
            <a:off x="6354804" y="1404056"/>
            <a:ext cx="5639943" cy="2139500"/>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a:solidFill>
                  <a:schemeClr val="bg1">
                    <a:lumMod val="75000"/>
                  </a:schemeClr>
                </a:solidFill>
              </a:rPr>
              <a:t>Key</a:t>
            </a:r>
          </a:p>
        </p:txBody>
      </p:sp>
      <p:graphicFrame>
        <p:nvGraphicFramePr>
          <p:cNvPr id="18" name="Table 17">
            <a:extLst>
              <a:ext uri="{FF2B5EF4-FFF2-40B4-BE49-F238E27FC236}">
                <a16:creationId xmlns:a16="http://schemas.microsoft.com/office/drawing/2014/main" id="{45194535-F767-8E30-1BE7-2A793259AFBD}"/>
              </a:ext>
            </a:extLst>
          </p:cNvPr>
          <p:cNvGraphicFramePr>
            <a:graphicFrameLocks noGrp="1"/>
          </p:cNvGraphicFramePr>
          <p:nvPr>
            <p:extLst>
              <p:ext uri="{D42A27DB-BD31-4B8C-83A1-F6EECF244321}">
                <p14:modId xmlns:p14="http://schemas.microsoft.com/office/powerpoint/2010/main" val="2515372817"/>
              </p:ext>
            </p:extLst>
          </p:nvPr>
        </p:nvGraphicFramePr>
        <p:xfrm>
          <a:off x="6420298" y="1732015"/>
          <a:ext cx="5485889" cy="1801817"/>
        </p:xfrm>
        <a:graphic>
          <a:graphicData uri="http://schemas.openxmlformats.org/drawingml/2006/table">
            <a:tbl>
              <a:tblPr firstRow="1" bandRow="1">
                <a:tableStyleId>{073A0DAA-6AF3-43AB-8588-CEC1D06C72B9}</a:tableStyleId>
              </a:tblPr>
              <a:tblGrid>
                <a:gridCol w="512675">
                  <a:extLst>
                    <a:ext uri="{9D8B030D-6E8A-4147-A177-3AD203B41FA5}">
                      <a16:colId xmlns:a16="http://schemas.microsoft.com/office/drawing/2014/main" val="20000"/>
                    </a:ext>
                  </a:extLst>
                </a:gridCol>
                <a:gridCol w="2464538">
                  <a:extLst>
                    <a:ext uri="{9D8B030D-6E8A-4147-A177-3AD203B41FA5}">
                      <a16:colId xmlns:a16="http://schemas.microsoft.com/office/drawing/2014/main" val="20001"/>
                    </a:ext>
                  </a:extLst>
                </a:gridCol>
                <a:gridCol w="2508676">
                  <a:extLst>
                    <a:ext uri="{9D8B030D-6E8A-4147-A177-3AD203B41FA5}">
                      <a16:colId xmlns:a16="http://schemas.microsoft.com/office/drawing/2014/main" val="3617072715"/>
                    </a:ext>
                  </a:extLst>
                </a:gridCol>
              </a:tblGrid>
              <a:tr h="367461">
                <a:tc>
                  <a:txBody>
                    <a:bodyPr/>
                    <a:lstStyle/>
                    <a:p>
                      <a:pPr algn="ctr"/>
                      <a:r>
                        <a:rPr lang="en-US" sz="1050">
                          <a:latin typeface="+mn-lt"/>
                        </a:rPr>
                        <a:t>Rank</a:t>
                      </a:r>
                    </a:p>
                  </a:txBody>
                  <a:tcPr anchor="ctr"/>
                </a:tc>
                <a:tc>
                  <a:txBody>
                    <a:bodyPr/>
                    <a:lstStyle/>
                    <a:p>
                      <a:pPr algn="ctr"/>
                      <a:r>
                        <a:rPr lang="en-US" sz="1050">
                          <a:latin typeface="+mn-lt"/>
                        </a:rPr>
                        <a:t>Risk Description</a:t>
                      </a:r>
                    </a:p>
                  </a:txBody>
                  <a:tcPr anchor="ctr"/>
                </a:tc>
                <a:tc>
                  <a:txBody>
                    <a:bodyPr/>
                    <a:lstStyle/>
                    <a:p>
                      <a:pPr algn="ctr"/>
                      <a:r>
                        <a:rPr lang="en-US" sz="1050">
                          <a:latin typeface="+mn-lt"/>
                        </a:rPr>
                        <a:t>Risk Mitigation</a:t>
                      </a:r>
                    </a:p>
                  </a:txBody>
                  <a:tcPr anchor="ctr"/>
                </a:tc>
                <a:extLst>
                  <a:ext uri="{0D108BD9-81ED-4DB2-BD59-A6C34878D82A}">
                    <a16:rowId xmlns:a16="http://schemas.microsoft.com/office/drawing/2014/main" val="10000"/>
                  </a:ext>
                </a:extLst>
              </a:tr>
              <a:tr h="717178">
                <a:tc>
                  <a:txBody>
                    <a:bodyPr/>
                    <a:lstStyle/>
                    <a:p>
                      <a:pPr algn="ctr"/>
                      <a:r>
                        <a:rPr lang="en-US" sz="1000" b="1" strike="noStrike">
                          <a:latin typeface="+mn-lt"/>
                        </a:rPr>
                        <a:t>1</a:t>
                      </a:r>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aseline="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aseline="0">
                        <a:solidFill>
                          <a:schemeClr val="tx1"/>
                        </a:solidFill>
                        <a:latin typeface="+mn-lt"/>
                      </a:endParaRPr>
                    </a:p>
                  </a:txBody>
                  <a:tcPr anchor="ctr"/>
                </a:tc>
                <a:extLst>
                  <a:ext uri="{0D108BD9-81ED-4DB2-BD59-A6C34878D82A}">
                    <a16:rowId xmlns:a16="http://schemas.microsoft.com/office/drawing/2014/main" val="10001"/>
                  </a:ext>
                </a:extLst>
              </a:tr>
              <a:tr h="717178">
                <a:tc>
                  <a:txBody>
                    <a:bodyPr/>
                    <a:lstStyle/>
                    <a:p>
                      <a:pPr algn="ctr"/>
                      <a:r>
                        <a:rPr lang="en-US" sz="1000" b="1" strike="noStrike">
                          <a:latin typeface="+mn-lt"/>
                        </a:rPr>
                        <a:t>2</a:t>
                      </a:r>
                    </a:p>
                  </a:txBody>
                  <a:tcPr marL="45720" marR="45720" anchor="ctr"/>
                </a:tc>
                <a:tc>
                  <a:txBody>
                    <a:bodyPr/>
                    <a:lstStyle/>
                    <a:p>
                      <a:endParaRPr lang="en-US" sz="900" strike="noStrike">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aseline="0">
                        <a:solidFill>
                          <a:schemeClr val="tx1"/>
                        </a:solidFill>
                        <a:latin typeface="+mn-lt"/>
                        <a:cs typeface="Arial" panose="020B0604020202020204" pitchFamily="34" charset="0"/>
                      </a:endParaRPr>
                    </a:p>
                  </a:txBody>
                  <a:tcPr anchor="ctr"/>
                </a:tc>
                <a:extLst>
                  <a:ext uri="{0D108BD9-81ED-4DB2-BD59-A6C34878D82A}">
                    <a16:rowId xmlns:a16="http://schemas.microsoft.com/office/drawing/2014/main" val="10002"/>
                  </a:ext>
                </a:extLst>
              </a:tr>
            </a:tbl>
          </a:graphicData>
        </a:graphic>
      </p:graphicFrame>
      <p:sp>
        <p:nvSpPr>
          <p:cNvPr id="19" name="TextBox 18">
            <a:extLst>
              <a:ext uri="{FF2B5EF4-FFF2-40B4-BE49-F238E27FC236}">
                <a16:creationId xmlns:a16="http://schemas.microsoft.com/office/drawing/2014/main" id="{B2778FE2-6175-E62F-02D9-A5D31F147E47}"/>
              </a:ext>
            </a:extLst>
          </p:cNvPr>
          <p:cNvSpPr txBox="1"/>
          <p:nvPr/>
        </p:nvSpPr>
        <p:spPr>
          <a:xfrm>
            <a:off x="6362825" y="1397265"/>
            <a:ext cx="1004314" cy="338554"/>
          </a:xfrm>
          <a:prstGeom prst="rect">
            <a:avLst/>
          </a:prstGeom>
          <a:noFill/>
        </p:spPr>
        <p:txBody>
          <a:bodyPr wrap="none" rtlCol="0">
            <a:spAutoFit/>
          </a:bodyPr>
          <a:lstStyle/>
          <a:p>
            <a:r>
              <a:rPr lang="en-US" sz="1600" b="1">
                <a:latin typeface="+mj-lt"/>
              </a:rPr>
              <a:t>Top Risks</a:t>
            </a:r>
          </a:p>
        </p:txBody>
      </p:sp>
      <p:sp>
        <p:nvSpPr>
          <p:cNvPr id="20" name="Slide Number Placeholder 19">
            <a:extLst>
              <a:ext uri="{FF2B5EF4-FFF2-40B4-BE49-F238E27FC236}">
                <a16:creationId xmlns:a16="http://schemas.microsoft.com/office/drawing/2014/main" id="{5B9C6FC7-A1F9-1B05-6EEA-15070A5B2AD4}"/>
              </a:ext>
            </a:extLst>
          </p:cNvPr>
          <p:cNvSpPr>
            <a:spLocks noGrp="1"/>
          </p:cNvSpPr>
          <p:nvPr>
            <p:ph type="sldNum" sz="quarter" idx="12"/>
          </p:nvPr>
        </p:nvSpPr>
        <p:spPr/>
        <p:txBody>
          <a:bodyPr/>
          <a:lstStyle/>
          <a:p>
            <a:fld id="{88E0E29E-E225-F048-A964-380D52CA58AC}" type="slidenum">
              <a:rPr lang="en-US" smtClean="0"/>
              <a:t>9</a:t>
            </a:fld>
            <a:endParaRPr lang="en-US"/>
          </a:p>
        </p:txBody>
      </p:sp>
      <p:graphicFrame>
        <p:nvGraphicFramePr>
          <p:cNvPr id="3" name="Table 2">
            <a:extLst>
              <a:ext uri="{FF2B5EF4-FFF2-40B4-BE49-F238E27FC236}">
                <a16:creationId xmlns:a16="http://schemas.microsoft.com/office/drawing/2014/main" id="{8B79ABB0-D7B8-329D-531C-E81CBBC7C1AA}"/>
              </a:ext>
            </a:extLst>
          </p:cNvPr>
          <p:cNvGraphicFramePr>
            <a:graphicFrameLocks noGrp="1"/>
          </p:cNvGraphicFramePr>
          <p:nvPr>
            <p:extLst>
              <p:ext uri="{D42A27DB-BD31-4B8C-83A1-F6EECF244321}">
                <p14:modId xmlns:p14="http://schemas.microsoft.com/office/powerpoint/2010/main" val="1250846711"/>
              </p:ext>
            </p:extLst>
          </p:nvPr>
        </p:nvGraphicFramePr>
        <p:xfrm>
          <a:off x="325147" y="1439702"/>
          <a:ext cx="5831398" cy="3522400"/>
        </p:xfrm>
        <a:graphic>
          <a:graphicData uri="http://schemas.openxmlformats.org/drawingml/2006/table">
            <a:tbl>
              <a:tblPr firstRow="1" bandRow="1">
                <a:tableStyleId>{073A0DAA-6AF3-43AB-8588-CEC1D06C72B9}</a:tableStyleId>
              </a:tblPr>
              <a:tblGrid>
                <a:gridCol w="799060">
                  <a:extLst>
                    <a:ext uri="{9D8B030D-6E8A-4147-A177-3AD203B41FA5}">
                      <a16:colId xmlns:a16="http://schemas.microsoft.com/office/drawing/2014/main" val="20000"/>
                    </a:ext>
                  </a:extLst>
                </a:gridCol>
                <a:gridCol w="482343">
                  <a:extLst>
                    <a:ext uri="{9D8B030D-6E8A-4147-A177-3AD203B41FA5}">
                      <a16:colId xmlns:a16="http://schemas.microsoft.com/office/drawing/2014/main" val="3687347352"/>
                    </a:ext>
                  </a:extLst>
                </a:gridCol>
                <a:gridCol w="546100">
                  <a:extLst>
                    <a:ext uri="{9D8B030D-6E8A-4147-A177-3AD203B41FA5}">
                      <a16:colId xmlns:a16="http://schemas.microsoft.com/office/drawing/2014/main" val="3476331583"/>
                    </a:ext>
                  </a:extLst>
                </a:gridCol>
                <a:gridCol w="4003895">
                  <a:extLst>
                    <a:ext uri="{9D8B030D-6E8A-4147-A177-3AD203B41FA5}">
                      <a16:colId xmlns:a16="http://schemas.microsoft.com/office/drawing/2014/main" val="20004"/>
                    </a:ext>
                  </a:extLst>
                </a:gridCol>
              </a:tblGrid>
              <a:tr h="361360">
                <a:tc>
                  <a:txBody>
                    <a:bodyPr/>
                    <a:lstStyle/>
                    <a:p>
                      <a:pPr algn="ctr"/>
                      <a:endParaRPr lang="en-US" sz="1050">
                        <a:latin typeface="+mn-lt"/>
                      </a:endParaRPr>
                    </a:p>
                  </a:txBody>
                  <a:tcPr anchor="ctr"/>
                </a:tc>
                <a:tc>
                  <a:txBody>
                    <a:bodyPr/>
                    <a:lstStyle/>
                    <a:p>
                      <a:pPr algn="ctr"/>
                      <a:r>
                        <a:rPr lang="en-US" sz="650" dirty="0">
                          <a:latin typeface="+mn-lt"/>
                        </a:rPr>
                        <a:t>Prior</a:t>
                      </a:r>
                    </a:p>
                  </a:txBody>
                  <a:tcPr anchor="ctr"/>
                </a:tc>
                <a:tc>
                  <a:txBody>
                    <a:bodyPr/>
                    <a:lstStyle/>
                    <a:p>
                      <a:pPr algn="ctr"/>
                      <a:r>
                        <a:rPr lang="en-US" sz="650">
                          <a:latin typeface="+mn-lt"/>
                        </a:rPr>
                        <a:t>Current</a:t>
                      </a:r>
                    </a:p>
                  </a:txBody>
                  <a:tcPr anchor="ctr"/>
                </a:tc>
                <a:tc>
                  <a:txBody>
                    <a:bodyPr/>
                    <a:lstStyle/>
                    <a:p>
                      <a:pPr algn="ctr"/>
                      <a:r>
                        <a:rPr lang="en-US" sz="1050" dirty="0">
                          <a:latin typeface="+mn-lt"/>
                        </a:rPr>
                        <a:t>Rationale/Status</a:t>
                      </a:r>
                    </a:p>
                  </a:txBody>
                  <a:tcPr anchor="ctr"/>
                </a:tc>
                <a:extLst>
                  <a:ext uri="{0D108BD9-81ED-4DB2-BD59-A6C34878D82A}">
                    <a16:rowId xmlns:a16="http://schemas.microsoft.com/office/drawing/2014/main" val="10000"/>
                  </a:ext>
                </a:extLst>
              </a:tr>
              <a:tr h="526840">
                <a:tc>
                  <a:txBody>
                    <a:bodyPr/>
                    <a:lstStyle/>
                    <a:p>
                      <a:r>
                        <a:rPr lang="en-US" sz="800" b="1" dirty="0">
                          <a:latin typeface="+mn-lt"/>
                        </a:rPr>
                        <a:t>Overall</a:t>
                      </a:r>
                    </a:p>
                  </a:txBody>
                  <a:tcPr anchor="ctr">
                    <a:solidFill>
                      <a:schemeClr val="bg2"/>
                    </a:solidFill>
                  </a:tcPr>
                </a:tc>
                <a:tc>
                  <a:txBody>
                    <a:bodyPr/>
                    <a:lstStyle/>
                    <a:p>
                      <a:pPr algn="ctr"/>
                      <a:r>
                        <a:rPr lang="en-US" sz="800">
                          <a:latin typeface="+mn-lt"/>
                        </a:rPr>
                        <a:t>Y</a:t>
                      </a:r>
                    </a:p>
                  </a:txBody>
                  <a:tcPr anchor="ctr">
                    <a:solidFill>
                      <a:srgbClr val="FFFF00"/>
                    </a:solidFill>
                  </a:tcPr>
                </a:tc>
                <a:tc>
                  <a:txBody>
                    <a:bodyPr/>
                    <a:lstStyle/>
                    <a:p>
                      <a:pPr algn="ctr"/>
                      <a:r>
                        <a:rPr lang="en-US" sz="800">
                          <a:latin typeface="+mn-lt"/>
                        </a:rPr>
                        <a:t>Y</a:t>
                      </a:r>
                    </a:p>
                  </a:txBody>
                  <a:tcPr anchor="ctr">
                    <a:solidFill>
                      <a:srgbClr val="FFFF00"/>
                    </a:solidFill>
                  </a:tcPr>
                </a:tc>
                <a:tc>
                  <a:txBody>
                    <a:bodyPr/>
                    <a:lstStyle/>
                    <a:p>
                      <a:pPr marL="0" marR="0" lvl="0" indent="0" algn="l">
                        <a:lnSpc>
                          <a:spcPct val="100000"/>
                        </a:lnSpc>
                        <a:spcBef>
                          <a:spcPts val="0"/>
                        </a:spcBef>
                        <a:spcAft>
                          <a:spcPts val="0"/>
                        </a:spcAft>
                        <a:buNone/>
                      </a:pPr>
                      <a:r>
                        <a:rPr lang="en-US" sz="900" b="0" i="0" u="none" strike="noStrike" baseline="0" noProof="0" dirty="0">
                          <a:latin typeface="+mn-lt"/>
                        </a:rPr>
                        <a:t>Overall assessment of progress or lack thereof during the quarter.</a:t>
                      </a:r>
                    </a:p>
                  </a:txBody>
                  <a:tcPr anchor="ctr">
                    <a:solidFill>
                      <a:srgbClr val="E7E7E7"/>
                    </a:solidFill>
                  </a:tcPr>
                </a:tc>
                <a:extLst>
                  <a:ext uri="{0D108BD9-81ED-4DB2-BD59-A6C34878D82A}">
                    <a16:rowId xmlns:a16="http://schemas.microsoft.com/office/drawing/2014/main" val="10006"/>
                  </a:ext>
                </a:extLst>
              </a:tr>
              <a:tr h="526840">
                <a:tc>
                  <a:txBody>
                    <a:bodyPr/>
                    <a:lstStyle/>
                    <a:p>
                      <a:r>
                        <a:rPr lang="en-US" sz="800" b="1" dirty="0">
                          <a:latin typeface="+mn-lt"/>
                        </a:rPr>
                        <a:t>Cost</a:t>
                      </a:r>
                    </a:p>
                  </a:txBody>
                  <a:tcPr anchor="ctr">
                    <a:solidFill>
                      <a:schemeClr val="bg2">
                        <a:lumMod val="90000"/>
                      </a:schemeClr>
                    </a:solidFill>
                  </a:tcPr>
                </a:tc>
                <a:tc>
                  <a:txBody>
                    <a:bodyPr/>
                    <a:lstStyle/>
                    <a:p>
                      <a:pPr algn="ctr"/>
                      <a:r>
                        <a:rPr lang="en-US" sz="800" dirty="0">
                          <a:latin typeface="+mn-lt"/>
                        </a:rPr>
                        <a:t>Y</a:t>
                      </a:r>
                    </a:p>
                  </a:txBody>
                  <a:tcPr anchor="ctr">
                    <a:solidFill>
                      <a:srgbClr val="FFFF00"/>
                    </a:solidFill>
                  </a:tcPr>
                </a:tc>
                <a:tc>
                  <a:txBody>
                    <a:bodyPr/>
                    <a:lstStyle/>
                    <a:p>
                      <a:pPr algn="ctr"/>
                      <a:r>
                        <a:rPr lang="en-US" sz="800" dirty="0">
                          <a:latin typeface="+mn-lt"/>
                        </a:rPr>
                        <a:t>Y</a:t>
                      </a:r>
                    </a:p>
                  </a:txBody>
                  <a:tcPr anchor="c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dirty="0">
                          <a:solidFill>
                            <a:schemeClr val="tx1"/>
                          </a:solidFill>
                          <a:latin typeface="+mn-lt"/>
                        </a:rPr>
                        <a:t>Discuss any issues with spending your funding, needs for augmentation, etc.</a:t>
                      </a:r>
                    </a:p>
                  </a:txBody>
                  <a:tcPr anchor="ctr">
                    <a:solidFill>
                      <a:schemeClr val="bg2">
                        <a:lumMod val="90000"/>
                      </a:schemeClr>
                    </a:solidFill>
                  </a:tcPr>
                </a:tc>
                <a:extLst>
                  <a:ext uri="{0D108BD9-81ED-4DB2-BD59-A6C34878D82A}">
                    <a16:rowId xmlns:a16="http://schemas.microsoft.com/office/drawing/2014/main" val="2343057346"/>
                  </a:ext>
                </a:extLst>
              </a:tr>
              <a:tr h="526840">
                <a:tc>
                  <a:txBody>
                    <a:bodyPr/>
                    <a:lstStyle/>
                    <a:p>
                      <a:r>
                        <a:rPr lang="en-US" sz="800" b="1" dirty="0">
                          <a:latin typeface="+mn-lt"/>
                        </a:rPr>
                        <a:t>Schedule</a:t>
                      </a:r>
                    </a:p>
                  </a:txBody>
                  <a:tcPr anchor="ctr">
                    <a:solidFill>
                      <a:schemeClr val="bg2"/>
                    </a:solidFill>
                  </a:tcPr>
                </a:tc>
                <a:tc>
                  <a:txBody>
                    <a:bodyPr/>
                    <a:lstStyle/>
                    <a:p>
                      <a:pPr algn="ctr"/>
                      <a:r>
                        <a:rPr lang="en-US" sz="800" dirty="0">
                          <a:latin typeface="+mn-lt"/>
                        </a:rPr>
                        <a:t>G</a:t>
                      </a:r>
                    </a:p>
                  </a:txBody>
                  <a:tcPr anchor="ctr">
                    <a:solidFill>
                      <a:srgbClr val="00B050"/>
                    </a:solidFill>
                  </a:tcPr>
                </a:tc>
                <a:tc>
                  <a:txBody>
                    <a:bodyPr/>
                    <a:lstStyle/>
                    <a:p>
                      <a:pPr algn="ctr"/>
                      <a:r>
                        <a:rPr lang="en-US" sz="800" dirty="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dirty="0">
                          <a:latin typeface="+mn-lt"/>
                        </a:rPr>
                        <a:t>Noteworthy changes in your original development schedule.  If behind schedule, indicate number of months behind.</a:t>
                      </a:r>
                    </a:p>
                  </a:txBody>
                  <a:tcPr anchor="ctr">
                    <a:solidFill>
                      <a:srgbClr val="E7E7E7"/>
                    </a:solidFill>
                  </a:tcPr>
                </a:tc>
                <a:extLst>
                  <a:ext uri="{0D108BD9-81ED-4DB2-BD59-A6C34878D82A}">
                    <a16:rowId xmlns:a16="http://schemas.microsoft.com/office/drawing/2014/main" val="3036841174"/>
                  </a:ext>
                </a:extLst>
              </a:tr>
              <a:tr h="526840">
                <a:tc>
                  <a:txBody>
                    <a:bodyPr/>
                    <a:lstStyle/>
                    <a:p>
                      <a:r>
                        <a:rPr lang="en-US" sz="800" b="1" dirty="0">
                          <a:latin typeface="+mn-lt"/>
                        </a:rPr>
                        <a:t>Technical</a:t>
                      </a:r>
                    </a:p>
                  </a:txBody>
                  <a:tcPr anchor="ctr">
                    <a:solidFill>
                      <a:schemeClr val="bg2">
                        <a:lumMod val="90000"/>
                      </a:schemeClr>
                    </a:solidFill>
                  </a:tcPr>
                </a:tc>
                <a:tc>
                  <a:txBody>
                    <a:bodyPr/>
                    <a:lstStyle/>
                    <a:p>
                      <a:pPr algn="ctr"/>
                      <a:r>
                        <a:rPr lang="en-US" sz="800" dirty="0">
                          <a:latin typeface="+mn-lt"/>
                        </a:rPr>
                        <a:t>G</a:t>
                      </a:r>
                    </a:p>
                  </a:txBody>
                  <a:tcPr anchor="ctr">
                    <a:solidFill>
                      <a:srgbClr val="00B050"/>
                    </a:solidFill>
                  </a:tcPr>
                </a:tc>
                <a:tc>
                  <a:txBody>
                    <a:bodyPr/>
                    <a:lstStyle/>
                    <a:p>
                      <a:pPr algn="ctr"/>
                      <a:r>
                        <a:rPr lang="en-US" sz="800" dirty="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dirty="0">
                          <a:latin typeface="+mn-lt"/>
                        </a:rPr>
                        <a:t>Summary of technical accomplishments or setbacks experienced since last report.</a:t>
                      </a:r>
                    </a:p>
                  </a:txBody>
                  <a:tcPr anchor="ctr">
                    <a:solidFill>
                      <a:schemeClr val="bg2">
                        <a:lumMod val="90000"/>
                      </a:schemeClr>
                    </a:solidFill>
                  </a:tcPr>
                </a:tc>
                <a:extLst>
                  <a:ext uri="{0D108BD9-81ED-4DB2-BD59-A6C34878D82A}">
                    <a16:rowId xmlns:a16="http://schemas.microsoft.com/office/drawing/2014/main" val="1829007059"/>
                  </a:ext>
                </a:extLst>
              </a:tr>
              <a:tr h="526840">
                <a:tc>
                  <a:txBody>
                    <a:bodyPr/>
                    <a:lstStyle/>
                    <a:p>
                      <a:r>
                        <a:rPr lang="en-US" sz="800" b="1" dirty="0">
                          <a:latin typeface="+mn-lt"/>
                        </a:rPr>
                        <a:t>Staffing</a:t>
                      </a:r>
                    </a:p>
                  </a:txBody>
                  <a:tcPr anchor="ctr">
                    <a:solidFill>
                      <a:schemeClr val="bg2"/>
                    </a:solidFill>
                  </a:tcPr>
                </a:tc>
                <a:tc>
                  <a:txBody>
                    <a:bodyPr/>
                    <a:lstStyle/>
                    <a:p>
                      <a:pPr algn="ctr"/>
                      <a:r>
                        <a:rPr lang="en-US" sz="800" dirty="0">
                          <a:latin typeface="+mn-lt"/>
                        </a:rPr>
                        <a:t>G</a:t>
                      </a:r>
                    </a:p>
                  </a:txBody>
                  <a:tcPr anchor="ctr">
                    <a:solidFill>
                      <a:srgbClr val="00B050"/>
                    </a:solidFill>
                  </a:tcPr>
                </a:tc>
                <a:tc>
                  <a:txBody>
                    <a:bodyPr/>
                    <a:lstStyle/>
                    <a:p>
                      <a:pPr algn="ctr"/>
                      <a:r>
                        <a:rPr lang="en-US" sz="800" dirty="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latin typeface="+mn-lt"/>
                        </a:rPr>
                        <a:t>Noteworthy developments with PI, Co-I or other personnel working on award during this period.</a:t>
                      </a:r>
                    </a:p>
                  </a:txBody>
                  <a:tcPr anchor="ctr">
                    <a:solidFill>
                      <a:srgbClr val="E7E7E7"/>
                    </a:solidFill>
                  </a:tcPr>
                </a:tc>
                <a:extLst>
                  <a:ext uri="{0D108BD9-81ED-4DB2-BD59-A6C34878D82A}">
                    <a16:rowId xmlns:a16="http://schemas.microsoft.com/office/drawing/2014/main" val="3409510594"/>
                  </a:ext>
                </a:extLst>
              </a:tr>
              <a:tr h="526840">
                <a:tc>
                  <a:txBody>
                    <a:bodyPr/>
                    <a:lstStyle/>
                    <a:p>
                      <a:r>
                        <a:rPr lang="en-US" sz="800" b="1" dirty="0">
                          <a:latin typeface="+mn-lt"/>
                        </a:rPr>
                        <a:t>Facilities</a:t>
                      </a:r>
                    </a:p>
                  </a:txBody>
                  <a:tcPr anchor="ctr">
                    <a:solidFill>
                      <a:schemeClr val="bg2">
                        <a:lumMod val="90000"/>
                      </a:schemeClr>
                    </a:solidFill>
                  </a:tcPr>
                </a:tc>
                <a:tc>
                  <a:txBody>
                    <a:bodyPr/>
                    <a:lstStyle/>
                    <a:p>
                      <a:pPr algn="ctr"/>
                      <a:r>
                        <a:rPr lang="en-US" sz="800" dirty="0">
                          <a:latin typeface="+mn-lt"/>
                        </a:rPr>
                        <a:t>G</a:t>
                      </a:r>
                    </a:p>
                  </a:txBody>
                  <a:tcPr anchor="ctr">
                    <a:solidFill>
                      <a:srgbClr val="00B050"/>
                    </a:solidFill>
                  </a:tcPr>
                </a:tc>
                <a:tc>
                  <a:txBody>
                    <a:bodyPr/>
                    <a:lstStyle/>
                    <a:p>
                      <a:pPr algn="ctr"/>
                      <a:r>
                        <a:rPr lang="en-US" sz="800" dirty="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dirty="0">
                          <a:latin typeface="+mn-lt"/>
                        </a:rPr>
                        <a:t>Summary of any facility or lab related developments.</a:t>
                      </a:r>
                    </a:p>
                  </a:txBody>
                  <a:tcPr anchor="ctr">
                    <a:solidFill>
                      <a:schemeClr val="bg2">
                        <a:lumMod val="90000"/>
                      </a:schemeClr>
                    </a:solidFill>
                  </a:tcPr>
                </a:tc>
                <a:extLst>
                  <a:ext uri="{0D108BD9-81ED-4DB2-BD59-A6C34878D82A}">
                    <a16:rowId xmlns:a16="http://schemas.microsoft.com/office/drawing/2014/main" val="31390217"/>
                  </a:ext>
                </a:extLst>
              </a:tr>
            </a:tbl>
          </a:graphicData>
        </a:graphic>
      </p:graphicFrame>
      <p:sp>
        <p:nvSpPr>
          <p:cNvPr id="5" name="TextBox 4">
            <a:extLst>
              <a:ext uri="{FF2B5EF4-FFF2-40B4-BE49-F238E27FC236}">
                <a16:creationId xmlns:a16="http://schemas.microsoft.com/office/drawing/2014/main" id="{92802047-6591-45E7-82C3-5FD2AF372B4B}"/>
              </a:ext>
            </a:extLst>
          </p:cNvPr>
          <p:cNvSpPr txBox="1"/>
          <p:nvPr/>
        </p:nvSpPr>
        <p:spPr>
          <a:xfrm>
            <a:off x="9980900" y="4319845"/>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3503524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98C7A-2BB7-DC03-DF4C-33A3387958C1}"/>
              </a:ext>
            </a:extLst>
          </p:cNvPr>
          <p:cNvSpPr>
            <a:spLocks noGrp="1"/>
          </p:cNvSpPr>
          <p:nvPr>
            <p:ph type="title"/>
          </p:nvPr>
        </p:nvSpPr>
        <p:spPr/>
        <p:txBody>
          <a:bodyPr/>
          <a:lstStyle/>
          <a:p>
            <a:r>
              <a:rPr lang="en-US"/>
              <a:t>Issue Log</a:t>
            </a:r>
          </a:p>
        </p:txBody>
      </p:sp>
      <p:graphicFrame>
        <p:nvGraphicFramePr>
          <p:cNvPr id="6" name="Table 5">
            <a:extLst>
              <a:ext uri="{FF2B5EF4-FFF2-40B4-BE49-F238E27FC236}">
                <a16:creationId xmlns:a16="http://schemas.microsoft.com/office/drawing/2014/main" id="{BA3A9575-1947-4DD1-5A20-9CE66F86D13D}"/>
              </a:ext>
            </a:extLst>
          </p:cNvPr>
          <p:cNvGraphicFramePr>
            <a:graphicFrameLocks noGrp="1"/>
          </p:cNvGraphicFramePr>
          <p:nvPr>
            <p:extLst>
              <p:ext uri="{D42A27DB-BD31-4B8C-83A1-F6EECF244321}">
                <p14:modId xmlns:p14="http://schemas.microsoft.com/office/powerpoint/2010/main" val="192129963"/>
              </p:ext>
            </p:extLst>
          </p:nvPr>
        </p:nvGraphicFramePr>
        <p:xfrm>
          <a:off x="243840" y="1102523"/>
          <a:ext cx="11713028" cy="5458533"/>
        </p:xfrm>
        <a:graphic>
          <a:graphicData uri="http://schemas.openxmlformats.org/drawingml/2006/table">
            <a:tbl>
              <a:tblPr firstRow="1" bandRow="1">
                <a:tableStyleId>{073A0DAA-6AF3-43AB-8588-CEC1D06C72B9}</a:tableStyleId>
              </a:tblPr>
              <a:tblGrid>
                <a:gridCol w="1754678">
                  <a:extLst>
                    <a:ext uri="{9D8B030D-6E8A-4147-A177-3AD203B41FA5}">
                      <a16:colId xmlns:a16="http://schemas.microsoft.com/office/drawing/2014/main" val="20000"/>
                    </a:ext>
                  </a:extLst>
                </a:gridCol>
                <a:gridCol w="5196305">
                  <a:extLst>
                    <a:ext uri="{9D8B030D-6E8A-4147-A177-3AD203B41FA5}">
                      <a16:colId xmlns:a16="http://schemas.microsoft.com/office/drawing/2014/main" val="20001"/>
                    </a:ext>
                  </a:extLst>
                </a:gridCol>
                <a:gridCol w="4762045">
                  <a:extLst>
                    <a:ext uri="{9D8B030D-6E8A-4147-A177-3AD203B41FA5}">
                      <a16:colId xmlns:a16="http://schemas.microsoft.com/office/drawing/2014/main" val="20002"/>
                    </a:ext>
                  </a:extLst>
                </a:gridCol>
              </a:tblGrid>
              <a:tr h="402104">
                <a:tc>
                  <a:txBody>
                    <a:bodyPr/>
                    <a:lstStyle/>
                    <a:p>
                      <a:pPr algn="ctr"/>
                      <a:r>
                        <a:rPr lang="en-US" sz="1400">
                          <a:latin typeface="+mn-lt"/>
                        </a:rPr>
                        <a:t>Issue</a:t>
                      </a:r>
                    </a:p>
                  </a:txBody>
                  <a:tcPr anchor="ctr"/>
                </a:tc>
                <a:tc>
                  <a:txBody>
                    <a:bodyPr/>
                    <a:lstStyle/>
                    <a:p>
                      <a:pPr algn="ctr"/>
                      <a:r>
                        <a:rPr lang="en-US" sz="1400" i="0">
                          <a:latin typeface="+mn-lt"/>
                        </a:rPr>
                        <a:t>Status</a:t>
                      </a:r>
                    </a:p>
                  </a:txBody>
                  <a:tcPr anchor="ctr"/>
                </a:tc>
                <a:tc>
                  <a:txBody>
                    <a:bodyPr/>
                    <a:lstStyle/>
                    <a:p>
                      <a:pPr lvl="0" algn="ctr">
                        <a:buNone/>
                      </a:pPr>
                      <a:r>
                        <a:rPr lang="en-US" sz="1400">
                          <a:latin typeface="+mn-lt"/>
                        </a:rPr>
                        <a:t>Mitigation</a:t>
                      </a:r>
                    </a:p>
                  </a:txBody>
                  <a:tcPr anchor="ctr"/>
                </a:tc>
                <a:extLst>
                  <a:ext uri="{0D108BD9-81ED-4DB2-BD59-A6C34878D82A}">
                    <a16:rowId xmlns:a16="http://schemas.microsoft.com/office/drawing/2014/main" val="10000"/>
                  </a:ext>
                </a:extLst>
              </a:tr>
              <a:tr h="722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anchor="ctr"/>
                </a:tc>
                <a:tc>
                  <a:txBody>
                    <a:bodyPr/>
                    <a:lstStyle/>
                    <a:p>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1"/>
                  </a:ext>
                </a:extLst>
              </a:tr>
              <a:tr h="722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anchor="ctr"/>
                </a:tc>
                <a:tc>
                  <a:txBody>
                    <a:bodyPr/>
                    <a:lstStyle/>
                    <a:p>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2"/>
                  </a:ext>
                </a:extLst>
              </a:tr>
              <a:tr h="722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anchor="ctr"/>
                </a:tc>
                <a:tc>
                  <a:txBody>
                    <a:bodyPr/>
                    <a:lstStyle/>
                    <a:p>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3"/>
                  </a:ext>
                </a:extLst>
              </a:tr>
              <a:tr h="722347">
                <a:tc>
                  <a:txBody>
                    <a:bodyPr/>
                    <a:lstStyle/>
                    <a:p>
                      <a:endParaRPr lang="en-US" sz="1000" b="1">
                        <a:latin typeface="+mn-lt"/>
                      </a:endParaRPr>
                    </a:p>
                  </a:txBody>
                  <a:tcPr anchor="ctr"/>
                </a:tc>
                <a:tc>
                  <a:txBody>
                    <a:bodyPr/>
                    <a:lstStyle/>
                    <a:p>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4"/>
                  </a:ext>
                </a:extLst>
              </a:tr>
              <a:tr h="722347">
                <a:tc>
                  <a:txBody>
                    <a:bodyPr/>
                    <a:lstStyle/>
                    <a:p>
                      <a:endParaRPr lang="en-US" sz="1000" b="1">
                        <a:latin typeface="+mn-lt"/>
                      </a:endParaRPr>
                    </a:p>
                  </a:txBody>
                  <a:tcPr anchor="ctr"/>
                </a:tc>
                <a:tc>
                  <a:txBody>
                    <a:bodyPr/>
                    <a:lstStyle/>
                    <a:p>
                      <a:pPr marL="0" marR="0" lvl="0" indent="0" algn="l" rtl="0" eaLnBrk="1" fontAlgn="auto" latinLnBrk="0" hangingPunct="1">
                        <a:lnSpc>
                          <a:spcPct val="100000"/>
                        </a:lnSpc>
                        <a:spcBef>
                          <a:spcPts val="0"/>
                        </a:spcBef>
                        <a:spcAft>
                          <a:spcPts val="0"/>
                        </a:spcAft>
                        <a:buFontTx/>
                        <a:buNone/>
                      </a:pPr>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5"/>
                  </a:ext>
                </a:extLst>
              </a:tr>
              <a:tr h="722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10006"/>
                  </a:ext>
                </a:extLst>
              </a:tr>
              <a:tr h="722347">
                <a:tc>
                  <a:txBody>
                    <a:bodyPr/>
                    <a:lstStyle/>
                    <a:p>
                      <a:endParaRPr lang="en-US" sz="10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aseline="0">
                        <a:latin typeface="+mn-lt"/>
                      </a:endParaRPr>
                    </a:p>
                  </a:txBody>
                  <a:tcPr anchor="ctr"/>
                </a:tc>
                <a:extLst>
                  <a:ext uri="{0D108BD9-81ED-4DB2-BD59-A6C34878D82A}">
                    <a16:rowId xmlns:a16="http://schemas.microsoft.com/office/drawing/2014/main" val="2523708440"/>
                  </a:ext>
                </a:extLst>
              </a:tr>
            </a:tbl>
          </a:graphicData>
        </a:graphic>
      </p:graphicFrame>
      <p:sp>
        <p:nvSpPr>
          <p:cNvPr id="7" name="TextBox 6">
            <a:extLst>
              <a:ext uri="{FF2B5EF4-FFF2-40B4-BE49-F238E27FC236}">
                <a16:creationId xmlns:a16="http://schemas.microsoft.com/office/drawing/2014/main" id="{4317DF6A-F4FD-7C66-16E0-D4CF0084CFD2}"/>
              </a:ext>
            </a:extLst>
          </p:cNvPr>
          <p:cNvSpPr txBox="1"/>
          <p:nvPr/>
        </p:nvSpPr>
        <p:spPr>
          <a:xfrm>
            <a:off x="8059479" y="825524"/>
            <a:ext cx="3993081" cy="276999"/>
          </a:xfrm>
          <a:prstGeom prst="rect">
            <a:avLst/>
          </a:prstGeom>
          <a:noFill/>
        </p:spPr>
        <p:txBody>
          <a:bodyPr wrap="none" rtlCol="0">
            <a:spAutoFit/>
          </a:bodyPr>
          <a:lstStyle/>
          <a:p>
            <a:r>
              <a:rPr lang="en-US" sz="1200" b="1">
                <a:cs typeface="Arial Narrow" panose="020B0604020202020204" pitchFamily="34" charset="0"/>
              </a:rPr>
              <a:t>Add additional tables and/or modify table as necessary</a:t>
            </a:r>
            <a:endParaRPr lang="en-US" sz="1200"/>
          </a:p>
        </p:txBody>
      </p:sp>
      <p:sp>
        <p:nvSpPr>
          <p:cNvPr id="8" name="Slide Number Placeholder 7">
            <a:extLst>
              <a:ext uri="{FF2B5EF4-FFF2-40B4-BE49-F238E27FC236}">
                <a16:creationId xmlns:a16="http://schemas.microsoft.com/office/drawing/2014/main" id="{D4A0211A-9397-ED8A-2D9E-1BD9DE27772A}"/>
              </a:ext>
            </a:extLst>
          </p:cNvPr>
          <p:cNvSpPr>
            <a:spLocks noGrp="1"/>
          </p:cNvSpPr>
          <p:nvPr>
            <p:ph type="sldNum" sz="quarter" idx="12"/>
          </p:nvPr>
        </p:nvSpPr>
        <p:spPr/>
        <p:txBody>
          <a:bodyPr/>
          <a:lstStyle/>
          <a:p>
            <a:fld id="{88E0E29E-E225-F048-A964-380D52CA58AC}" type="slidenum">
              <a:rPr lang="en-US" smtClean="0"/>
              <a:t>10</a:t>
            </a:fld>
            <a:endParaRPr lang="en-US"/>
          </a:p>
        </p:txBody>
      </p:sp>
    </p:spTree>
    <p:extLst>
      <p:ext uri="{BB962C8B-B14F-4D97-AF65-F5344CB8AC3E}">
        <p14:creationId xmlns:p14="http://schemas.microsoft.com/office/powerpoint/2010/main" val="364304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E6127-7927-89CA-ACD9-88B767784FD4}"/>
              </a:ext>
            </a:extLst>
          </p:cNvPr>
          <p:cNvSpPr>
            <a:spLocks noGrp="1"/>
          </p:cNvSpPr>
          <p:nvPr>
            <p:ph type="title"/>
          </p:nvPr>
        </p:nvSpPr>
        <p:spPr/>
        <p:txBody>
          <a:bodyPr/>
          <a:lstStyle/>
          <a:p>
            <a:r>
              <a:rPr lang="en-US"/>
              <a:t>Budget Reporting</a:t>
            </a:r>
          </a:p>
        </p:txBody>
      </p:sp>
      <p:sp>
        <p:nvSpPr>
          <p:cNvPr id="4" name="TextBox 3">
            <a:extLst>
              <a:ext uri="{FF2B5EF4-FFF2-40B4-BE49-F238E27FC236}">
                <a16:creationId xmlns:a16="http://schemas.microsoft.com/office/drawing/2014/main" id="{57B176CC-C369-6350-A3C8-28AAFDE4F85D}"/>
              </a:ext>
            </a:extLst>
          </p:cNvPr>
          <p:cNvSpPr txBox="1"/>
          <p:nvPr/>
        </p:nvSpPr>
        <p:spPr>
          <a:xfrm>
            <a:off x="160742" y="5125553"/>
            <a:ext cx="11839580" cy="1569660"/>
          </a:xfrm>
          <a:prstGeom prst="rect">
            <a:avLst/>
          </a:prstGeom>
          <a:noFill/>
          <a:ln>
            <a:solidFill>
              <a:srgbClr val="4A3974"/>
            </a:solidFill>
          </a:ln>
        </p:spPr>
        <p:txBody>
          <a:bodyPr wrap="square" numCol="2" spcCol="18288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p:txBody>
      </p:sp>
      <p:graphicFrame>
        <p:nvGraphicFramePr>
          <p:cNvPr id="5" name="Object 4">
            <a:extLst>
              <a:ext uri="{FF2B5EF4-FFF2-40B4-BE49-F238E27FC236}">
                <a16:creationId xmlns:a16="http://schemas.microsoft.com/office/drawing/2014/main" id="{F3DC0ACF-A053-BB99-9175-C611FDC53AF2}"/>
              </a:ext>
            </a:extLst>
          </p:cNvPr>
          <p:cNvGraphicFramePr>
            <a:graphicFrameLocks noChangeAspect="1"/>
          </p:cNvGraphicFramePr>
          <p:nvPr>
            <p:extLst>
              <p:ext uri="{D42A27DB-BD31-4B8C-83A1-F6EECF244321}">
                <p14:modId xmlns:p14="http://schemas.microsoft.com/office/powerpoint/2010/main" val="1049117390"/>
              </p:ext>
            </p:extLst>
          </p:nvPr>
        </p:nvGraphicFramePr>
        <p:xfrm>
          <a:off x="160338" y="1130300"/>
          <a:ext cx="11839575" cy="3978275"/>
        </p:xfrm>
        <a:graphic>
          <a:graphicData uri="http://schemas.openxmlformats.org/presentationml/2006/ole">
            <mc:AlternateContent xmlns:mc="http://schemas.openxmlformats.org/markup-compatibility/2006">
              <mc:Choice xmlns:v="urn:schemas-microsoft-com:vml" Requires="v">
                <p:oleObj name="Worksheet" r:id="rId2" imgW="10142185" imgH="3977781" progId="Excel.Sheet.12">
                  <p:embed/>
                </p:oleObj>
              </mc:Choice>
              <mc:Fallback>
                <p:oleObj name="Worksheet" r:id="rId2" imgW="10142185" imgH="3977781" progId="Excel.Sheet.12">
                  <p:embed/>
                  <p:pic>
                    <p:nvPicPr>
                      <p:cNvPr id="5" name="Object 4">
                        <a:extLst>
                          <a:ext uri="{FF2B5EF4-FFF2-40B4-BE49-F238E27FC236}">
                            <a16:creationId xmlns:a16="http://schemas.microsoft.com/office/drawing/2014/main" id="{F3DC0ACF-A053-BB99-9175-C611FDC53AF2}"/>
                          </a:ext>
                        </a:extLst>
                      </p:cNvPr>
                      <p:cNvPicPr/>
                      <p:nvPr/>
                    </p:nvPicPr>
                    <p:blipFill>
                      <a:blip r:embed="rId3"/>
                      <a:stretch>
                        <a:fillRect/>
                      </a:stretch>
                    </p:blipFill>
                    <p:spPr>
                      <a:xfrm>
                        <a:off x="160338" y="1130300"/>
                        <a:ext cx="11839575" cy="3978275"/>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D4FEA923-5AA5-401D-39FF-4E400F9DCD6E}"/>
              </a:ext>
            </a:extLst>
          </p:cNvPr>
          <p:cNvSpPr txBox="1"/>
          <p:nvPr/>
        </p:nvSpPr>
        <p:spPr>
          <a:xfrm>
            <a:off x="7135620" y="844812"/>
            <a:ext cx="4938724" cy="276999"/>
          </a:xfrm>
          <a:prstGeom prst="rect">
            <a:avLst/>
          </a:prstGeom>
          <a:noFill/>
        </p:spPr>
        <p:txBody>
          <a:bodyPr wrap="none" rtlCol="0">
            <a:spAutoFit/>
          </a:bodyPr>
          <a:lstStyle/>
          <a:p>
            <a:r>
              <a:rPr lang="en-US" sz="1200" b="1">
                <a:cs typeface="Arial Narrow" panose="020B0604020202020204" pitchFamily="34" charset="0"/>
              </a:rPr>
              <a:t>Include a separate table for each institution directly funded by NASA</a:t>
            </a:r>
            <a:endParaRPr lang="en-US" sz="1200"/>
          </a:p>
        </p:txBody>
      </p:sp>
      <p:sp>
        <p:nvSpPr>
          <p:cNvPr id="7" name="Slide Number Placeholder 6">
            <a:extLst>
              <a:ext uri="{FF2B5EF4-FFF2-40B4-BE49-F238E27FC236}">
                <a16:creationId xmlns:a16="http://schemas.microsoft.com/office/drawing/2014/main" id="{32B7D390-47EB-D2F4-B2BD-9674FBFC4B60}"/>
              </a:ext>
            </a:extLst>
          </p:cNvPr>
          <p:cNvSpPr>
            <a:spLocks noGrp="1"/>
          </p:cNvSpPr>
          <p:nvPr>
            <p:ph type="sldNum" sz="quarter" idx="12"/>
          </p:nvPr>
        </p:nvSpPr>
        <p:spPr/>
        <p:txBody>
          <a:bodyPr/>
          <a:lstStyle/>
          <a:p>
            <a:fld id="{88E0E29E-E225-F048-A964-380D52CA58AC}" type="slidenum">
              <a:rPr lang="en-US" smtClean="0"/>
              <a:t>11</a:t>
            </a:fld>
            <a:endParaRPr lang="en-US"/>
          </a:p>
        </p:txBody>
      </p:sp>
    </p:spTree>
    <p:extLst>
      <p:ext uri="{BB962C8B-B14F-4D97-AF65-F5344CB8AC3E}">
        <p14:creationId xmlns:p14="http://schemas.microsoft.com/office/powerpoint/2010/main" val="3448026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F516E-D663-BCAD-857E-A3C868A4410E}"/>
              </a:ext>
            </a:extLst>
          </p:cNvPr>
          <p:cNvSpPr>
            <a:spLocks noGrp="1"/>
          </p:cNvSpPr>
          <p:nvPr>
            <p:ph type="title"/>
          </p:nvPr>
        </p:nvSpPr>
        <p:spPr/>
        <p:txBody>
          <a:bodyPr/>
          <a:lstStyle/>
          <a:p>
            <a:r>
              <a:rPr lang="en-US"/>
              <a:t>Planned Accomplishments</a:t>
            </a:r>
          </a:p>
        </p:txBody>
      </p:sp>
      <p:sp>
        <p:nvSpPr>
          <p:cNvPr id="4" name="Text Placeholder 4">
            <a:extLst>
              <a:ext uri="{FF2B5EF4-FFF2-40B4-BE49-F238E27FC236}">
                <a16:creationId xmlns:a16="http://schemas.microsoft.com/office/drawing/2014/main" id="{F0A68635-0516-67DC-44E0-FC88BF910E7C}"/>
              </a:ext>
            </a:extLst>
          </p:cNvPr>
          <p:cNvSpPr txBox="1">
            <a:spLocks/>
          </p:cNvSpPr>
          <p:nvPr/>
        </p:nvSpPr>
        <p:spPr>
          <a:xfrm>
            <a:off x="484649" y="1207314"/>
            <a:ext cx="11347184" cy="5443541"/>
          </a:xfrm>
          <a:prstGeom prst="rect">
            <a:avLst/>
          </a:prstGeom>
          <a:ln>
            <a:solidFill>
              <a:schemeClr val="tx1"/>
            </a:solidFill>
          </a:ln>
        </p:spPr>
        <p:txBody>
          <a:bodyPr vert="horz" lIns="91440" tIns="45720" rIns="91440" bIns="45720" numCol="1" spcCol="18288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000" b="1">
                <a:solidFill>
                  <a:schemeClr val="tx1"/>
                </a:solidFill>
                <a:latin typeface="+mn-lt"/>
              </a:rPr>
              <a:t>For next reporting period, the plan is to:</a:t>
            </a:r>
          </a:p>
          <a:p>
            <a:r>
              <a:rPr lang="en-US" sz="2000">
                <a:solidFill>
                  <a:schemeClr val="tx1"/>
                </a:solidFill>
                <a:latin typeface="+mn-lt"/>
              </a:rPr>
              <a:t>Complete …		</a:t>
            </a:r>
          </a:p>
          <a:p>
            <a:pPr lvl="1">
              <a:buClr>
                <a:schemeClr val="accent2"/>
              </a:buClr>
              <a:buFont typeface="Wingdings" pitchFamily="2" charset="2"/>
              <a:buChar char="§"/>
            </a:pPr>
            <a:r>
              <a:rPr lang="en-US" sz="1800" err="1">
                <a:solidFill>
                  <a:schemeClr val="tx1"/>
                </a:solidFill>
                <a:latin typeface="+mn-lt"/>
              </a:rPr>
              <a:t>Xxx</a:t>
            </a:r>
            <a:endParaRPr lang="en-US" sz="1800">
              <a:solidFill>
                <a:schemeClr val="tx1"/>
              </a:solidFill>
              <a:latin typeface="+mn-lt"/>
            </a:endParaRPr>
          </a:p>
          <a:p>
            <a:pPr lvl="1">
              <a:buClr>
                <a:schemeClr val="accent2"/>
              </a:buClr>
              <a:buFont typeface="Wingdings" pitchFamily="2" charset="2"/>
              <a:buChar char="§"/>
            </a:pPr>
            <a:r>
              <a:rPr lang="en-US" sz="1800" err="1">
                <a:solidFill>
                  <a:schemeClr val="tx1"/>
                </a:solidFill>
                <a:latin typeface="+mn-lt"/>
              </a:rPr>
              <a:t>Yyyy</a:t>
            </a:r>
            <a:endParaRPr lang="en-US" sz="1800">
              <a:solidFill>
                <a:schemeClr val="tx1"/>
              </a:solidFill>
              <a:latin typeface="+mn-lt"/>
            </a:endParaRPr>
          </a:p>
          <a:p>
            <a:pPr lvl="1">
              <a:buClr>
                <a:schemeClr val="accent2"/>
              </a:buClr>
              <a:buFont typeface="Wingdings" pitchFamily="2" charset="2"/>
              <a:buChar char="§"/>
            </a:pPr>
            <a:r>
              <a:rPr lang="en-US" sz="1800">
                <a:solidFill>
                  <a:schemeClr val="tx1"/>
                </a:solidFill>
                <a:latin typeface="+mn-lt"/>
              </a:rPr>
              <a:t>Zzzz</a:t>
            </a:r>
            <a:endParaRPr lang="en-US" sz="2000">
              <a:solidFill>
                <a:schemeClr val="tx1"/>
              </a:solidFill>
              <a:latin typeface="+mn-lt"/>
            </a:endParaRPr>
          </a:p>
          <a:p>
            <a:r>
              <a:rPr lang="en-US" sz="2000">
                <a:solidFill>
                  <a:schemeClr val="tx1"/>
                </a:solidFill>
                <a:latin typeface="+mn-lt"/>
              </a:rPr>
              <a:t>Procure …</a:t>
            </a:r>
          </a:p>
          <a:p>
            <a:pPr lvl="1">
              <a:buClr>
                <a:schemeClr val="accent2"/>
              </a:buClr>
              <a:buFont typeface="Wingdings" pitchFamily="2" charset="2"/>
              <a:buChar char="§"/>
            </a:pPr>
            <a:r>
              <a:rPr lang="en-US" sz="1800" err="1">
                <a:solidFill>
                  <a:schemeClr val="tx1"/>
                </a:solidFill>
                <a:latin typeface="+mn-lt"/>
              </a:rPr>
              <a:t>Aaaa</a:t>
            </a:r>
            <a:endParaRPr lang="en-US" sz="1800">
              <a:solidFill>
                <a:schemeClr val="tx1"/>
              </a:solidFill>
              <a:latin typeface="+mn-lt"/>
            </a:endParaRPr>
          </a:p>
          <a:p>
            <a:pPr lvl="1">
              <a:buClr>
                <a:schemeClr val="accent2"/>
              </a:buClr>
              <a:buFont typeface="Wingdings" pitchFamily="2" charset="2"/>
              <a:buChar char="§"/>
            </a:pPr>
            <a:r>
              <a:rPr lang="en-US" sz="1800" err="1">
                <a:solidFill>
                  <a:schemeClr val="tx1"/>
                </a:solidFill>
                <a:latin typeface="+mn-lt"/>
              </a:rPr>
              <a:t>Bbbbb</a:t>
            </a:r>
            <a:endParaRPr lang="en-US" sz="1800">
              <a:solidFill>
                <a:schemeClr val="tx1"/>
              </a:solidFill>
              <a:latin typeface="+mn-lt"/>
            </a:endParaRPr>
          </a:p>
          <a:p>
            <a:r>
              <a:rPr lang="en-US" sz="2000">
                <a:solidFill>
                  <a:schemeClr val="tx1"/>
                </a:solidFill>
                <a:latin typeface="+mn-lt"/>
              </a:rPr>
              <a:t>Present …</a:t>
            </a:r>
          </a:p>
          <a:p>
            <a:r>
              <a:rPr lang="en-US" sz="2000">
                <a:solidFill>
                  <a:schemeClr val="tx1"/>
                </a:solidFill>
                <a:latin typeface="+mn-lt"/>
              </a:rPr>
              <a:t>Other …</a:t>
            </a:r>
            <a:endParaRPr lang="en-US" sz="2400">
              <a:solidFill>
                <a:schemeClr val="tx1"/>
              </a:solidFill>
              <a:latin typeface="+mn-lt"/>
            </a:endParaRPr>
          </a:p>
        </p:txBody>
      </p:sp>
      <p:sp>
        <p:nvSpPr>
          <p:cNvPr id="5" name="Slide Number Placeholder 4">
            <a:extLst>
              <a:ext uri="{FF2B5EF4-FFF2-40B4-BE49-F238E27FC236}">
                <a16:creationId xmlns:a16="http://schemas.microsoft.com/office/drawing/2014/main" id="{0EA09D97-15AC-9D08-6B4E-8E398D9107BC}"/>
              </a:ext>
            </a:extLst>
          </p:cNvPr>
          <p:cNvSpPr>
            <a:spLocks noGrp="1"/>
          </p:cNvSpPr>
          <p:nvPr>
            <p:ph type="sldNum" sz="quarter" idx="12"/>
          </p:nvPr>
        </p:nvSpPr>
        <p:spPr/>
        <p:txBody>
          <a:bodyPr/>
          <a:lstStyle/>
          <a:p>
            <a:fld id="{88E0E29E-E225-F048-A964-380D52CA58AC}" type="slidenum">
              <a:rPr lang="en-US" smtClean="0"/>
              <a:t>12</a:t>
            </a:fld>
            <a:endParaRPr lang="en-US"/>
          </a:p>
        </p:txBody>
      </p:sp>
    </p:spTree>
    <p:extLst>
      <p:ext uri="{BB962C8B-B14F-4D97-AF65-F5344CB8AC3E}">
        <p14:creationId xmlns:p14="http://schemas.microsoft.com/office/powerpoint/2010/main" val="3013237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25CBB-7D2A-8063-3949-AFFF9ECEC071}"/>
              </a:ext>
            </a:extLst>
          </p:cNvPr>
          <p:cNvSpPr>
            <a:spLocks noGrp="1"/>
          </p:cNvSpPr>
          <p:nvPr>
            <p:ph type="title"/>
          </p:nvPr>
        </p:nvSpPr>
        <p:spPr>
          <a:xfrm>
            <a:off x="2784764" y="0"/>
            <a:ext cx="7225145" cy="670096"/>
          </a:xfrm>
        </p:spPr>
        <p:txBody>
          <a:bodyPr>
            <a:noAutofit/>
          </a:bodyPr>
          <a:lstStyle/>
          <a:p>
            <a:r>
              <a:rPr lang="en-US" sz="3600" dirty="0"/>
              <a:t>Student Metrics</a:t>
            </a:r>
            <a:endParaRPr lang="en-US" sz="2400" dirty="0"/>
          </a:p>
        </p:txBody>
      </p:sp>
      <p:sp>
        <p:nvSpPr>
          <p:cNvPr id="4" name="Text Placeholder 4">
            <a:extLst>
              <a:ext uri="{FF2B5EF4-FFF2-40B4-BE49-F238E27FC236}">
                <a16:creationId xmlns:a16="http://schemas.microsoft.com/office/drawing/2014/main" id="{AE56213B-D29E-2B7B-AF13-16295AFFD928}"/>
              </a:ext>
            </a:extLst>
          </p:cNvPr>
          <p:cNvSpPr txBox="1">
            <a:spLocks/>
          </p:cNvSpPr>
          <p:nvPr/>
        </p:nvSpPr>
        <p:spPr>
          <a:xfrm>
            <a:off x="293600" y="1207315"/>
            <a:ext cx="11115618" cy="3413176"/>
          </a:xfrm>
          <a:prstGeom prst="rect">
            <a:avLst/>
          </a:prstGeom>
          <a:ln>
            <a:solidFill>
              <a:schemeClr val="tx1"/>
            </a:solidFill>
          </a:ln>
        </p:spPr>
        <p:txBody>
          <a:bodyPr vert="horz" lIns="91440" tIns="45720" rIns="91440" bIns="45720" numCol="1" spcCol="18288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sz="1800" b="1"/>
              <a:t>Engagement: Students and Early Career Professionals </a:t>
            </a:r>
            <a:r>
              <a:rPr lang="en-US" sz="1400"/>
              <a:t>(EC: &lt;10 years of experience post-PhD) </a:t>
            </a:r>
          </a:p>
          <a:p>
            <a:pPr marL="285750" indent="-285750">
              <a:buFont typeface="Arial" panose="020B0604020202020204" pitchFamily="34" charset="0"/>
              <a:buChar char="•"/>
            </a:pPr>
            <a:r>
              <a:rPr lang="en-US" sz="1800"/>
              <a:t>Early Career Professionals</a:t>
            </a:r>
          </a:p>
          <a:p>
            <a:pPr marL="742950" lvl="1" indent="-285750">
              <a:buClr>
                <a:schemeClr val="accent2"/>
              </a:buClr>
              <a:buFont typeface="Wingdings" pitchFamily="2" charset="2"/>
              <a:buChar char="§"/>
            </a:pPr>
            <a:r>
              <a:rPr lang="en-US" sz="1400" err="1">
                <a:solidFill>
                  <a:schemeClr val="tx1"/>
                </a:solidFill>
              </a:rPr>
              <a:t>Xxx</a:t>
            </a:r>
            <a:endParaRPr lang="en-US" sz="1200">
              <a:solidFill>
                <a:schemeClr val="tx1"/>
              </a:solidFill>
            </a:endParaRPr>
          </a:p>
          <a:p>
            <a:pPr marL="285750" indent="-285750">
              <a:buFont typeface="Arial" panose="020B0604020202020204" pitchFamily="34" charset="0"/>
              <a:buChar char="•"/>
            </a:pPr>
            <a:r>
              <a:rPr lang="en-US" sz="1800">
                <a:cs typeface="Arial"/>
              </a:rPr>
              <a:t>Students</a:t>
            </a:r>
            <a:endParaRPr lang="en-US"/>
          </a:p>
          <a:p>
            <a:endParaRPr lang="en-US"/>
          </a:p>
        </p:txBody>
      </p:sp>
      <p:sp>
        <p:nvSpPr>
          <p:cNvPr id="6" name="Slide Number Placeholder 5">
            <a:extLst>
              <a:ext uri="{FF2B5EF4-FFF2-40B4-BE49-F238E27FC236}">
                <a16:creationId xmlns:a16="http://schemas.microsoft.com/office/drawing/2014/main" id="{2D2F8CF1-4FEB-55E6-7228-872037C533AE}"/>
              </a:ext>
            </a:extLst>
          </p:cNvPr>
          <p:cNvSpPr>
            <a:spLocks noGrp="1"/>
          </p:cNvSpPr>
          <p:nvPr>
            <p:ph type="sldNum" sz="quarter" idx="12"/>
          </p:nvPr>
        </p:nvSpPr>
        <p:spPr/>
        <p:txBody>
          <a:bodyPr/>
          <a:lstStyle/>
          <a:p>
            <a:fld id="{88E0E29E-E225-F048-A964-380D52CA58AC}" type="slidenum">
              <a:rPr lang="en-US" smtClean="0"/>
              <a:t>13</a:t>
            </a:fld>
            <a:endParaRPr lang="en-US"/>
          </a:p>
        </p:txBody>
      </p:sp>
      <p:graphicFrame>
        <p:nvGraphicFramePr>
          <p:cNvPr id="3" name="Table 2">
            <a:extLst>
              <a:ext uri="{FF2B5EF4-FFF2-40B4-BE49-F238E27FC236}">
                <a16:creationId xmlns:a16="http://schemas.microsoft.com/office/drawing/2014/main" id="{E58A4940-6014-DF40-5DE5-5C9C39AA2223}"/>
              </a:ext>
            </a:extLst>
          </p:cNvPr>
          <p:cNvGraphicFramePr>
            <a:graphicFrameLocks noGrp="1"/>
          </p:cNvGraphicFramePr>
          <p:nvPr>
            <p:extLst>
              <p:ext uri="{D42A27DB-BD31-4B8C-83A1-F6EECF244321}">
                <p14:modId xmlns:p14="http://schemas.microsoft.com/office/powerpoint/2010/main" val="4158225514"/>
              </p:ext>
            </p:extLst>
          </p:nvPr>
        </p:nvGraphicFramePr>
        <p:xfrm>
          <a:off x="401781" y="2592765"/>
          <a:ext cx="10515600" cy="1761490"/>
        </p:xfrm>
        <a:graphic>
          <a:graphicData uri="http://schemas.openxmlformats.org/drawingml/2006/table">
            <a:tbl>
              <a:tblPr firstRow="1" firstCol="1" bandRow="1"/>
              <a:tblGrid>
                <a:gridCol w="2667231">
                  <a:extLst>
                    <a:ext uri="{9D8B030D-6E8A-4147-A177-3AD203B41FA5}">
                      <a16:colId xmlns:a16="http://schemas.microsoft.com/office/drawing/2014/main" val="1666455828"/>
                    </a:ext>
                  </a:extLst>
                </a:gridCol>
                <a:gridCol w="2654455">
                  <a:extLst>
                    <a:ext uri="{9D8B030D-6E8A-4147-A177-3AD203B41FA5}">
                      <a16:colId xmlns:a16="http://schemas.microsoft.com/office/drawing/2014/main" val="4024254451"/>
                    </a:ext>
                  </a:extLst>
                </a:gridCol>
                <a:gridCol w="2536265">
                  <a:extLst>
                    <a:ext uri="{9D8B030D-6E8A-4147-A177-3AD203B41FA5}">
                      <a16:colId xmlns:a16="http://schemas.microsoft.com/office/drawing/2014/main" val="1475550422"/>
                    </a:ext>
                  </a:extLst>
                </a:gridCol>
                <a:gridCol w="2657649">
                  <a:extLst>
                    <a:ext uri="{9D8B030D-6E8A-4147-A177-3AD203B41FA5}">
                      <a16:colId xmlns:a16="http://schemas.microsoft.com/office/drawing/2014/main" val="918896136"/>
                    </a:ext>
                  </a:extLst>
                </a:gridCol>
              </a:tblGrid>
              <a:tr h="0">
                <a:tc>
                  <a:txBody>
                    <a:bodyPr/>
                    <a:lstStyle/>
                    <a:p>
                      <a:pPr marL="0" marR="0">
                        <a:lnSpc>
                          <a:spcPct val="115000"/>
                        </a:lnSpc>
                        <a:buNone/>
                      </a:pPr>
                      <a:r>
                        <a:rPr lang="en-US" sz="1400" kern="100">
                          <a:solidFill>
                            <a:srgbClr val="000000"/>
                          </a:solidFill>
                          <a:effectLst/>
                          <a:latin typeface="Aptos"/>
                          <a:ea typeface="Aptos" panose="020B0004020202020204" pitchFamily="34" charset="0"/>
                          <a:cs typeface="Aptos" panose="020B0004020202020204" pitchFamily="34" charset="0"/>
                        </a:rPr>
                        <a:t>Student Name (first last)</a:t>
                      </a:r>
                      <a:endParaRPr lang="en-US" sz="14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8E8"/>
                    </a:solidFill>
                  </a:tcPr>
                </a:tc>
                <a:tc>
                  <a:txBody>
                    <a:bodyPr/>
                    <a:lstStyle/>
                    <a:p>
                      <a:pPr marL="0" marR="0">
                        <a:lnSpc>
                          <a:spcPct val="115000"/>
                        </a:lnSpc>
                        <a:buNone/>
                      </a:pPr>
                      <a:r>
                        <a:rPr lang="en-US" sz="1400" kern="100">
                          <a:solidFill>
                            <a:srgbClr val="000000"/>
                          </a:solidFill>
                          <a:effectLst/>
                          <a:latin typeface="Aptos" panose="020B0004020202020204" pitchFamily="34" charset="0"/>
                          <a:ea typeface="Aptos" panose="020B0004020202020204" pitchFamily="34" charset="0"/>
                          <a:cs typeface="Aptos" panose="020B0004020202020204" pitchFamily="34" charset="0"/>
                        </a:rPr>
                        <a:t>Major</a:t>
                      </a:r>
                      <a:endParaRPr lang="en-US" sz="1400" kern="100">
                        <a:effectLst/>
                        <a:latin typeface="Aptos" panose="020B0004020202020204" pitchFamily="34" charset="0"/>
                        <a:ea typeface="Aptos" panose="020B0004020202020204" pitchFamily="34" charset="0"/>
                        <a:cs typeface="Aptos" panose="020B00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8E8"/>
                    </a:solidFill>
                  </a:tcPr>
                </a:tc>
                <a:tc>
                  <a:txBody>
                    <a:bodyPr/>
                    <a:lstStyle/>
                    <a:p>
                      <a:pPr marL="0" marR="0">
                        <a:lnSpc>
                          <a:spcPct val="115000"/>
                        </a:lnSpc>
                        <a:buNone/>
                      </a:pPr>
                      <a:r>
                        <a:rPr lang="en-US" sz="1400" kern="100">
                          <a:solidFill>
                            <a:srgbClr val="000000"/>
                          </a:solidFill>
                          <a:effectLst/>
                          <a:latin typeface="Aptos" panose="020B0004020202020204" pitchFamily="34" charset="0"/>
                          <a:ea typeface="Aptos" panose="020B0004020202020204" pitchFamily="34" charset="0"/>
                          <a:cs typeface="Aptos" panose="020B0004020202020204" pitchFamily="34" charset="0"/>
                        </a:rPr>
                        <a:t>Affiliation (School, University, etc.)</a:t>
                      </a:r>
                      <a:endParaRPr lang="en-US" sz="14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8E8"/>
                    </a:solidFill>
                  </a:tcPr>
                </a:tc>
                <a:tc>
                  <a:txBody>
                    <a:bodyPr/>
                    <a:lstStyle/>
                    <a:p>
                      <a:pPr marL="0" marR="0">
                        <a:lnSpc>
                          <a:spcPct val="115000"/>
                        </a:lnSpc>
                        <a:buNone/>
                      </a:pPr>
                      <a:r>
                        <a:rPr lang="en-US" sz="1400" kern="100">
                          <a:solidFill>
                            <a:srgbClr val="000000"/>
                          </a:solidFill>
                          <a:effectLst/>
                          <a:latin typeface="Aptos" panose="020B0004020202020204" pitchFamily="34" charset="0"/>
                          <a:ea typeface="Aptos" panose="020B0004020202020204" pitchFamily="34" charset="0"/>
                          <a:cs typeface="Aptos" panose="020B0004020202020204" pitchFamily="34" charset="0"/>
                        </a:rPr>
                        <a:t>Level (High School, Undergrad, Grad, PhD)</a:t>
                      </a:r>
                      <a:endParaRPr lang="en-US" sz="14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8E8"/>
                    </a:solidFill>
                  </a:tcPr>
                </a:tc>
                <a:extLst>
                  <a:ext uri="{0D108BD9-81ED-4DB2-BD59-A6C34878D82A}">
                    <a16:rowId xmlns:a16="http://schemas.microsoft.com/office/drawing/2014/main" val="2818315040"/>
                  </a:ext>
                </a:extLst>
              </a:tr>
              <a:tr h="0">
                <a:tc>
                  <a:txBody>
                    <a:bodyPr/>
                    <a:lstStyle/>
                    <a:p>
                      <a:pPr marL="0" marR="0">
                        <a:lnSpc>
                          <a:spcPct val="115000"/>
                        </a:lnSpc>
                        <a:buNone/>
                      </a:pPr>
                      <a:r>
                        <a:rPr lang="en-US" sz="1100" kern="100" dirty="0">
                          <a:effectLst/>
                          <a:latin typeface="Aptos" panose="020B0004020202020204" pitchFamily="34" charset="0"/>
                          <a:ea typeface="Aptos" panose="020B0004020202020204" pitchFamily="34" charset="0"/>
                          <a:cs typeface="Aptos" panose="020B0004020202020204" pitchFamily="34" charset="0"/>
                        </a:rPr>
                        <a:t>John Doe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100" kern="100" dirty="0">
                          <a:effectLst/>
                          <a:latin typeface="Aptos" panose="020B0004020202020204" pitchFamily="34" charset="0"/>
                          <a:ea typeface="Aptos" panose="020B0004020202020204" pitchFamily="34" charset="0"/>
                          <a:cs typeface="Aptos" panose="020B0004020202020204" pitchFamily="34" charset="0"/>
                        </a:rPr>
                        <a:t>Physics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100" kern="100" dirty="0">
                          <a:effectLst/>
                          <a:latin typeface="Aptos" panose="020B0004020202020204" pitchFamily="34" charset="0"/>
                          <a:ea typeface="Aptos" panose="020B0004020202020204" pitchFamily="34" charset="0"/>
                          <a:cs typeface="Aptos" panose="020B0004020202020204" pitchFamily="34" charset="0"/>
                        </a:rPr>
                        <a:t>University of Alabama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100" kern="100" dirty="0">
                          <a:effectLst/>
                          <a:latin typeface="Aptos" panose="020B0004020202020204" pitchFamily="34" charset="0"/>
                          <a:ea typeface="Aptos" panose="020B0004020202020204" pitchFamily="34" charset="0"/>
                          <a:cs typeface="Aptos" panose="020B0004020202020204" pitchFamily="34" charset="0"/>
                        </a:rPr>
                        <a:t>Undergrad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3294115"/>
                  </a:ext>
                </a:extLst>
              </a:tr>
              <a:tr h="0">
                <a:tc>
                  <a:txBody>
                    <a:bodyPr/>
                    <a:lstStyle/>
                    <a:p>
                      <a:pPr marL="0" marR="0">
                        <a:lnSpc>
                          <a:spcPct val="115000"/>
                        </a:lnSpc>
                        <a:buNone/>
                      </a:pPr>
                      <a:endParaRPr lang="en-US" sz="1100" kern="1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5515884"/>
                  </a:ext>
                </a:extLst>
              </a:tr>
              <a:tr h="0">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2293557"/>
                  </a:ext>
                </a:extLst>
              </a:tr>
              <a:tr h="0">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5855345"/>
                  </a:ext>
                </a:extLst>
              </a:tr>
              <a:tr h="0">
                <a:tc>
                  <a:txBody>
                    <a:bodyPr/>
                    <a:lstStyle/>
                    <a:p>
                      <a:pPr marL="0" marR="0">
                        <a:lnSpc>
                          <a:spcPct val="115000"/>
                        </a:lnSpc>
                        <a:buNone/>
                      </a:pPr>
                      <a:r>
                        <a:rPr lang="en-US" sz="1100" kern="100">
                          <a:effectLst/>
                          <a:latin typeface="Aptos" panose="020B0004020202020204" pitchFamily="34" charset="0"/>
                          <a:ea typeface="Aptos" panose="020B0004020202020204" pitchFamily="34" charset="0"/>
                          <a:cs typeface="Aptos" panose="020B000402020202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100" kern="100">
                          <a:effectLst/>
                          <a:latin typeface="Aptos" panose="020B0004020202020204" pitchFamily="34" charset="0"/>
                          <a:ea typeface="Aptos" panose="020B0004020202020204" pitchFamily="34" charset="0"/>
                          <a:cs typeface="Aptos" panose="020B0004020202020204" pitchFamily="34" charset="0"/>
                        </a:rPr>
                        <a:t> </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100" kern="100">
                          <a:effectLst/>
                          <a:latin typeface="Aptos" panose="020B0004020202020204" pitchFamily="34" charset="0"/>
                          <a:ea typeface="Aptos" panose="020B0004020202020204" pitchFamily="34" charset="0"/>
                          <a:cs typeface="Aptos" panose="020B000402020202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100" kern="100">
                          <a:effectLst/>
                          <a:latin typeface="Aptos" panose="020B0004020202020204" pitchFamily="34" charset="0"/>
                          <a:ea typeface="Aptos" panose="020B0004020202020204" pitchFamily="34" charset="0"/>
                          <a:cs typeface="Aptos" panose="020B000402020202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420337"/>
                  </a:ext>
                </a:extLst>
              </a:tr>
              <a:tr h="0">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8920805"/>
                  </a:ext>
                </a:extLst>
              </a:tr>
              <a:tr h="0">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endParaRPr lang="en-US" sz="1100" kern="1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466315"/>
                  </a:ext>
                </a:extLst>
              </a:tr>
            </a:tbl>
          </a:graphicData>
        </a:graphic>
      </p:graphicFrame>
      <p:sp>
        <p:nvSpPr>
          <p:cNvPr id="7" name="TextBox 6">
            <a:extLst>
              <a:ext uri="{FF2B5EF4-FFF2-40B4-BE49-F238E27FC236}">
                <a16:creationId xmlns:a16="http://schemas.microsoft.com/office/drawing/2014/main" id="{A0F2237D-0F23-4645-786B-3DA114E5B169}"/>
              </a:ext>
            </a:extLst>
          </p:cNvPr>
          <p:cNvSpPr txBox="1"/>
          <p:nvPr/>
        </p:nvSpPr>
        <p:spPr>
          <a:xfrm>
            <a:off x="9459532" y="1287887"/>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2390166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C0C91-BC37-37EF-59A7-75B2B56A8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1AA94-AB99-BB22-3E3F-7E8FC7F5F6D3}"/>
              </a:ext>
            </a:extLst>
          </p:cNvPr>
          <p:cNvSpPr>
            <a:spLocks noGrp="1"/>
          </p:cNvSpPr>
          <p:nvPr>
            <p:ph type="title"/>
          </p:nvPr>
        </p:nvSpPr>
        <p:spPr>
          <a:xfrm>
            <a:off x="2784764" y="0"/>
            <a:ext cx="7225145" cy="670096"/>
          </a:xfrm>
        </p:spPr>
        <p:txBody>
          <a:bodyPr>
            <a:noAutofit/>
          </a:bodyPr>
          <a:lstStyle/>
          <a:p>
            <a:r>
              <a:rPr lang="en-US" sz="3600" dirty="0"/>
              <a:t>HESTO Support</a:t>
            </a:r>
            <a:endParaRPr lang="en-US" sz="2400" dirty="0"/>
          </a:p>
        </p:txBody>
      </p:sp>
      <p:sp>
        <p:nvSpPr>
          <p:cNvPr id="5" name="Text Placeholder 4">
            <a:extLst>
              <a:ext uri="{FF2B5EF4-FFF2-40B4-BE49-F238E27FC236}">
                <a16:creationId xmlns:a16="http://schemas.microsoft.com/office/drawing/2014/main" id="{4B187307-2922-F404-48DA-61ADD64FEFF8}"/>
              </a:ext>
            </a:extLst>
          </p:cNvPr>
          <p:cNvSpPr txBox="1">
            <a:spLocks/>
          </p:cNvSpPr>
          <p:nvPr/>
        </p:nvSpPr>
        <p:spPr>
          <a:xfrm>
            <a:off x="414250" y="1214582"/>
            <a:ext cx="11115618" cy="1976293"/>
          </a:xfrm>
          <a:prstGeom prst="rect">
            <a:avLst/>
          </a:prstGeom>
          <a:ln>
            <a:solidFill>
              <a:schemeClr val="tx1"/>
            </a:solidFill>
          </a:ln>
        </p:spPr>
        <p:txBody>
          <a:bodyPr vert="horz" lIns="91440" tIns="45720" rIns="91440" bIns="45720" numCol="1" spcCol="18288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b="1" dirty="0">
                <a:solidFill>
                  <a:schemeClr val="tx1"/>
                </a:solidFill>
                <a:latin typeface="+mn-lt"/>
              </a:rPr>
              <a:t>Requested HESTO Support</a:t>
            </a:r>
            <a:endParaRPr lang="en-US" sz="1800" dirty="0">
              <a:solidFill>
                <a:schemeClr val="tx1"/>
              </a:solidFill>
              <a:latin typeface="+mn-lt"/>
            </a:endParaRPr>
          </a:p>
          <a:p>
            <a:r>
              <a:rPr lang="en-US" sz="1800" dirty="0">
                <a:solidFill>
                  <a:schemeClr val="tx1"/>
                </a:solidFill>
                <a:latin typeface="+mn-lt"/>
              </a:rPr>
              <a:t>XXX</a:t>
            </a:r>
          </a:p>
          <a:p>
            <a:pPr lvl="1">
              <a:buClr>
                <a:schemeClr val="accent2"/>
              </a:buClr>
              <a:buFont typeface="Wingdings" pitchFamily="2" charset="2"/>
              <a:buChar char="§"/>
            </a:pPr>
            <a:r>
              <a:rPr lang="en-US" sz="1800" dirty="0" err="1">
                <a:solidFill>
                  <a:schemeClr val="tx1"/>
                </a:solidFill>
                <a:latin typeface="+mn-lt"/>
              </a:rPr>
              <a:t>Xxx</a:t>
            </a:r>
            <a:endParaRPr lang="en-US" sz="1600" dirty="0">
              <a:solidFill>
                <a:schemeClr val="tx1"/>
              </a:solidFill>
              <a:latin typeface="+mn-lt"/>
            </a:endParaRPr>
          </a:p>
        </p:txBody>
      </p:sp>
      <p:sp>
        <p:nvSpPr>
          <p:cNvPr id="6" name="Slide Number Placeholder 5">
            <a:extLst>
              <a:ext uri="{FF2B5EF4-FFF2-40B4-BE49-F238E27FC236}">
                <a16:creationId xmlns:a16="http://schemas.microsoft.com/office/drawing/2014/main" id="{144F6520-8C86-7FE5-88D4-CD9D5710C3FE}"/>
              </a:ext>
            </a:extLst>
          </p:cNvPr>
          <p:cNvSpPr>
            <a:spLocks noGrp="1"/>
          </p:cNvSpPr>
          <p:nvPr>
            <p:ph type="sldNum" sz="quarter" idx="12"/>
          </p:nvPr>
        </p:nvSpPr>
        <p:spPr/>
        <p:txBody>
          <a:bodyPr/>
          <a:lstStyle/>
          <a:p>
            <a:fld id="{88E0E29E-E225-F048-A964-380D52CA58AC}" type="slidenum">
              <a:rPr lang="en-US" smtClean="0"/>
              <a:t>14</a:t>
            </a:fld>
            <a:endParaRPr lang="en-US"/>
          </a:p>
        </p:txBody>
      </p:sp>
      <p:sp>
        <p:nvSpPr>
          <p:cNvPr id="7" name="TextBox 6">
            <a:extLst>
              <a:ext uri="{FF2B5EF4-FFF2-40B4-BE49-F238E27FC236}">
                <a16:creationId xmlns:a16="http://schemas.microsoft.com/office/drawing/2014/main" id="{BE62D75C-5871-DBF0-B36D-B1D9792D2152}"/>
              </a:ext>
            </a:extLst>
          </p:cNvPr>
          <p:cNvSpPr txBox="1"/>
          <p:nvPr/>
        </p:nvSpPr>
        <p:spPr>
          <a:xfrm>
            <a:off x="9459532" y="1287887"/>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2260075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66F5A-BA6D-964C-82FB-19480FBD4200}"/>
              </a:ext>
            </a:extLst>
          </p:cNvPr>
          <p:cNvSpPr>
            <a:spLocks noGrp="1"/>
          </p:cNvSpPr>
          <p:nvPr>
            <p:ph type="title"/>
          </p:nvPr>
        </p:nvSpPr>
        <p:spPr/>
        <p:txBody>
          <a:bodyPr>
            <a:normAutofit/>
          </a:bodyPr>
          <a:lstStyle/>
          <a:p>
            <a:r>
              <a:rPr lang="en-US" sz="3000"/>
              <a:t>      </a:t>
            </a:r>
            <a:r>
              <a:rPr lang="en-US" sz="2800"/>
              <a:t>Anticipated Payload Accommodation Need</a:t>
            </a:r>
            <a:r>
              <a:rPr lang="en-US" sz="1400"/>
              <a:t> </a:t>
            </a:r>
            <a:endParaRPr lang="en-US" sz="1600"/>
          </a:p>
        </p:txBody>
      </p:sp>
      <p:graphicFrame>
        <p:nvGraphicFramePr>
          <p:cNvPr id="4" name="Table 3">
            <a:extLst>
              <a:ext uri="{FF2B5EF4-FFF2-40B4-BE49-F238E27FC236}">
                <a16:creationId xmlns:a16="http://schemas.microsoft.com/office/drawing/2014/main" id="{7B514589-9F3B-996F-0893-9C3257756E4A}"/>
              </a:ext>
            </a:extLst>
          </p:cNvPr>
          <p:cNvGraphicFramePr>
            <a:graphicFrameLocks noGrp="1"/>
          </p:cNvGraphicFramePr>
          <p:nvPr>
            <p:extLst>
              <p:ext uri="{D42A27DB-BD31-4B8C-83A1-F6EECF244321}">
                <p14:modId xmlns:p14="http://schemas.microsoft.com/office/powerpoint/2010/main" val="1961523318"/>
              </p:ext>
            </p:extLst>
          </p:nvPr>
        </p:nvGraphicFramePr>
        <p:xfrm>
          <a:off x="483809" y="800704"/>
          <a:ext cx="11023593" cy="5583483"/>
        </p:xfrm>
        <a:graphic>
          <a:graphicData uri="http://schemas.openxmlformats.org/drawingml/2006/table">
            <a:tbl>
              <a:tblPr firstRow="1" firstCol="1" bandRow="1">
                <a:tableStyleId>{E8034E78-7F5D-4C2E-B375-FC64B27BC917}</a:tableStyleId>
              </a:tblPr>
              <a:tblGrid>
                <a:gridCol w="2204152">
                  <a:extLst>
                    <a:ext uri="{9D8B030D-6E8A-4147-A177-3AD203B41FA5}">
                      <a16:colId xmlns:a16="http://schemas.microsoft.com/office/drawing/2014/main" val="950884452"/>
                    </a:ext>
                  </a:extLst>
                </a:gridCol>
                <a:gridCol w="2204861">
                  <a:extLst>
                    <a:ext uri="{9D8B030D-6E8A-4147-A177-3AD203B41FA5}">
                      <a16:colId xmlns:a16="http://schemas.microsoft.com/office/drawing/2014/main" val="3493361405"/>
                    </a:ext>
                  </a:extLst>
                </a:gridCol>
                <a:gridCol w="2204861">
                  <a:extLst>
                    <a:ext uri="{9D8B030D-6E8A-4147-A177-3AD203B41FA5}">
                      <a16:colId xmlns:a16="http://schemas.microsoft.com/office/drawing/2014/main" val="3462445866"/>
                    </a:ext>
                  </a:extLst>
                </a:gridCol>
                <a:gridCol w="1611085">
                  <a:extLst>
                    <a:ext uri="{9D8B030D-6E8A-4147-A177-3AD203B41FA5}">
                      <a16:colId xmlns:a16="http://schemas.microsoft.com/office/drawing/2014/main" val="3764569509"/>
                    </a:ext>
                  </a:extLst>
                </a:gridCol>
                <a:gridCol w="2798634">
                  <a:extLst>
                    <a:ext uri="{9D8B030D-6E8A-4147-A177-3AD203B41FA5}">
                      <a16:colId xmlns:a16="http://schemas.microsoft.com/office/drawing/2014/main" val="3905257766"/>
                    </a:ext>
                  </a:extLst>
                </a:gridCol>
              </a:tblGrid>
              <a:tr h="433410">
                <a:tc>
                  <a:txBody>
                    <a:bodyPr/>
                    <a:lstStyle/>
                    <a:p>
                      <a:pPr marL="0" marR="0" algn="ctr">
                        <a:spcBef>
                          <a:spcPts val="0"/>
                        </a:spcBef>
                        <a:spcAft>
                          <a:spcPts val="0"/>
                        </a:spcAft>
                      </a:pPr>
                      <a:r>
                        <a:rPr lang="en-US" sz="1400" b="1">
                          <a:solidFill>
                            <a:schemeClr val="bg1"/>
                          </a:solidFill>
                          <a:effectLst/>
                        </a:rPr>
                        <a:t>Requirement Category </a:t>
                      </a:r>
                      <a:endParaRPr lang="en-US" sz="160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ctr">
                        <a:spcBef>
                          <a:spcPts val="0"/>
                        </a:spcBef>
                        <a:spcAft>
                          <a:spcPts val="0"/>
                        </a:spcAft>
                      </a:pPr>
                      <a:r>
                        <a:rPr lang="en-US" sz="1400" b="1">
                          <a:solidFill>
                            <a:schemeClr val="bg1"/>
                          </a:solidFill>
                          <a:effectLst/>
                        </a:rPr>
                        <a:t>Specification Details</a:t>
                      </a:r>
                      <a:endParaRPr lang="en-US" sz="160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ctr">
                        <a:spcBef>
                          <a:spcPts val="0"/>
                        </a:spcBef>
                        <a:spcAft>
                          <a:spcPts val="0"/>
                        </a:spcAft>
                      </a:pPr>
                      <a:r>
                        <a:rPr lang="en-US" sz="1400" b="1">
                          <a:solidFill>
                            <a:schemeClr val="bg1"/>
                          </a:solidFill>
                          <a:effectLst/>
                        </a:rPr>
                        <a:t>Units</a:t>
                      </a:r>
                      <a:endParaRPr lang="en-US" sz="160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ctr" rtl="0" eaLnBrk="1" latinLnBrk="0" hangingPunct="1">
                        <a:spcBef>
                          <a:spcPts val="0"/>
                        </a:spcBef>
                        <a:spcAft>
                          <a:spcPts val="0"/>
                        </a:spcAft>
                      </a:pPr>
                      <a:r>
                        <a:rPr lang="en-US" sz="1400" b="1" kern="1200">
                          <a:solidFill>
                            <a:schemeClr val="bg1"/>
                          </a:solidFill>
                          <a:effectLst/>
                        </a:rPr>
                        <a:t>Values (if known, if not known use TBD)</a:t>
                      </a:r>
                      <a:endParaRPr lang="en-US" sz="1400" b="1" kern="120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ctr">
                        <a:spcBef>
                          <a:spcPts val="0"/>
                        </a:spcBef>
                        <a:spcAft>
                          <a:spcPts val="0"/>
                        </a:spcAft>
                        <a:buNone/>
                      </a:pPr>
                      <a:r>
                        <a:rPr lang="en-US" sz="1400" b="1" kern="1200">
                          <a:solidFill>
                            <a:schemeClr val="bg1"/>
                          </a:solidFill>
                          <a:effectLst/>
                        </a:rPr>
                        <a:t>Notes</a:t>
                      </a: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97076844"/>
                  </a:ext>
                </a:extLst>
              </a:tr>
              <a:tr h="409447">
                <a:tc>
                  <a:txBody>
                    <a:bodyPr/>
                    <a:lstStyle/>
                    <a:p>
                      <a:pPr marL="0" lvl="0" algn="l">
                        <a:spcBef>
                          <a:spcPts val="0"/>
                        </a:spcBef>
                        <a:spcAft>
                          <a:spcPts val="0"/>
                        </a:spcAft>
                        <a:buNone/>
                      </a:pPr>
                      <a:r>
                        <a:rPr lang="en-US" sz="1400" b="1">
                          <a:solidFill>
                            <a:schemeClr val="tx1"/>
                          </a:solidFill>
                          <a:effectLst/>
                        </a:rPr>
                        <a:t>Payload size</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r>
                        <a:rPr lang="en-US" sz="1400">
                          <a:solidFill>
                            <a:schemeClr val="tx1"/>
                          </a:solidFill>
                          <a:effectLst/>
                        </a:rPr>
                        <a:t>Length,width,height </a:t>
                      </a: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r>
                        <a:rPr lang="en-US" sz="1400" kern="1200">
                          <a:solidFill>
                            <a:schemeClr val="tx1"/>
                          </a:solidFill>
                          <a:effectLst/>
                        </a:rPr>
                        <a:t>cm</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r>
                        <a:rPr lang="en-US" sz="1400">
                          <a:solidFill>
                            <a:srgbClr val="0B769F"/>
                          </a:solidFill>
                          <a:effectLst/>
                        </a:rPr>
                        <a:t>10,10,10</a:t>
                      </a: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37548643"/>
                  </a:ext>
                </a:extLst>
              </a:tr>
              <a:tr h="409447">
                <a:tc>
                  <a:txBody>
                    <a:bodyPr/>
                    <a:lstStyle/>
                    <a:p>
                      <a:pPr marL="0" marR="0" algn="l">
                        <a:spcBef>
                          <a:spcPts val="0"/>
                        </a:spcBef>
                        <a:spcAft>
                          <a:spcPts val="0"/>
                        </a:spcAft>
                      </a:pPr>
                      <a:r>
                        <a:rPr lang="en-US" sz="1400" b="1">
                          <a:solidFill>
                            <a:schemeClr val="tx1"/>
                          </a:solidFill>
                          <a:effectLst/>
                        </a:rPr>
                        <a:t>Payload Volume</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Total Volume</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kern="1200">
                          <a:solidFill>
                            <a:schemeClr val="tx1"/>
                          </a:solidFill>
                          <a:effectLst/>
                        </a:rPr>
                        <a:t>U</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1</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33927661"/>
                  </a:ext>
                </a:extLst>
              </a:tr>
              <a:tr h="337143">
                <a:tc>
                  <a:txBody>
                    <a:bodyPr/>
                    <a:lstStyle/>
                    <a:p>
                      <a:pPr marL="0" marR="0" algn="l">
                        <a:spcBef>
                          <a:spcPts val="0"/>
                        </a:spcBef>
                        <a:spcAft>
                          <a:spcPts val="0"/>
                        </a:spcAft>
                      </a:pPr>
                      <a:r>
                        <a:rPr lang="en-US" sz="1400" b="1">
                          <a:solidFill>
                            <a:schemeClr val="tx1"/>
                          </a:solidFill>
                          <a:effectLst/>
                        </a:rPr>
                        <a:t>Power Requirements</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Average, peak power consumption</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Watts</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5,10</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02685843"/>
                  </a:ext>
                </a:extLst>
              </a:tr>
              <a:tr h="315008">
                <a:tc>
                  <a:txBody>
                    <a:bodyPr/>
                    <a:lstStyle/>
                    <a:p>
                      <a:pPr marL="0" marR="0" algn="l">
                        <a:spcBef>
                          <a:spcPts val="0"/>
                        </a:spcBef>
                        <a:spcAft>
                          <a:spcPts val="0"/>
                        </a:spcAft>
                      </a:pPr>
                      <a:r>
                        <a:rPr lang="en-US" sz="1400" b="1">
                          <a:solidFill>
                            <a:schemeClr val="tx1"/>
                          </a:solidFill>
                          <a:effectLst/>
                        </a:rPr>
                        <a:t>Mass</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Total payload mass</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kg</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5.4</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97810156"/>
                  </a:ext>
                </a:extLst>
              </a:tr>
              <a:tr h="520059">
                <a:tc>
                  <a:txBody>
                    <a:bodyPr/>
                    <a:lstStyle/>
                    <a:p>
                      <a:pPr marL="0" marR="0" algn="l">
                        <a:spcBef>
                          <a:spcPts val="0"/>
                        </a:spcBef>
                        <a:spcAft>
                          <a:spcPts val="0"/>
                        </a:spcAft>
                      </a:pPr>
                      <a:r>
                        <a:rPr lang="en-US" sz="1400" b="1">
                          <a:solidFill>
                            <a:schemeClr val="tx1"/>
                          </a:solidFill>
                          <a:effectLst/>
                        </a:rPr>
                        <a:t>Pointing Requirements</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Attitude determination and control accuracy</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arcsecs,arcminutes</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60,1</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82683391"/>
                  </a:ext>
                </a:extLst>
              </a:tr>
              <a:tr h="485282">
                <a:tc>
                  <a:txBody>
                    <a:bodyPr/>
                    <a:lstStyle/>
                    <a:p>
                      <a:pPr marL="0" marR="0" algn="l">
                        <a:spcBef>
                          <a:spcPts val="0"/>
                        </a:spcBef>
                        <a:spcAft>
                          <a:spcPts val="0"/>
                        </a:spcAft>
                      </a:pPr>
                      <a:r>
                        <a:rPr lang="en-US" sz="1400" b="1">
                          <a:solidFill>
                            <a:schemeClr val="tx1"/>
                          </a:solidFill>
                          <a:effectLst/>
                        </a:rPr>
                        <a:t>Data Rate</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Average, peak data rate</a:t>
                      </a: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kern="1200">
                          <a:solidFill>
                            <a:schemeClr val="tx1"/>
                          </a:solidFill>
                          <a:effectLst/>
                        </a:rPr>
                        <a:t>Kilobits per </a:t>
                      </a:r>
                      <a:r>
                        <a:rPr lang="en-US" sz="1400">
                          <a:solidFill>
                            <a:schemeClr val="tx1"/>
                          </a:solidFill>
                          <a:effectLst/>
                        </a:rPr>
                        <a:t>second</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15,100</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87269693"/>
                  </a:ext>
                </a:extLst>
              </a:tr>
              <a:tr h="398948">
                <a:tc>
                  <a:txBody>
                    <a:bodyPr/>
                    <a:lstStyle/>
                    <a:p>
                      <a:pPr marL="0" marR="0" algn="l" defTabSz="914400" rtl="0" eaLnBrk="1" latinLnBrk="0" hangingPunct="1">
                        <a:spcBef>
                          <a:spcPts val="0"/>
                        </a:spcBef>
                        <a:spcAft>
                          <a:spcPts val="0"/>
                        </a:spcAft>
                      </a:pPr>
                      <a:r>
                        <a:rPr lang="en-US" sz="1400" b="1" kern="1200">
                          <a:solidFill>
                            <a:schemeClr val="tx1"/>
                          </a:solidFill>
                          <a:effectLst/>
                        </a:rPr>
                        <a:t>Power Interface Port</a:t>
                      </a:r>
                      <a:endParaRPr lang="en-US" sz="1400" b="1" kern="1200">
                        <a:solidFill>
                          <a:schemeClr val="tx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Connector type, voltage, and current (</a:t>
                      </a:r>
                      <a:r>
                        <a:rPr lang="en-US" sz="1200" b="0" i="0" u="none" strike="noStrike" noProof="0">
                          <a:solidFill>
                            <a:schemeClr val="tx1"/>
                          </a:solidFill>
                          <a:effectLst/>
                          <a:latin typeface="Aptos"/>
                        </a:rPr>
                        <a:t>D-sub connector DB-9, 28 V DC, 1A)</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kern="1200">
                          <a:solidFill>
                            <a:schemeClr val="tx1"/>
                          </a:solidFill>
                          <a:effectLst/>
                        </a:rPr>
                        <a:t>NA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DB-9, 28 V, 1A</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16810476"/>
                  </a:ext>
                </a:extLst>
              </a:tr>
              <a:tr h="330200">
                <a:tc>
                  <a:txBody>
                    <a:bodyPr/>
                    <a:lstStyle/>
                    <a:p>
                      <a:pPr marL="0" marR="0" algn="l">
                        <a:spcBef>
                          <a:spcPts val="0"/>
                        </a:spcBef>
                        <a:spcAft>
                          <a:spcPts val="0"/>
                        </a:spcAft>
                      </a:pPr>
                      <a:r>
                        <a:rPr lang="en-US" sz="1400" b="1">
                          <a:solidFill>
                            <a:schemeClr val="tx1"/>
                          </a:solidFill>
                          <a:effectLst/>
                        </a:rPr>
                        <a:t>Communication Interface Protocol</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algn="l">
                        <a:spcBef>
                          <a:spcPts val="0"/>
                        </a:spcBef>
                        <a:spcAft>
                          <a:spcPts val="0"/>
                        </a:spcAft>
                        <a:buNone/>
                      </a:pPr>
                      <a:r>
                        <a:rPr lang="en-US" sz="1600" b="0" i="0" u="none" strike="noStrike" noProof="0">
                          <a:solidFill>
                            <a:schemeClr val="tx1"/>
                          </a:solidFill>
                          <a:effectLst/>
                        </a:rPr>
                        <a:t>UART, SPI, I2C, Ethernet, CAN, etc</a:t>
                      </a:r>
                      <a:endParaRPr lang="en-US"/>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defTabSz="914400" rtl="0" eaLnBrk="1" latinLnBrk="0" hangingPunct="1">
                        <a:spcBef>
                          <a:spcPts val="0"/>
                        </a:spcBef>
                        <a:spcAft>
                          <a:spcPts val="0"/>
                        </a:spcAft>
                      </a:pPr>
                      <a:r>
                        <a:rPr lang="en-US" sz="1400" kern="1200">
                          <a:solidFill>
                            <a:schemeClr val="tx1"/>
                          </a:solidFill>
                          <a:effectLst/>
                        </a:rPr>
                        <a:t>NA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UART</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83826365"/>
                  </a:ext>
                </a:extLst>
              </a:tr>
              <a:tr h="414866">
                <a:tc>
                  <a:txBody>
                    <a:bodyPr/>
                    <a:lstStyle/>
                    <a:p>
                      <a:pPr marL="0" marR="0" algn="l">
                        <a:spcBef>
                          <a:spcPts val="0"/>
                        </a:spcBef>
                        <a:spcAft>
                          <a:spcPts val="0"/>
                        </a:spcAft>
                      </a:pPr>
                      <a:r>
                        <a:rPr lang="en-US" sz="1400" b="1">
                          <a:solidFill>
                            <a:schemeClr val="tx1"/>
                          </a:solidFill>
                          <a:effectLst/>
                        </a:rPr>
                        <a:t>Data Communication Port</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Connector type (</a:t>
                      </a:r>
                      <a:r>
                        <a:rPr lang="en-US" sz="1200" b="0" i="0" u="none" strike="noStrike" noProof="0">
                          <a:solidFill>
                            <a:schemeClr val="tx1"/>
                          </a:solidFill>
                          <a:effectLst/>
                          <a:latin typeface="Aptos"/>
                        </a:rPr>
                        <a:t>D-sub connector DB-9)</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kern="1200">
                          <a:solidFill>
                            <a:schemeClr val="tx1"/>
                          </a:solidFill>
                          <a:effectLst/>
                        </a:rPr>
                        <a:t>NA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DB-9</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21381975"/>
                  </a:ext>
                </a:extLst>
              </a:tr>
              <a:tr h="414867">
                <a:tc>
                  <a:txBody>
                    <a:bodyPr/>
                    <a:lstStyle/>
                    <a:p>
                      <a:pPr marL="0" marR="0" algn="l">
                        <a:spcBef>
                          <a:spcPts val="0"/>
                        </a:spcBef>
                        <a:spcAft>
                          <a:spcPts val="0"/>
                        </a:spcAft>
                      </a:pPr>
                      <a:r>
                        <a:rPr lang="en-US" sz="1400" b="1">
                          <a:solidFill>
                            <a:schemeClr val="tx1"/>
                          </a:solidFill>
                          <a:effectLst/>
                        </a:rPr>
                        <a:t>Requires Thermal Isolation</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chemeClr val="tx1"/>
                          </a:solidFill>
                          <a:effectLst/>
                        </a:rPr>
                        <a:t> </a:t>
                      </a:r>
                      <a:endParaRPr lang="en-US" sz="1600">
                        <a:solidFill>
                          <a:schemeClr val="tx1"/>
                        </a:solidFill>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kern="1200">
                          <a:solidFill>
                            <a:schemeClr val="tx1"/>
                          </a:solidFill>
                          <a:effectLst/>
                        </a:rPr>
                        <a:t>Bool (True, False)</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algn="l">
                        <a:spcBef>
                          <a:spcPts val="0"/>
                        </a:spcBef>
                        <a:spcAft>
                          <a:spcPts val="0"/>
                        </a:spcAft>
                      </a:pPr>
                      <a:r>
                        <a:rPr lang="en-US" sz="1400">
                          <a:solidFill>
                            <a:srgbClr val="0B769F"/>
                          </a:solidFill>
                          <a:effectLst/>
                        </a:rPr>
                        <a:t> False</a:t>
                      </a:r>
                      <a:endParaRPr lang="en-US" sz="16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19333268"/>
                  </a:ext>
                </a:extLst>
              </a:tr>
              <a:tr h="414867">
                <a:tc>
                  <a:txBody>
                    <a:bodyPr/>
                    <a:lstStyle/>
                    <a:p>
                      <a:pPr marL="0" marR="0" lvl="0" algn="l">
                        <a:spcBef>
                          <a:spcPts val="0"/>
                        </a:spcBef>
                        <a:spcAft>
                          <a:spcPts val="0"/>
                        </a:spcAft>
                        <a:buNone/>
                      </a:pPr>
                      <a:r>
                        <a:rPr lang="en-US" sz="1400" b="1">
                          <a:solidFill>
                            <a:schemeClr val="tx1"/>
                          </a:solidFill>
                          <a:effectLst/>
                        </a:rPr>
                        <a:t>Special Power Considerations </a:t>
                      </a:r>
                      <a:endParaRPr lang="en-US" sz="1600">
                        <a:solidFill>
                          <a:schemeClr val="tx1"/>
                        </a:solidFill>
                        <a:effectLst/>
                        <a:latin typeface="Aptos"/>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algn="l">
                        <a:spcBef>
                          <a:spcPts val="0"/>
                        </a:spcBef>
                        <a:spcAft>
                          <a:spcPts val="0"/>
                        </a:spcAft>
                        <a:buNone/>
                      </a:pPr>
                      <a:r>
                        <a:rPr lang="en-US" sz="1400">
                          <a:solidFill>
                            <a:schemeClr val="tx1"/>
                          </a:solidFill>
                          <a:effectLst/>
                        </a:rPr>
                        <a:t>Circuit protection requirements</a:t>
                      </a:r>
                      <a:endParaRPr lang="en-US" sz="1600">
                        <a:solidFill>
                          <a:schemeClr val="tx1"/>
                        </a:solidFill>
                        <a:effectLst/>
                        <a:latin typeface="Aptos"/>
                      </a:endParaRPr>
                    </a:p>
                  </a:txBody>
                  <a:tcPr marL="68580" marR="6858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algn="l">
                        <a:spcBef>
                          <a:spcPts val="0"/>
                        </a:spcBef>
                        <a:spcAft>
                          <a:spcPts val="0"/>
                        </a:spcAft>
                        <a:buNone/>
                      </a:pPr>
                      <a:r>
                        <a:rPr lang="en-US" sz="1400" kern="1200">
                          <a:solidFill>
                            <a:schemeClr val="tx1"/>
                          </a:solidFill>
                          <a:effectLst/>
                        </a:rPr>
                        <a:t>NA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algn="l" defTabSz="914400" rtl="0" eaLnBrk="1" latinLnBrk="0" hangingPunct="1">
                        <a:spcBef>
                          <a:spcPts val="0"/>
                        </a:spcBef>
                        <a:spcAft>
                          <a:spcPts val="0"/>
                        </a:spcAft>
                        <a:buNone/>
                      </a:pPr>
                      <a:r>
                        <a:rPr lang="en-US" sz="1400" kern="1200">
                          <a:solidFill>
                            <a:srgbClr val="0B769F"/>
                          </a:solidFill>
                          <a:effectLst/>
                          <a:latin typeface="+mn-lt"/>
                          <a:ea typeface="+mn-ea"/>
                          <a:cs typeface="+mn-cs"/>
                        </a:rPr>
                        <a:t>None</a:t>
                      </a: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algn="l">
                        <a:spcBef>
                          <a:spcPts val="0"/>
                        </a:spcBef>
                        <a:spcAft>
                          <a:spcPts val="0"/>
                        </a:spcAft>
                        <a:buNone/>
                      </a:pPr>
                      <a:endParaRPr lang="en-US" sz="1400">
                        <a:solidFill>
                          <a:srgbClr val="0B769F"/>
                        </a:solidFill>
                        <a:effectLst/>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80011041"/>
                  </a:ext>
                </a:extLst>
              </a:tr>
            </a:tbl>
          </a:graphicData>
        </a:graphic>
      </p:graphicFrame>
      <p:sp>
        <p:nvSpPr>
          <p:cNvPr id="6" name="Slide Number Placeholder 5">
            <a:extLst>
              <a:ext uri="{FF2B5EF4-FFF2-40B4-BE49-F238E27FC236}">
                <a16:creationId xmlns:a16="http://schemas.microsoft.com/office/drawing/2014/main" id="{AF51E16E-8956-EFB5-2C1C-826951B59435}"/>
              </a:ext>
            </a:extLst>
          </p:cNvPr>
          <p:cNvSpPr>
            <a:spLocks noGrp="1"/>
          </p:cNvSpPr>
          <p:nvPr>
            <p:ph type="sldNum" sz="quarter" idx="12"/>
          </p:nvPr>
        </p:nvSpPr>
        <p:spPr/>
        <p:txBody>
          <a:bodyPr/>
          <a:lstStyle/>
          <a:p>
            <a:fld id="{88E0E29E-E225-F048-A964-380D52CA58AC}" type="slidenum">
              <a:rPr lang="en-US" smtClean="0"/>
              <a:t>15</a:t>
            </a:fld>
            <a:endParaRPr lang="en-US"/>
          </a:p>
        </p:txBody>
      </p:sp>
      <p:sp>
        <p:nvSpPr>
          <p:cNvPr id="3" name="TextBox 2">
            <a:extLst>
              <a:ext uri="{FF2B5EF4-FFF2-40B4-BE49-F238E27FC236}">
                <a16:creationId xmlns:a16="http://schemas.microsoft.com/office/drawing/2014/main" id="{3EDB435C-A73E-8603-628E-23192A0C9204}"/>
              </a:ext>
            </a:extLst>
          </p:cNvPr>
          <p:cNvSpPr txBox="1"/>
          <p:nvPr/>
        </p:nvSpPr>
        <p:spPr>
          <a:xfrm>
            <a:off x="950686" y="6437086"/>
            <a:ext cx="970642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In values provide totals, use notes to break up by subsystem if needed, to be published on TechPort</a:t>
            </a:r>
          </a:p>
        </p:txBody>
      </p:sp>
      <p:sp>
        <p:nvSpPr>
          <p:cNvPr id="5" name="TextBox 4">
            <a:extLst>
              <a:ext uri="{FF2B5EF4-FFF2-40B4-BE49-F238E27FC236}">
                <a16:creationId xmlns:a16="http://schemas.microsoft.com/office/drawing/2014/main" id="{A5542CD3-6715-25CA-B07B-07BF443E6799}"/>
              </a:ext>
            </a:extLst>
          </p:cNvPr>
          <p:cNvSpPr txBox="1"/>
          <p:nvPr/>
        </p:nvSpPr>
        <p:spPr>
          <a:xfrm>
            <a:off x="10069442" y="6393715"/>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1205437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765D-560F-9E03-C563-92093DCF53D7}"/>
              </a:ext>
            </a:extLst>
          </p:cNvPr>
          <p:cNvSpPr>
            <a:spLocks noGrp="1"/>
          </p:cNvSpPr>
          <p:nvPr>
            <p:ph type="title"/>
          </p:nvPr>
        </p:nvSpPr>
        <p:spPr>
          <a:xfrm>
            <a:off x="2837329" y="0"/>
            <a:ext cx="7200900" cy="670096"/>
          </a:xfrm>
        </p:spPr>
        <p:txBody>
          <a:bodyPr>
            <a:normAutofit/>
          </a:bodyPr>
          <a:lstStyle/>
          <a:p>
            <a:r>
              <a:rPr lang="en-US" sz="2800"/>
              <a:t>      </a:t>
            </a:r>
            <a:r>
              <a:rPr lang="en-US"/>
              <a:t>Presentations</a:t>
            </a:r>
            <a:endParaRPr lang="en-US" sz="2800"/>
          </a:p>
        </p:txBody>
      </p:sp>
      <p:graphicFrame>
        <p:nvGraphicFramePr>
          <p:cNvPr id="4" name="Table 3">
            <a:extLst>
              <a:ext uri="{FF2B5EF4-FFF2-40B4-BE49-F238E27FC236}">
                <a16:creationId xmlns:a16="http://schemas.microsoft.com/office/drawing/2014/main" id="{A7BC5CB0-3D6B-E053-D792-B6F98868276E}"/>
              </a:ext>
            </a:extLst>
          </p:cNvPr>
          <p:cNvGraphicFramePr>
            <a:graphicFrameLocks noGrp="1"/>
          </p:cNvGraphicFramePr>
          <p:nvPr>
            <p:extLst>
              <p:ext uri="{D42A27DB-BD31-4B8C-83A1-F6EECF244321}">
                <p14:modId xmlns:p14="http://schemas.microsoft.com/office/powerpoint/2010/main" val="1959639101"/>
              </p:ext>
            </p:extLst>
          </p:nvPr>
        </p:nvGraphicFramePr>
        <p:xfrm>
          <a:off x="321176" y="1196529"/>
          <a:ext cx="11491436" cy="4845595"/>
        </p:xfrm>
        <a:graphic>
          <a:graphicData uri="http://schemas.openxmlformats.org/drawingml/2006/table">
            <a:tbl>
              <a:tblPr firstRow="1" bandRow="1">
                <a:tableStyleId>{073A0DAA-6AF3-43AB-8588-CEC1D06C72B9}</a:tableStyleId>
              </a:tblPr>
              <a:tblGrid>
                <a:gridCol w="1774989">
                  <a:extLst>
                    <a:ext uri="{9D8B030D-6E8A-4147-A177-3AD203B41FA5}">
                      <a16:colId xmlns:a16="http://schemas.microsoft.com/office/drawing/2014/main" val="20000"/>
                    </a:ext>
                  </a:extLst>
                </a:gridCol>
                <a:gridCol w="3452700">
                  <a:extLst>
                    <a:ext uri="{9D8B030D-6E8A-4147-A177-3AD203B41FA5}">
                      <a16:colId xmlns:a16="http://schemas.microsoft.com/office/drawing/2014/main" val="3442683594"/>
                    </a:ext>
                  </a:extLst>
                </a:gridCol>
                <a:gridCol w="2482583">
                  <a:extLst>
                    <a:ext uri="{9D8B030D-6E8A-4147-A177-3AD203B41FA5}">
                      <a16:colId xmlns:a16="http://schemas.microsoft.com/office/drawing/2014/main" val="56280237"/>
                    </a:ext>
                  </a:extLst>
                </a:gridCol>
                <a:gridCol w="2497861">
                  <a:extLst>
                    <a:ext uri="{9D8B030D-6E8A-4147-A177-3AD203B41FA5}">
                      <a16:colId xmlns:a16="http://schemas.microsoft.com/office/drawing/2014/main" val="20001"/>
                    </a:ext>
                  </a:extLst>
                </a:gridCol>
                <a:gridCol w="1283303">
                  <a:extLst>
                    <a:ext uri="{9D8B030D-6E8A-4147-A177-3AD203B41FA5}">
                      <a16:colId xmlns:a16="http://schemas.microsoft.com/office/drawing/2014/main" val="20002"/>
                    </a:ext>
                  </a:extLst>
                </a:gridCol>
              </a:tblGrid>
              <a:tr h="359263">
                <a:tc>
                  <a:txBody>
                    <a:bodyPr/>
                    <a:lstStyle/>
                    <a:p>
                      <a:pPr algn="ctr"/>
                      <a:r>
                        <a:rPr lang="en-US" sz="1200">
                          <a:latin typeface="+mn-lt"/>
                        </a:rPr>
                        <a:t>Type choose one of below</a:t>
                      </a:r>
                    </a:p>
                  </a:txBody>
                  <a:tcPr anchor="ctr"/>
                </a:tc>
                <a:tc>
                  <a:txBody>
                    <a:bodyPr/>
                    <a:lstStyle/>
                    <a:p>
                      <a:pPr algn="ctr"/>
                      <a:r>
                        <a:rPr lang="en-US" sz="1200">
                          <a:latin typeface="+mn-lt"/>
                        </a:rPr>
                        <a:t>Title</a:t>
                      </a:r>
                    </a:p>
                  </a:txBody>
                  <a:tcPr anchor="ctr"/>
                </a:tc>
                <a:tc>
                  <a:txBody>
                    <a:bodyPr/>
                    <a:lstStyle/>
                    <a:p>
                      <a:pPr lvl="0" algn="ctr">
                        <a:buNone/>
                      </a:pPr>
                      <a:r>
                        <a:rPr lang="en-US" sz="1200">
                          <a:latin typeface="+mn-lt"/>
                        </a:rPr>
                        <a:t>Publication/Presentation Date</a:t>
                      </a:r>
                    </a:p>
                  </a:txBody>
                  <a:tcPr anchor="ctr"/>
                </a:tc>
                <a:tc>
                  <a:txBody>
                    <a:bodyPr/>
                    <a:lstStyle/>
                    <a:p>
                      <a:pPr lvl="0" algn="ctr">
                        <a:buNone/>
                      </a:pPr>
                      <a:r>
                        <a:rPr lang="en-US" sz="1200">
                          <a:latin typeface="+mn-lt"/>
                        </a:rPr>
                        <a:t>Publisher/Conference Name</a:t>
                      </a:r>
                      <a:endParaRPr lang="en-US"/>
                    </a:p>
                  </a:txBody>
                  <a:tcPr anchor="ctr"/>
                </a:tc>
                <a:tc>
                  <a:txBody>
                    <a:bodyPr/>
                    <a:lstStyle/>
                    <a:p>
                      <a:pPr algn="ctr"/>
                      <a:r>
                        <a:rPr lang="en-US" sz="1200">
                          <a:latin typeface="+mn-lt"/>
                        </a:rPr>
                        <a:t>URL</a:t>
                      </a:r>
                    </a:p>
                  </a:txBody>
                  <a:tcPr anchor="ctr"/>
                </a:tc>
                <a:extLst>
                  <a:ext uri="{0D108BD9-81ED-4DB2-BD59-A6C34878D82A}">
                    <a16:rowId xmlns:a16="http://schemas.microsoft.com/office/drawing/2014/main" val="10000"/>
                  </a:ext>
                </a:extLst>
              </a:tr>
              <a:tr h="335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mn-lt"/>
                        </a:rPr>
                        <a:t>Conference presentation (oral)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aseline="0" dirty="0">
                          <a:latin typeface="+mn-lt"/>
                        </a:rPr>
                        <a:t>Development of the Next-Generation Solar X-ray detector</a:t>
                      </a:r>
                    </a:p>
                  </a:txBody>
                  <a:tcPr anchor="ctr"/>
                </a:tc>
                <a:tc>
                  <a:txBody>
                    <a:bodyPr/>
                    <a:lstStyle/>
                    <a:p>
                      <a:pPr algn="ctr"/>
                      <a:r>
                        <a:rPr lang="en-US" sz="1100" baseline="0">
                          <a:latin typeface="+mn-lt"/>
                        </a:rPr>
                        <a:t>23-Jan-2026</a:t>
                      </a:r>
                    </a:p>
                  </a:txBody>
                  <a:tcPr anchor="ctr"/>
                </a:tc>
                <a:tc>
                  <a:txBody>
                    <a:bodyPr/>
                    <a:lstStyle/>
                    <a:p>
                      <a:pPr algn="ctr"/>
                      <a:r>
                        <a:rPr lang="en-US" sz="1100" baseline="0" dirty="0">
                          <a:latin typeface="+mn-lt"/>
                        </a:rPr>
                        <a:t>IEEE NSS/MIC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aseline="0" dirty="0">
                          <a:latin typeface="+mn-lt"/>
                        </a:rPr>
                        <a:t>https://ieeexplore.ieee.org/document/10657175</a:t>
                      </a:r>
                    </a:p>
                  </a:txBody>
                  <a:tcPr anchor="ctr"/>
                </a:tc>
                <a:extLst>
                  <a:ext uri="{0D108BD9-81ED-4DB2-BD59-A6C34878D82A}">
                    <a16:rowId xmlns:a16="http://schemas.microsoft.com/office/drawing/2014/main" val="10001"/>
                  </a:ext>
                </a:extLst>
              </a:tr>
              <a:tr h="369481">
                <a:tc>
                  <a:txBody>
                    <a:bodyPr/>
                    <a:lstStyle/>
                    <a:p>
                      <a:pPr marL="0" marR="0" lvl="0" indent="0" algn="ctr" rtl="0" eaLnBrk="1" fontAlgn="auto" latinLnBrk="0" hangingPunct="1">
                        <a:lnSpc>
                          <a:spcPct val="100000"/>
                        </a:lnSpc>
                        <a:spcBef>
                          <a:spcPts val="0"/>
                        </a:spcBef>
                        <a:spcAft>
                          <a:spcPts val="0"/>
                        </a:spcAft>
                        <a:buClrTx/>
                        <a:buSzTx/>
                        <a:buFontTx/>
                        <a:buNone/>
                      </a:pPr>
                      <a:endParaRPr lang="en-US" sz="1100" b="1" dirty="0">
                        <a:latin typeface="+mn-lt"/>
                      </a:endParaRPr>
                    </a:p>
                  </a:txBody>
                  <a:tcPr anchor="ctr"/>
                </a:tc>
                <a:tc>
                  <a:txBody>
                    <a:bodyPr/>
                    <a:lstStyle/>
                    <a:p>
                      <a:pPr algn="l"/>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extLst>
                  <a:ext uri="{0D108BD9-81ED-4DB2-BD59-A6C34878D82A}">
                    <a16:rowId xmlns:a16="http://schemas.microsoft.com/office/drawing/2014/main" val="3482531676"/>
                  </a:ext>
                </a:extLst>
              </a:tr>
              <a:tr h="369481">
                <a:tc>
                  <a:txBody>
                    <a:bodyPr/>
                    <a:lstStyle/>
                    <a:p>
                      <a:pPr marL="0" marR="0" lvl="0" indent="0" algn="ctr" rtl="0" eaLnBrk="1" fontAlgn="auto" latinLnBrk="0" hangingPunct="1">
                        <a:lnSpc>
                          <a:spcPct val="100000"/>
                        </a:lnSpc>
                        <a:spcBef>
                          <a:spcPts val="0"/>
                        </a:spcBef>
                        <a:spcAft>
                          <a:spcPts val="0"/>
                        </a:spcAft>
                        <a:buClrTx/>
                        <a:buSzTx/>
                        <a:buFontTx/>
                        <a:buNone/>
                      </a:pPr>
                      <a:endParaRPr lang="en-US" sz="1100" b="1" dirty="0">
                        <a:latin typeface="+mn-lt"/>
                      </a:endParaRPr>
                    </a:p>
                  </a:txBody>
                  <a:tcPr anchor="ctr"/>
                </a:tc>
                <a:tc>
                  <a:txBody>
                    <a:bodyPr/>
                    <a:lstStyle/>
                    <a:p>
                      <a:pPr algn="l"/>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extLst>
                  <a:ext uri="{0D108BD9-81ED-4DB2-BD59-A6C34878D82A}">
                    <a16:rowId xmlns:a16="http://schemas.microsoft.com/office/drawing/2014/main" val="10002"/>
                  </a:ext>
                </a:extLst>
              </a:tr>
              <a:tr h="335313">
                <a:tc>
                  <a:txBody>
                    <a:bodyPr/>
                    <a:lstStyle/>
                    <a:p>
                      <a:pPr algn="ctr"/>
                      <a:endParaRPr lang="en-US" sz="1100" b="1"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073810387"/>
                  </a:ext>
                </a:extLst>
              </a:tr>
              <a:tr h="335313">
                <a:tc>
                  <a:txBody>
                    <a:bodyPr/>
                    <a:lstStyle/>
                    <a:p>
                      <a:pPr algn="ctr"/>
                      <a:endParaRPr lang="en-US" sz="1100" b="1"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343913331"/>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05"/>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06"/>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456550332"/>
                  </a:ext>
                </a:extLst>
              </a:tr>
              <a:tr h="372569">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extLst>
                  <a:ext uri="{0D108BD9-81ED-4DB2-BD59-A6C34878D82A}">
                    <a16:rowId xmlns:a16="http://schemas.microsoft.com/office/drawing/2014/main" val="10008"/>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10"/>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26570338"/>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txBody>
                  <a:tcPr anchor="ctr"/>
                </a:tc>
                <a:extLst>
                  <a:ext uri="{0D108BD9-81ED-4DB2-BD59-A6C34878D82A}">
                    <a16:rowId xmlns:a16="http://schemas.microsoft.com/office/drawing/2014/main" val="737292207"/>
                  </a:ext>
                </a:extLst>
              </a:tr>
            </a:tbl>
          </a:graphicData>
        </a:graphic>
      </p:graphicFrame>
      <p:sp>
        <p:nvSpPr>
          <p:cNvPr id="6" name="TextBox 5">
            <a:extLst>
              <a:ext uri="{FF2B5EF4-FFF2-40B4-BE49-F238E27FC236}">
                <a16:creationId xmlns:a16="http://schemas.microsoft.com/office/drawing/2014/main" id="{D3968AD0-FE1C-DE8F-7EA5-4FEC03C74683}"/>
              </a:ext>
            </a:extLst>
          </p:cNvPr>
          <p:cNvSpPr txBox="1"/>
          <p:nvPr/>
        </p:nvSpPr>
        <p:spPr>
          <a:xfrm>
            <a:off x="8723574" y="866365"/>
            <a:ext cx="3227230" cy="276999"/>
          </a:xfrm>
          <a:prstGeom prst="rect">
            <a:avLst/>
          </a:prstGeom>
          <a:noFill/>
        </p:spPr>
        <p:txBody>
          <a:bodyPr wrap="none" rtlCol="0">
            <a:spAutoFit/>
          </a:bodyPr>
          <a:lstStyle/>
          <a:p>
            <a:r>
              <a:rPr lang="en-US" sz="1200" b="1"/>
              <a:t>Rolling list, add additional tables as needed</a:t>
            </a:r>
          </a:p>
        </p:txBody>
      </p:sp>
      <p:sp>
        <p:nvSpPr>
          <p:cNvPr id="7" name="Slide Number Placeholder 6">
            <a:extLst>
              <a:ext uri="{FF2B5EF4-FFF2-40B4-BE49-F238E27FC236}">
                <a16:creationId xmlns:a16="http://schemas.microsoft.com/office/drawing/2014/main" id="{C096DB20-CF1C-ED85-40DE-C873A72DEE94}"/>
              </a:ext>
            </a:extLst>
          </p:cNvPr>
          <p:cNvSpPr>
            <a:spLocks noGrp="1"/>
          </p:cNvSpPr>
          <p:nvPr>
            <p:ph type="sldNum" sz="quarter" idx="12"/>
          </p:nvPr>
        </p:nvSpPr>
        <p:spPr/>
        <p:txBody>
          <a:bodyPr/>
          <a:lstStyle/>
          <a:p>
            <a:fld id="{88E0E29E-E225-F048-A964-380D52CA58AC}" type="slidenum">
              <a:rPr lang="en-US" smtClean="0"/>
              <a:t>16</a:t>
            </a:fld>
            <a:endParaRPr lang="en-US"/>
          </a:p>
        </p:txBody>
      </p:sp>
      <p:sp>
        <p:nvSpPr>
          <p:cNvPr id="3" name="TextBox 2">
            <a:extLst>
              <a:ext uri="{FF2B5EF4-FFF2-40B4-BE49-F238E27FC236}">
                <a16:creationId xmlns:a16="http://schemas.microsoft.com/office/drawing/2014/main" id="{251AC19F-6C82-0CBE-A30A-B2BD3B2F8D73}"/>
              </a:ext>
            </a:extLst>
          </p:cNvPr>
          <p:cNvSpPr txBox="1"/>
          <p:nvPr/>
        </p:nvSpPr>
        <p:spPr>
          <a:xfrm>
            <a:off x="321177" y="6422942"/>
            <a:ext cx="11549646" cy="369332"/>
          </a:xfrm>
          <a:prstGeom prst="rect">
            <a:avLst/>
          </a:prstGeom>
          <a:solidFill>
            <a:schemeClr val="tx1"/>
          </a:solidFill>
        </p:spPr>
        <p:txBody>
          <a:bodyPr wrap="square" rtlCol="0">
            <a:spAutoFit/>
          </a:bodyPr>
          <a:lstStyle/>
          <a:p>
            <a:r>
              <a:rPr lang="en-US">
                <a:solidFill>
                  <a:schemeClr val="bg1"/>
                </a:solidFill>
              </a:rPr>
              <a:t>Please upload publications to pubspace with this link </a:t>
            </a:r>
            <a:r>
              <a:rPr lang="en-US" u="sng">
                <a:solidFill>
                  <a:schemeClr val="bg1"/>
                </a:solidFill>
                <a:hlinkClick r:id="rId2" tooltip="https://sti.nasa.gov/submit-to-pubspace/">
                  <a:extLst>
                    <a:ext uri="{A12FA001-AC4F-418D-AE19-62706E023703}">
                      <ahyp:hlinkClr xmlns:ahyp="http://schemas.microsoft.com/office/drawing/2018/hyperlinkcolor" val="tx"/>
                    </a:ext>
                  </a:extLst>
                </a:hlinkClick>
              </a:rPr>
              <a:t>https://sti.nasa.gov/submit-to-pubspace/</a:t>
            </a:r>
            <a:r>
              <a:rPr lang="en-US">
                <a:solidFill>
                  <a:schemeClr val="bg1"/>
                </a:solidFill>
              </a:rPr>
              <a:t> </a:t>
            </a:r>
          </a:p>
        </p:txBody>
      </p:sp>
      <p:sp>
        <p:nvSpPr>
          <p:cNvPr id="5" name="TextBox 4">
            <a:extLst>
              <a:ext uri="{FF2B5EF4-FFF2-40B4-BE49-F238E27FC236}">
                <a16:creationId xmlns:a16="http://schemas.microsoft.com/office/drawing/2014/main" id="{70DA1AE1-30D1-216B-CA63-7DDD09E27E3B}"/>
              </a:ext>
            </a:extLst>
          </p:cNvPr>
          <p:cNvSpPr txBox="1"/>
          <p:nvPr/>
        </p:nvSpPr>
        <p:spPr>
          <a:xfrm>
            <a:off x="6357345" y="793901"/>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3932624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A9D3-C138-EB92-B80E-0675573DF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6059B-2C65-BA7F-BA91-DD2BC7F8147D}"/>
              </a:ext>
            </a:extLst>
          </p:cNvPr>
          <p:cNvSpPr>
            <a:spLocks noGrp="1"/>
          </p:cNvSpPr>
          <p:nvPr>
            <p:ph type="title"/>
          </p:nvPr>
        </p:nvSpPr>
        <p:spPr>
          <a:xfrm>
            <a:off x="2837329" y="0"/>
            <a:ext cx="7200900" cy="670096"/>
          </a:xfrm>
        </p:spPr>
        <p:txBody>
          <a:bodyPr>
            <a:normAutofit/>
          </a:bodyPr>
          <a:lstStyle/>
          <a:p>
            <a:r>
              <a:rPr lang="en-US"/>
              <a:t>Patents, Licenses</a:t>
            </a:r>
            <a:endParaRPr lang="en-US" sz="3000"/>
          </a:p>
        </p:txBody>
      </p:sp>
      <p:graphicFrame>
        <p:nvGraphicFramePr>
          <p:cNvPr id="4" name="Table 3">
            <a:extLst>
              <a:ext uri="{FF2B5EF4-FFF2-40B4-BE49-F238E27FC236}">
                <a16:creationId xmlns:a16="http://schemas.microsoft.com/office/drawing/2014/main" id="{3FBCFAB0-7B34-4862-765D-9C1B9096C6FB}"/>
              </a:ext>
            </a:extLst>
          </p:cNvPr>
          <p:cNvGraphicFramePr>
            <a:graphicFrameLocks noGrp="1"/>
          </p:cNvGraphicFramePr>
          <p:nvPr>
            <p:extLst>
              <p:ext uri="{D42A27DB-BD31-4B8C-83A1-F6EECF244321}">
                <p14:modId xmlns:p14="http://schemas.microsoft.com/office/powerpoint/2010/main" val="2394210636"/>
              </p:ext>
            </p:extLst>
          </p:nvPr>
        </p:nvGraphicFramePr>
        <p:xfrm>
          <a:off x="321176" y="1196529"/>
          <a:ext cx="11510862" cy="5165635"/>
        </p:xfrm>
        <a:graphic>
          <a:graphicData uri="http://schemas.openxmlformats.org/drawingml/2006/table">
            <a:tbl>
              <a:tblPr firstRow="1" bandRow="1">
                <a:tableStyleId>{073A0DAA-6AF3-43AB-8588-CEC1D06C72B9}</a:tableStyleId>
              </a:tblPr>
              <a:tblGrid>
                <a:gridCol w="1836127">
                  <a:extLst>
                    <a:ext uri="{9D8B030D-6E8A-4147-A177-3AD203B41FA5}">
                      <a16:colId xmlns:a16="http://schemas.microsoft.com/office/drawing/2014/main" val="20000"/>
                    </a:ext>
                  </a:extLst>
                </a:gridCol>
                <a:gridCol w="3571625">
                  <a:extLst>
                    <a:ext uri="{9D8B030D-6E8A-4147-A177-3AD203B41FA5}">
                      <a16:colId xmlns:a16="http://schemas.microsoft.com/office/drawing/2014/main" val="3442683594"/>
                    </a:ext>
                  </a:extLst>
                </a:gridCol>
                <a:gridCol w="1991260">
                  <a:extLst>
                    <a:ext uri="{9D8B030D-6E8A-4147-A177-3AD203B41FA5}">
                      <a16:colId xmlns:a16="http://schemas.microsoft.com/office/drawing/2014/main" val="56280237"/>
                    </a:ext>
                  </a:extLst>
                </a:gridCol>
                <a:gridCol w="1327504">
                  <a:extLst>
                    <a:ext uri="{9D8B030D-6E8A-4147-A177-3AD203B41FA5}">
                      <a16:colId xmlns:a16="http://schemas.microsoft.com/office/drawing/2014/main" val="20002"/>
                    </a:ext>
                  </a:extLst>
                </a:gridCol>
                <a:gridCol w="2784346">
                  <a:extLst>
                    <a:ext uri="{9D8B030D-6E8A-4147-A177-3AD203B41FA5}">
                      <a16:colId xmlns:a16="http://schemas.microsoft.com/office/drawing/2014/main" val="3664254247"/>
                    </a:ext>
                  </a:extLst>
                </a:gridCol>
              </a:tblGrid>
              <a:tr h="359263">
                <a:tc>
                  <a:txBody>
                    <a:bodyPr/>
                    <a:lstStyle/>
                    <a:p>
                      <a:pPr algn="ctr"/>
                      <a:r>
                        <a:rPr lang="en-US" sz="1200">
                          <a:latin typeface="+mn-lt"/>
                        </a:rPr>
                        <a:t>Type (Issued, Filing)</a:t>
                      </a:r>
                    </a:p>
                  </a:txBody>
                  <a:tcPr anchor="ctr"/>
                </a:tc>
                <a:tc>
                  <a:txBody>
                    <a:bodyPr/>
                    <a:lstStyle/>
                    <a:p>
                      <a:pPr algn="ctr"/>
                      <a:r>
                        <a:rPr lang="en-US" sz="1200">
                          <a:latin typeface="+mn-lt"/>
                        </a:rPr>
                        <a:t>Name</a:t>
                      </a:r>
                    </a:p>
                  </a:txBody>
                  <a:tcPr anchor="ctr"/>
                </a:tc>
                <a:tc>
                  <a:txBody>
                    <a:bodyPr/>
                    <a:lstStyle/>
                    <a:p>
                      <a:pPr lvl="0" algn="ctr">
                        <a:buNone/>
                      </a:pPr>
                      <a:r>
                        <a:rPr lang="en-US" sz="1200">
                          <a:latin typeface="+mn-lt"/>
                        </a:rPr>
                        <a:t>Patent or License Number</a:t>
                      </a:r>
                    </a:p>
                  </a:txBody>
                  <a:tcPr anchor="ctr"/>
                </a:tc>
                <a:tc>
                  <a:txBody>
                    <a:bodyPr/>
                    <a:lstStyle/>
                    <a:p>
                      <a:pPr algn="ctr"/>
                      <a:r>
                        <a:rPr lang="en-US" sz="1200">
                          <a:latin typeface="+mn-lt"/>
                        </a:rPr>
                        <a:t>Date</a:t>
                      </a:r>
                    </a:p>
                  </a:txBody>
                  <a:tcPr anchor="ctr"/>
                </a:tc>
                <a:tc>
                  <a:txBody>
                    <a:bodyPr/>
                    <a:lstStyle/>
                    <a:p>
                      <a:pPr algn="ctr"/>
                      <a:r>
                        <a:rPr lang="en-US" sz="1200">
                          <a:latin typeface="+mn-lt"/>
                        </a:rPr>
                        <a:t>Resource Link (e.g., Google Patents Link)</a:t>
                      </a:r>
                    </a:p>
                  </a:txBody>
                  <a:tcPr anchor="ctr"/>
                </a:tc>
                <a:extLst>
                  <a:ext uri="{0D108BD9-81ED-4DB2-BD59-A6C34878D82A}">
                    <a16:rowId xmlns:a16="http://schemas.microsoft.com/office/drawing/2014/main" val="10000"/>
                  </a:ext>
                </a:extLst>
              </a:tr>
              <a:tr h="335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mn-lt"/>
                        </a:rPr>
                        <a:t>Issued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Art of transmitting electrical energy through the natural mediums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US787412A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1900-05-16</a:t>
                      </a:r>
                      <a:endParaRPr lang="en-US" sz="1100" baseline="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aseline="0">
                          <a:latin typeface="+mn-lt"/>
                        </a:rPr>
                        <a:t>https://patents.google.com/patent/US787412A/</a:t>
                      </a:r>
                    </a:p>
                  </a:txBody>
                  <a:tcPr anchor="ctr"/>
                </a:tc>
                <a:extLst>
                  <a:ext uri="{0D108BD9-81ED-4DB2-BD59-A6C34878D82A}">
                    <a16:rowId xmlns:a16="http://schemas.microsoft.com/office/drawing/2014/main" val="10001"/>
                  </a:ext>
                </a:extLst>
              </a:tr>
              <a:tr h="3694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1">
                        <a:latin typeface="+mn-lt"/>
                      </a:endParaRPr>
                    </a:p>
                  </a:txBody>
                  <a:tcPr anchor="ctr"/>
                </a:tc>
                <a:tc>
                  <a:txBody>
                    <a:bodyPr/>
                    <a:lstStyle/>
                    <a:p>
                      <a:pPr algn="l"/>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extLst>
                  <a:ext uri="{0D108BD9-81ED-4DB2-BD59-A6C34878D82A}">
                    <a16:rowId xmlns:a16="http://schemas.microsoft.com/office/drawing/2014/main" val="3482531676"/>
                  </a:ext>
                </a:extLst>
              </a:tr>
              <a:tr h="3694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1">
                        <a:latin typeface="+mn-lt"/>
                      </a:endParaRPr>
                    </a:p>
                  </a:txBody>
                  <a:tcPr anchor="ctr"/>
                </a:tc>
                <a:tc>
                  <a:txBody>
                    <a:bodyPr/>
                    <a:lstStyle/>
                    <a:p>
                      <a:pPr algn="l"/>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tc>
                  <a:txBody>
                    <a:bodyPr/>
                    <a:lstStyle/>
                    <a:p>
                      <a:pPr algn="ctr"/>
                      <a:endParaRPr lang="en-US" sz="1100" baseline="0">
                        <a:latin typeface="+mn-lt"/>
                      </a:endParaRPr>
                    </a:p>
                  </a:txBody>
                  <a:tcPr anchor="ctr"/>
                </a:tc>
                <a:extLst>
                  <a:ext uri="{0D108BD9-81ED-4DB2-BD59-A6C34878D82A}">
                    <a16:rowId xmlns:a16="http://schemas.microsoft.com/office/drawing/2014/main" val="10002"/>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073810387"/>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343913331"/>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05"/>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06"/>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456550332"/>
                  </a:ext>
                </a:extLst>
              </a:tr>
              <a:tr h="372569">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latin typeface="+mn-lt"/>
                      </a:endParaRPr>
                    </a:p>
                  </a:txBody>
                  <a:tcPr anchor="ctr"/>
                </a:tc>
                <a:extLst>
                  <a:ext uri="{0D108BD9-81ED-4DB2-BD59-A6C34878D82A}">
                    <a16:rowId xmlns:a16="http://schemas.microsoft.com/office/drawing/2014/main" val="10008"/>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10"/>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26570338"/>
                  </a:ext>
                </a:extLst>
              </a:tr>
              <a:tr h="335313">
                <a:tc>
                  <a:txBody>
                    <a:bodyPr/>
                    <a:lstStyle/>
                    <a:p>
                      <a:pPr algn="ctr"/>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txBody>
                  <a:tcPr anchor="ctr"/>
                </a:tc>
                <a:extLst>
                  <a:ext uri="{0D108BD9-81ED-4DB2-BD59-A6C34878D82A}">
                    <a16:rowId xmlns:a16="http://schemas.microsoft.com/office/drawing/2014/main" val="737292207"/>
                  </a:ext>
                </a:extLst>
              </a:tr>
            </a:tbl>
          </a:graphicData>
        </a:graphic>
      </p:graphicFrame>
      <p:sp>
        <p:nvSpPr>
          <p:cNvPr id="6" name="TextBox 5">
            <a:extLst>
              <a:ext uri="{FF2B5EF4-FFF2-40B4-BE49-F238E27FC236}">
                <a16:creationId xmlns:a16="http://schemas.microsoft.com/office/drawing/2014/main" id="{B9FF0142-D839-2438-F7DE-53036743B3EA}"/>
              </a:ext>
            </a:extLst>
          </p:cNvPr>
          <p:cNvSpPr txBox="1"/>
          <p:nvPr/>
        </p:nvSpPr>
        <p:spPr>
          <a:xfrm>
            <a:off x="8723574" y="866365"/>
            <a:ext cx="3227230" cy="276999"/>
          </a:xfrm>
          <a:prstGeom prst="rect">
            <a:avLst/>
          </a:prstGeom>
          <a:noFill/>
        </p:spPr>
        <p:txBody>
          <a:bodyPr wrap="none" rtlCol="0">
            <a:spAutoFit/>
          </a:bodyPr>
          <a:lstStyle/>
          <a:p>
            <a:r>
              <a:rPr lang="en-US" sz="1200" b="1"/>
              <a:t>Rolling list, add additional tables as needed</a:t>
            </a:r>
          </a:p>
        </p:txBody>
      </p:sp>
      <p:sp>
        <p:nvSpPr>
          <p:cNvPr id="7" name="Slide Number Placeholder 6">
            <a:extLst>
              <a:ext uri="{FF2B5EF4-FFF2-40B4-BE49-F238E27FC236}">
                <a16:creationId xmlns:a16="http://schemas.microsoft.com/office/drawing/2014/main" id="{625548DF-FF4D-1774-A75C-76974442BFD8}"/>
              </a:ext>
            </a:extLst>
          </p:cNvPr>
          <p:cNvSpPr>
            <a:spLocks noGrp="1"/>
          </p:cNvSpPr>
          <p:nvPr>
            <p:ph type="sldNum" sz="quarter" idx="12"/>
          </p:nvPr>
        </p:nvSpPr>
        <p:spPr/>
        <p:txBody>
          <a:bodyPr/>
          <a:lstStyle/>
          <a:p>
            <a:fld id="{88E0E29E-E225-F048-A964-380D52CA58AC}" type="slidenum">
              <a:rPr lang="en-US" smtClean="0"/>
              <a:t>17</a:t>
            </a:fld>
            <a:endParaRPr lang="en-US"/>
          </a:p>
        </p:txBody>
      </p:sp>
      <p:sp>
        <p:nvSpPr>
          <p:cNvPr id="3" name="TextBox 2">
            <a:extLst>
              <a:ext uri="{FF2B5EF4-FFF2-40B4-BE49-F238E27FC236}">
                <a16:creationId xmlns:a16="http://schemas.microsoft.com/office/drawing/2014/main" id="{B5FD0C76-9560-5378-C592-8853C4014485}"/>
              </a:ext>
            </a:extLst>
          </p:cNvPr>
          <p:cNvSpPr txBox="1"/>
          <p:nvPr/>
        </p:nvSpPr>
        <p:spPr>
          <a:xfrm>
            <a:off x="8977647" y="5991635"/>
            <a:ext cx="2009105" cy="369332"/>
          </a:xfrm>
          <a:prstGeom prst="rect">
            <a:avLst/>
          </a:prstGeom>
          <a:solidFill>
            <a:schemeClr val="accent1"/>
          </a:solidFill>
        </p:spPr>
        <p:txBody>
          <a:bodyPr wrap="square" rtlCol="0">
            <a:spAutoFit/>
          </a:bodyPr>
          <a:lstStyle/>
          <a:p>
            <a:pPr algn="ctr"/>
            <a:r>
              <a:rPr lang="en-US">
                <a:solidFill>
                  <a:schemeClr val="bg1"/>
                </a:solidFill>
              </a:rPr>
              <a:t>Updated</a:t>
            </a:r>
          </a:p>
        </p:txBody>
      </p:sp>
    </p:spTree>
    <p:extLst>
      <p:ext uri="{BB962C8B-B14F-4D97-AF65-F5344CB8AC3E}">
        <p14:creationId xmlns:p14="http://schemas.microsoft.com/office/powerpoint/2010/main" val="3029377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4B1DF-C053-A007-A3AC-2DA90F46C424}"/>
              </a:ext>
            </a:extLst>
          </p:cNvPr>
          <p:cNvSpPr>
            <a:spLocks noGrp="1"/>
          </p:cNvSpPr>
          <p:nvPr>
            <p:ph type="title"/>
          </p:nvPr>
        </p:nvSpPr>
        <p:spPr/>
        <p:txBody>
          <a:bodyPr/>
          <a:lstStyle/>
          <a:p>
            <a:r>
              <a:rPr lang="en-US"/>
              <a:t>Lessons Learned</a:t>
            </a:r>
            <a:endParaRPr lang="en-US" sz="1200"/>
          </a:p>
        </p:txBody>
      </p:sp>
      <p:graphicFrame>
        <p:nvGraphicFramePr>
          <p:cNvPr id="4" name="Table 3">
            <a:extLst>
              <a:ext uri="{FF2B5EF4-FFF2-40B4-BE49-F238E27FC236}">
                <a16:creationId xmlns:a16="http://schemas.microsoft.com/office/drawing/2014/main" id="{ADD3E79E-28B3-18F9-9EC5-5949448F5810}"/>
              </a:ext>
            </a:extLst>
          </p:cNvPr>
          <p:cNvGraphicFramePr>
            <a:graphicFrameLocks noGrp="1"/>
          </p:cNvGraphicFramePr>
          <p:nvPr>
            <p:extLst>
              <p:ext uri="{D42A27DB-BD31-4B8C-83A1-F6EECF244321}">
                <p14:modId xmlns:p14="http://schemas.microsoft.com/office/powerpoint/2010/main" val="2211788481"/>
              </p:ext>
            </p:extLst>
          </p:nvPr>
        </p:nvGraphicFramePr>
        <p:xfrm>
          <a:off x="243840" y="1198219"/>
          <a:ext cx="11626983" cy="5169117"/>
        </p:xfrm>
        <a:graphic>
          <a:graphicData uri="http://schemas.openxmlformats.org/drawingml/2006/table">
            <a:tbl>
              <a:tblPr firstRow="1" bandRow="1">
                <a:tableStyleId>{073A0DAA-6AF3-43AB-8588-CEC1D06C72B9}</a:tableStyleId>
              </a:tblPr>
              <a:tblGrid>
                <a:gridCol w="2360023">
                  <a:extLst>
                    <a:ext uri="{9D8B030D-6E8A-4147-A177-3AD203B41FA5}">
                      <a16:colId xmlns:a16="http://schemas.microsoft.com/office/drawing/2014/main" val="20000"/>
                    </a:ext>
                  </a:extLst>
                </a:gridCol>
                <a:gridCol w="9266960">
                  <a:extLst>
                    <a:ext uri="{9D8B030D-6E8A-4147-A177-3AD203B41FA5}">
                      <a16:colId xmlns:a16="http://schemas.microsoft.com/office/drawing/2014/main" val="20001"/>
                    </a:ext>
                  </a:extLst>
                </a:gridCol>
              </a:tblGrid>
              <a:tr h="298980">
                <a:tc>
                  <a:txBody>
                    <a:bodyPr/>
                    <a:lstStyle/>
                    <a:p>
                      <a:pPr algn="ctr"/>
                      <a:r>
                        <a:rPr lang="en-US" sz="1600">
                          <a:latin typeface="+mn-lt"/>
                        </a:rPr>
                        <a:t>Title</a:t>
                      </a:r>
                    </a:p>
                  </a:txBody>
                  <a:tcPr anchor="ctr"/>
                </a:tc>
                <a:tc>
                  <a:txBody>
                    <a:bodyPr/>
                    <a:lstStyle/>
                    <a:p>
                      <a:pPr algn="ctr"/>
                      <a:r>
                        <a:rPr lang="en-US" sz="1600" i="0">
                          <a:latin typeface="+mn-lt"/>
                        </a:rPr>
                        <a:t>Lesson Details</a:t>
                      </a:r>
                    </a:p>
                  </a:txBody>
                  <a:tcPr anchor="ctr"/>
                </a:tc>
                <a:extLst>
                  <a:ext uri="{0D108BD9-81ED-4DB2-BD59-A6C34878D82A}">
                    <a16:rowId xmlns:a16="http://schemas.microsoft.com/office/drawing/2014/main" val="10000"/>
                  </a:ext>
                </a:extLst>
              </a:tr>
              <a:tr h="537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latin typeface="+mn-lt"/>
                      </a:endParaRPr>
                    </a:p>
                  </a:txBody>
                  <a:tcPr anchor="ctr"/>
                </a:tc>
                <a:tc>
                  <a:txBody>
                    <a:bodyPr/>
                    <a:lstStyle/>
                    <a:p>
                      <a:endParaRPr lang="en-US" sz="1100" baseline="0">
                        <a:latin typeface="+mn-lt"/>
                      </a:endParaRPr>
                    </a:p>
                  </a:txBody>
                  <a:tcPr anchor="ctr"/>
                </a:tc>
                <a:extLst>
                  <a:ext uri="{0D108BD9-81ED-4DB2-BD59-A6C34878D82A}">
                    <a16:rowId xmlns:a16="http://schemas.microsoft.com/office/drawing/2014/main" val="10001"/>
                  </a:ext>
                </a:extLst>
              </a:tr>
              <a:tr h="537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latin typeface="+mn-lt"/>
                      </a:endParaRPr>
                    </a:p>
                  </a:txBody>
                  <a:tcPr anchor="ctr"/>
                </a:tc>
                <a:tc>
                  <a:txBody>
                    <a:bodyPr/>
                    <a:lstStyle/>
                    <a:p>
                      <a:endParaRPr lang="en-US" sz="1100" baseline="0">
                        <a:latin typeface="+mn-lt"/>
                      </a:endParaRPr>
                    </a:p>
                  </a:txBody>
                  <a:tcPr anchor="ctr"/>
                </a:tc>
                <a:extLst>
                  <a:ext uri="{0D108BD9-81ED-4DB2-BD59-A6C34878D82A}">
                    <a16:rowId xmlns:a16="http://schemas.microsoft.com/office/drawing/2014/main" val="10002"/>
                  </a:ext>
                </a:extLst>
              </a:tr>
              <a:tr h="537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a:latin typeface="+mn-lt"/>
                      </a:endParaRPr>
                    </a:p>
                  </a:txBody>
                  <a:tcPr anchor="ctr"/>
                </a:tc>
                <a:tc>
                  <a:txBody>
                    <a:bodyPr/>
                    <a:lstStyle/>
                    <a:p>
                      <a:endParaRPr lang="en-US" sz="1100" baseline="0">
                        <a:latin typeface="+mn-lt"/>
                      </a:endParaRPr>
                    </a:p>
                  </a:txBody>
                  <a:tcPr anchor="ctr"/>
                </a:tc>
                <a:extLst>
                  <a:ext uri="{0D108BD9-81ED-4DB2-BD59-A6C34878D82A}">
                    <a16:rowId xmlns:a16="http://schemas.microsoft.com/office/drawing/2014/main" val="10003"/>
                  </a:ext>
                </a:extLst>
              </a:tr>
              <a:tr h="537093">
                <a:tc>
                  <a:txBody>
                    <a:bodyPr/>
                    <a:lstStyle/>
                    <a:p>
                      <a:endParaRPr lang="en-US" sz="1100" b="1">
                        <a:latin typeface="+mn-lt"/>
                      </a:endParaRPr>
                    </a:p>
                  </a:txBody>
                  <a:tcPr anchor="ctr"/>
                </a:tc>
                <a:tc>
                  <a:txBody>
                    <a:bodyPr/>
                    <a:lstStyle/>
                    <a:p>
                      <a:endParaRPr lang="en-US" sz="1100" baseline="0">
                        <a:latin typeface="+mn-lt"/>
                      </a:endParaRPr>
                    </a:p>
                  </a:txBody>
                  <a:tcPr anchor="ctr"/>
                </a:tc>
                <a:extLst>
                  <a:ext uri="{0D108BD9-81ED-4DB2-BD59-A6C34878D82A}">
                    <a16:rowId xmlns:a16="http://schemas.microsoft.com/office/drawing/2014/main" val="3064276628"/>
                  </a:ext>
                </a:extLst>
              </a:tr>
              <a:tr h="537093">
                <a:tc>
                  <a:txBody>
                    <a:bodyPr/>
                    <a:lstStyle/>
                    <a:p>
                      <a:endParaRPr lang="en-US" sz="1100" b="1">
                        <a:latin typeface="+mn-lt"/>
                      </a:endParaRPr>
                    </a:p>
                  </a:txBody>
                  <a:tcPr anchor="ctr"/>
                </a:tc>
                <a:tc>
                  <a:txBody>
                    <a:bodyPr/>
                    <a:lstStyle/>
                    <a:p>
                      <a:endParaRPr lang="en-US" sz="1100" baseline="0">
                        <a:latin typeface="+mn-lt"/>
                      </a:endParaRPr>
                    </a:p>
                  </a:txBody>
                  <a:tcPr anchor="ctr"/>
                </a:tc>
                <a:extLst>
                  <a:ext uri="{0D108BD9-81ED-4DB2-BD59-A6C34878D82A}">
                    <a16:rowId xmlns:a16="http://schemas.microsoft.com/office/drawing/2014/main" val="10004"/>
                  </a:ext>
                </a:extLst>
              </a:tr>
              <a:tr h="537093">
                <a:tc>
                  <a:txBody>
                    <a:bodyPr/>
                    <a:lstStyle/>
                    <a:p>
                      <a:endParaRPr lang="en-US" sz="1100" b="1">
                        <a:latin typeface="+mn-lt"/>
                      </a:endParaRPr>
                    </a:p>
                  </a:txBody>
                  <a:tcPr anchor="ctr"/>
                </a:tc>
                <a:tc>
                  <a:txBody>
                    <a:bodyPr/>
                    <a:lstStyle/>
                    <a:p>
                      <a:pPr marL="0" marR="0" lvl="0" indent="0" algn="l" rtl="0" eaLnBrk="1" fontAlgn="auto" latinLnBrk="0" hangingPunct="1">
                        <a:lnSpc>
                          <a:spcPct val="100000"/>
                        </a:lnSpc>
                        <a:spcBef>
                          <a:spcPts val="0"/>
                        </a:spcBef>
                        <a:spcAft>
                          <a:spcPts val="0"/>
                        </a:spcAft>
                        <a:buFontTx/>
                        <a:buNone/>
                      </a:pPr>
                      <a:endParaRPr lang="en-US" sz="1100" baseline="0">
                        <a:latin typeface="+mn-lt"/>
                      </a:endParaRPr>
                    </a:p>
                  </a:txBody>
                  <a:tcPr anchor="ctr"/>
                </a:tc>
                <a:extLst>
                  <a:ext uri="{0D108BD9-81ED-4DB2-BD59-A6C34878D82A}">
                    <a16:rowId xmlns:a16="http://schemas.microsoft.com/office/drawing/2014/main" val="10005"/>
                  </a:ext>
                </a:extLst>
              </a:tr>
              <a:tr h="537093">
                <a:tc>
                  <a:txBody>
                    <a:bodyPr/>
                    <a:lstStyle/>
                    <a:p>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10006"/>
                  </a:ext>
                </a:extLst>
              </a:tr>
              <a:tr h="537093">
                <a:tc>
                  <a:txBody>
                    <a:bodyPr/>
                    <a:lstStyle/>
                    <a:p>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3794014703"/>
                  </a:ext>
                </a:extLst>
              </a:tr>
              <a:tr h="537093">
                <a:tc>
                  <a:txBody>
                    <a:bodyPr/>
                    <a:lstStyle/>
                    <a:p>
                      <a:endParaRPr lang="en-US" sz="11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a:latin typeface="+mn-lt"/>
                      </a:endParaRPr>
                    </a:p>
                  </a:txBody>
                  <a:tcPr anchor="ctr"/>
                </a:tc>
                <a:extLst>
                  <a:ext uri="{0D108BD9-81ED-4DB2-BD59-A6C34878D82A}">
                    <a16:rowId xmlns:a16="http://schemas.microsoft.com/office/drawing/2014/main" val="2109076961"/>
                  </a:ext>
                </a:extLst>
              </a:tr>
            </a:tbl>
          </a:graphicData>
        </a:graphic>
      </p:graphicFrame>
      <p:sp>
        <p:nvSpPr>
          <p:cNvPr id="7" name="Slide Number Placeholder 6">
            <a:extLst>
              <a:ext uri="{FF2B5EF4-FFF2-40B4-BE49-F238E27FC236}">
                <a16:creationId xmlns:a16="http://schemas.microsoft.com/office/drawing/2014/main" id="{DE026BA5-A9B1-8E2F-FE29-7FC13BC05474}"/>
              </a:ext>
            </a:extLst>
          </p:cNvPr>
          <p:cNvSpPr>
            <a:spLocks noGrp="1"/>
          </p:cNvSpPr>
          <p:nvPr>
            <p:ph type="sldNum" sz="quarter" idx="12"/>
          </p:nvPr>
        </p:nvSpPr>
        <p:spPr/>
        <p:txBody>
          <a:bodyPr/>
          <a:lstStyle/>
          <a:p>
            <a:fld id="{88E0E29E-E225-F048-A964-380D52CA58AC}" type="slidenum">
              <a:rPr lang="en-US" smtClean="0"/>
              <a:t>18</a:t>
            </a:fld>
            <a:endParaRPr lang="en-US"/>
          </a:p>
        </p:txBody>
      </p:sp>
      <p:sp>
        <p:nvSpPr>
          <p:cNvPr id="8" name="TextBox 7">
            <a:extLst>
              <a:ext uri="{FF2B5EF4-FFF2-40B4-BE49-F238E27FC236}">
                <a16:creationId xmlns:a16="http://schemas.microsoft.com/office/drawing/2014/main" id="{7D648150-77A7-C4CD-EB7E-BEF88DDA3555}"/>
              </a:ext>
            </a:extLst>
          </p:cNvPr>
          <p:cNvSpPr txBox="1"/>
          <p:nvPr/>
        </p:nvSpPr>
        <p:spPr>
          <a:xfrm>
            <a:off x="8723574" y="866365"/>
            <a:ext cx="3227230" cy="276999"/>
          </a:xfrm>
          <a:prstGeom prst="rect">
            <a:avLst/>
          </a:prstGeom>
          <a:noFill/>
        </p:spPr>
        <p:txBody>
          <a:bodyPr wrap="none" rtlCol="0">
            <a:spAutoFit/>
          </a:bodyPr>
          <a:lstStyle/>
          <a:p>
            <a:r>
              <a:rPr lang="en-US" sz="1200" b="1"/>
              <a:t>Rolling list, add additional tables as needed</a:t>
            </a:r>
          </a:p>
        </p:txBody>
      </p:sp>
    </p:spTree>
    <p:extLst>
      <p:ext uri="{BB962C8B-B14F-4D97-AF65-F5344CB8AC3E}">
        <p14:creationId xmlns:p14="http://schemas.microsoft.com/office/powerpoint/2010/main" val="936616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E06F-AE5C-930D-A49F-357435FC84AA}"/>
              </a:ext>
            </a:extLst>
          </p:cNvPr>
          <p:cNvSpPr>
            <a:spLocks noGrp="1"/>
          </p:cNvSpPr>
          <p:nvPr>
            <p:ph type="title"/>
          </p:nvPr>
        </p:nvSpPr>
        <p:spPr/>
        <p:txBody>
          <a:bodyPr/>
          <a:lstStyle/>
          <a:p>
            <a:r>
              <a:rPr lang="en-US"/>
              <a:t>Content for TechPort</a:t>
            </a:r>
          </a:p>
        </p:txBody>
      </p:sp>
      <p:sp>
        <p:nvSpPr>
          <p:cNvPr id="3" name="Text Placeholder 2">
            <a:extLst>
              <a:ext uri="{FF2B5EF4-FFF2-40B4-BE49-F238E27FC236}">
                <a16:creationId xmlns:a16="http://schemas.microsoft.com/office/drawing/2014/main" id="{4249BCFF-0B4A-2147-6F5B-E22CC4AC9BBA}"/>
              </a:ext>
            </a:extLst>
          </p:cNvPr>
          <p:cNvSpPr>
            <a:spLocks noGrp="1"/>
          </p:cNvSpPr>
          <p:nvPr>
            <p:ph type="body" idx="1"/>
          </p:nvPr>
        </p:nvSpPr>
        <p:spPr/>
        <p:txBody>
          <a:bodyPr vert="horz" lIns="91440" tIns="45720" rIns="91440" bIns="45720" rtlCol="0" anchor="t">
            <a:normAutofit/>
          </a:bodyPr>
          <a:lstStyle/>
          <a:p>
            <a:pPr marL="285750" indent="-285750">
              <a:buFont typeface="Arial"/>
              <a:buChar char="•"/>
            </a:pPr>
            <a:r>
              <a:rPr lang="en-US" b="1">
                <a:ea typeface="+mn-lt"/>
                <a:cs typeface="+mn-lt"/>
              </a:rPr>
              <a:t>Overview</a:t>
            </a:r>
            <a:br>
              <a:rPr lang="en-US" b="1">
                <a:ea typeface="+mn-lt"/>
                <a:cs typeface="+mn-lt"/>
              </a:rPr>
            </a:br>
            <a:r>
              <a:rPr lang="en-US">
                <a:ea typeface="+mn-lt"/>
                <a:cs typeface="+mn-lt"/>
              </a:rPr>
              <a:t>Describe the instrument at a high level, what it measures and how. Assume most readers do not read any further. This section provides a high-level summary of all the information below.</a:t>
            </a:r>
            <a:endParaRPr lang="en-US"/>
          </a:p>
          <a:p>
            <a:pPr marL="285750" indent="-285750">
              <a:buFont typeface="Arial"/>
              <a:buChar char="•"/>
            </a:pPr>
            <a:r>
              <a:rPr lang="en-US" b="1">
                <a:ea typeface="+mn-lt"/>
                <a:cs typeface="+mn-lt"/>
              </a:rPr>
              <a:t>Principle of Operations</a:t>
            </a:r>
            <a:br>
              <a:rPr lang="en-US" b="1">
                <a:ea typeface="+mn-lt"/>
                <a:cs typeface="+mn-lt"/>
              </a:rPr>
            </a:br>
            <a:r>
              <a:rPr lang="en-US">
                <a:ea typeface="+mn-lt"/>
                <a:cs typeface="+mn-lt"/>
              </a:rPr>
              <a:t>Explain the principle of operations of the technology going into as much depth as necessary. How does this technology work? If it is a sensor, how does it make its measurements and what does it measure.</a:t>
            </a:r>
            <a:endParaRPr lang="en-US"/>
          </a:p>
          <a:p>
            <a:pPr marL="285750" indent="-285750">
              <a:buFont typeface="Arial"/>
              <a:buChar char="•"/>
            </a:pPr>
            <a:r>
              <a:rPr lang="en-US" b="1">
                <a:ea typeface="+mn-lt"/>
                <a:cs typeface="+mn-lt"/>
              </a:rPr>
              <a:t>Advantages and Disadvantages</a:t>
            </a:r>
            <a:br>
              <a:rPr lang="en-US" b="1">
                <a:ea typeface="+mn-lt"/>
                <a:cs typeface="+mn-lt"/>
              </a:rPr>
            </a:br>
            <a:r>
              <a:rPr lang="en-US">
                <a:ea typeface="+mn-lt"/>
                <a:cs typeface="+mn-lt"/>
              </a:rPr>
              <a:t>Compare this technology with other methods or competing technologies or approaches. Explain how this technology is better and how much better. You do not need to compare yourself to a specific other technology but you could compare yourself to a competing approach.</a:t>
            </a:r>
            <a:endParaRPr lang="en-US"/>
          </a:p>
          <a:p>
            <a:endParaRPr lang="en-US"/>
          </a:p>
        </p:txBody>
      </p:sp>
      <p:sp>
        <p:nvSpPr>
          <p:cNvPr id="4" name="Slide Number Placeholder 3">
            <a:extLst>
              <a:ext uri="{FF2B5EF4-FFF2-40B4-BE49-F238E27FC236}">
                <a16:creationId xmlns:a16="http://schemas.microsoft.com/office/drawing/2014/main" id="{99B82387-9EB5-3756-449D-693071491743}"/>
              </a:ext>
            </a:extLst>
          </p:cNvPr>
          <p:cNvSpPr>
            <a:spLocks noGrp="1"/>
          </p:cNvSpPr>
          <p:nvPr>
            <p:ph type="sldNum" sz="quarter" idx="12"/>
          </p:nvPr>
        </p:nvSpPr>
        <p:spPr/>
        <p:txBody>
          <a:bodyPr/>
          <a:lstStyle/>
          <a:p>
            <a:fld id="{88E0E29E-E225-F048-A964-380D52CA58AC}" type="slidenum">
              <a:rPr lang="en-US" smtClean="0"/>
              <a:t>19</a:t>
            </a:fld>
            <a:endParaRPr lang="en-US"/>
          </a:p>
        </p:txBody>
      </p:sp>
      <p:sp>
        <p:nvSpPr>
          <p:cNvPr id="5" name="TextBox 4">
            <a:extLst>
              <a:ext uri="{FF2B5EF4-FFF2-40B4-BE49-F238E27FC236}">
                <a16:creationId xmlns:a16="http://schemas.microsoft.com/office/drawing/2014/main" id="{E6C26B63-8C1F-9B75-FD35-70F554F0B4B6}"/>
              </a:ext>
            </a:extLst>
          </p:cNvPr>
          <p:cNvSpPr txBox="1"/>
          <p:nvPr/>
        </p:nvSpPr>
        <p:spPr>
          <a:xfrm>
            <a:off x="9351045" y="857765"/>
            <a:ext cx="2009105" cy="369332"/>
          </a:xfrm>
          <a:prstGeom prst="rect">
            <a:avLst/>
          </a:prstGeom>
          <a:solidFill>
            <a:schemeClr val="accent1"/>
          </a:solidFill>
        </p:spPr>
        <p:txBody>
          <a:bodyPr wrap="square" rtlCol="0">
            <a:spAutoFit/>
          </a:bodyPr>
          <a:lstStyle/>
          <a:p>
            <a:pPr algn="ctr"/>
            <a:r>
              <a:rPr lang="en-US">
                <a:solidFill>
                  <a:schemeClr val="bg1"/>
                </a:solidFill>
              </a:rPr>
              <a:t>New Slide</a:t>
            </a:r>
          </a:p>
        </p:txBody>
      </p:sp>
    </p:spTree>
    <p:extLst>
      <p:ext uri="{BB962C8B-B14F-4D97-AF65-F5344CB8AC3E}">
        <p14:creationId xmlns:p14="http://schemas.microsoft.com/office/powerpoint/2010/main" val="249717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C355E-70B6-97C4-E00C-3E02B7D3B230}"/>
              </a:ext>
            </a:extLst>
          </p:cNvPr>
          <p:cNvSpPr>
            <a:spLocks noGrp="1"/>
          </p:cNvSpPr>
          <p:nvPr>
            <p:ph type="title"/>
          </p:nvPr>
        </p:nvSpPr>
        <p:spPr/>
        <p:txBody>
          <a:bodyPr/>
          <a:lstStyle/>
          <a:p>
            <a:r>
              <a:rPr lang="en-US" sz="3500"/>
              <a:t>Content for TechPort</a:t>
            </a:r>
          </a:p>
        </p:txBody>
      </p:sp>
      <p:sp>
        <p:nvSpPr>
          <p:cNvPr id="3" name="Text Placeholder 2">
            <a:extLst>
              <a:ext uri="{FF2B5EF4-FFF2-40B4-BE49-F238E27FC236}">
                <a16:creationId xmlns:a16="http://schemas.microsoft.com/office/drawing/2014/main" id="{A6AB0532-23B8-CF0B-3359-6B5281A98E4A}"/>
              </a:ext>
            </a:extLst>
          </p:cNvPr>
          <p:cNvSpPr>
            <a:spLocks noGrp="1"/>
          </p:cNvSpPr>
          <p:nvPr>
            <p:ph type="body" idx="1"/>
          </p:nvPr>
        </p:nvSpPr>
        <p:spPr>
          <a:xfrm>
            <a:off x="839107" y="1124465"/>
            <a:ext cx="10515600" cy="4899871"/>
          </a:xfrm>
        </p:spPr>
        <p:txBody>
          <a:bodyPr vert="horz" lIns="91440" tIns="45720" rIns="91440" bIns="45720" rtlCol="0" anchor="t">
            <a:normAutofit/>
          </a:bodyPr>
          <a:lstStyle/>
          <a:p>
            <a:pPr marL="285750" indent="-285750">
              <a:buFont typeface="Arial"/>
              <a:buChar char="•"/>
            </a:pPr>
            <a:r>
              <a:rPr lang="en-US" b="1">
                <a:ea typeface="+mn-lt"/>
                <a:cs typeface="+mn-lt"/>
              </a:rPr>
              <a:t>Final TRL:</a:t>
            </a:r>
          </a:p>
          <a:p>
            <a:pPr marL="285750" indent="-285750">
              <a:buFont typeface="Arial"/>
              <a:buChar char="•"/>
            </a:pPr>
            <a:r>
              <a:rPr lang="en-US" b="1">
                <a:ea typeface="+mn-lt"/>
                <a:cs typeface="+mn-lt"/>
              </a:rPr>
              <a:t>TRL justification</a:t>
            </a:r>
            <a:br>
              <a:rPr lang="en-US">
                <a:ea typeface="+mn-lt"/>
                <a:cs typeface="+mn-lt"/>
              </a:rPr>
            </a:br>
            <a:r>
              <a:rPr lang="en-US">
                <a:ea typeface="+mn-lt"/>
                <a:cs typeface="+mn-lt"/>
              </a:rPr>
              <a:t>Provide a narrative description of your current TRL. Provide a table of tests including the date at which they occurred.</a:t>
            </a:r>
            <a:endParaRPr lang="en-US"/>
          </a:p>
          <a:p>
            <a:pPr marL="285750" indent="-285750">
              <a:buFont typeface="Arial"/>
              <a:buChar char="•"/>
            </a:pPr>
            <a:r>
              <a:rPr lang="en-US" b="1"/>
              <a:t>Performance</a:t>
            </a:r>
            <a:br>
              <a:rPr lang="en-US"/>
            </a:br>
            <a:br>
              <a:rPr lang="en-US"/>
            </a:br>
            <a:br>
              <a:rPr lang="en-US"/>
            </a:br>
            <a:endParaRPr lang="en-US"/>
          </a:p>
        </p:txBody>
      </p:sp>
      <p:sp>
        <p:nvSpPr>
          <p:cNvPr id="4" name="Slide Number Placeholder 3">
            <a:extLst>
              <a:ext uri="{FF2B5EF4-FFF2-40B4-BE49-F238E27FC236}">
                <a16:creationId xmlns:a16="http://schemas.microsoft.com/office/drawing/2014/main" id="{775AD024-F3AB-E795-6EF6-3B29E0A1686B}"/>
              </a:ext>
            </a:extLst>
          </p:cNvPr>
          <p:cNvSpPr>
            <a:spLocks noGrp="1"/>
          </p:cNvSpPr>
          <p:nvPr>
            <p:ph type="sldNum" sz="quarter" idx="12"/>
          </p:nvPr>
        </p:nvSpPr>
        <p:spPr/>
        <p:txBody>
          <a:bodyPr/>
          <a:lstStyle/>
          <a:p>
            <a:fld id="{88E0E29E-E225-F048-A964-380D52CA58AC}" type="slidenum">
              <a:rPr lang="en-US" smtClean="0"/>
              <a:t>20</a:t>
            </a:fld>
            <a:endParaRPr lang="en-US"/>
          </a:p>
        </p:txBody>
      </p:sp>
      <p:graphicFrame>
        <p:nvGraphicFramePr>
          <p:cNvPr id="7" name="Table 6">
            <a:extLst>
              <a:ext uri="{FF2B5EF4-FFF2-40B4-BE49-F238E27FC236}">
                <a16:creationId xmlns:a16="http://schemas.microsoft.com/office/drawing/2014/main" id="{6E5AD7D8-2D0E-8908-73CF-C68A54E5603B}"/>
              </a:ext>
            </a:extLst>
          </p:cNvPr>
          <p:cNvGraphicFramePr>
            <a:graphicFrameLocks noGrp="1"/>
          </p:cNvGraphicFramePr>
          <p:nvPr>
            <p:extLst>
              <p:ext uri="{D42A27DB-BD31-4B8C-83A1-F6EECF244321}">
                <p14:modId xmlns:p14="http://schemas.microsoft.com/office/powerpoint/2010/main" val="3238025674"/>
              </p:ext>
            </p:extLst>
          </p:nvPr>
        </p:nvGraphicFramePr>
        <p:xfrm>
          <a:off x="2248518" y="3183430"/>
          <a:ext cx="8168640" cy="148336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1801936206"/>
                    </a:ext>
                  </a:extLst>
                </a:gridCol>
                <a:gridCol w="4084320">
                  <a:extLst>
                    <a:ext uri="{9D8B030D-6E8A-4147-A177-3AD203B41FA5}">
                      <a16:colId xmlns:a16="http://schemas.microsoft.com/office/drawing/2014/main" val="1730509007"/>
                    </a:ext>
                  </a:extLst>
                </a:gridCol>
              </a:tblGrid>
              <a:tr h="370840">
                <a:tc>
                  <a:txBody>
                    <a:bodyPr/>
                    <a:lstStyle/>
                    <a:p>
                      <a:r>
                        <a:rPr lang="en-US"/>
                        <a:t>Parameter (e.g., Range, Resolution)</a:t>
                      </a:r>
                    </a:p>
                  </a:txBody>
                  <a:tcPr/>
                </a:tc>
                <a:tc>
                  <a:txBody>
                    <a:bodyPr/>
                    <a:lstStyle/>
                    <a:p>
                      <a:r>
                        <a:rPr lang="en-US"/>
                        <a:t>Final Performance</a:t>
                      </a:r>
                    </a:p>
                  </a:txBody>
                  <a:tcPr/>
                </a:tc>
                <a:extLst>
                  <a:ext uri="{0D108BD9-81ED-4DB2-BD59-A6C34878D82A}">
                    <a16:rowId xmlns:a16="http://schemas.microsoft.com/office/drawing/2014/main" val="685339146"/>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735087140"/>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2509483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3268759614"/>
                  </a:ext>
                </a:extLst>
              </a:tr>
            </a:tbl>
          </a:graphicData>
        </a:graphic>
      </p:graphicFrame>
      <p:sp>
        <p:nvSpPr>
          <p:cNvPr id="5" name="TextBox 4">
            <a:extLst>
              <a:ext uri="{FF2B5EF4-FFF2-40B4-BE49-F238E27FC236}">
                <a16:creationId xmlns:a16="http://schemas.microsoft.com/office/drawing/2014/main" id="{AFC7F1AE-8AE7-93D6-DAD1-31BCBE2453A6}"/>
              </a:ext>
            </a:extLst>
          </p:cNvPr>
          <p:cNvSpPr txBox="1"/>
          <p:nvPr/>
        </p:nvSpPr>
        <p:spPr>
          <a:xfrm>
            <a:off x="9351045" y="857765"/>
            <a:ext cx="2009105" cy="369332"/>
          </a:xfrm>
          <a:prstGeom prst="rect">
            <a:avLst/>
          </a:prstGeom>
          <a:solidFill>
            <a:schemeClr val="accent1"/>
          </a:solidFill>
        </p:spPr>
        <p:txBody>
          <a:bodyPr wrap="square" rtlCol="0">
            <a:spAutoFit/>
          </a:bodyPr>
          <a:lstStyle/>
          <a:p>
            <a:pPr algn="ctr"/>
            <a:r>
              <a:rPr lang="en-US">
                <a:solidFill>
                  <a:schemeClr val="bg1"/>
                </a:solidFill>
              </a:rPr>
              <a:t>New Slide</a:t>
            </a:r>
          </a:p>
        </p:txBody>
      </p:sp>
    </p:spTree>
    <p:extLst>
      <p:ext uri="{BB962C8B-B14F-4D97-AF65-F5344CB8AC3E}">
        <p14:creationId xmlns:p14="http://schemas.microsoft.com/office/powerpoint/2010/main" val="2383515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CB423-B171-36D2-C5B8-E3E6CA44E190}"/>
              </a:ext>
            </a:extLst>
          </p:cNvPr>
          <p:cNvSpPr>
            <a:spLocks noGrp="1"/>
          </p:cNvSpPr>
          <p:nvPr>
            <p:ph type="title"/>
          </p:nvPr>
        </p:nvSpPr>
        <p:spPr/>
        <p:txBody>
          <a:bodyPr/>
          <a:lstStyle/>
          <a:p>
            <a:r>
              <a:rPr lang="en-US"/>
              <a:t>Backup Material</a:t>
            </a:r>
          </a:p>
        </p:txBody>
      </p:sp>
      <p:sp>
        <p:nvSpPr>
          <p:cNvPr id="3" name="Slide Number Placeholder 2">
            <a:extLst>
              <a:ext uri="{FF2B5EF4-FFF2-40B4-BE49-F238E27FC236}">
                <a16:creationId xmlns:a16="http://schemas.microsoft.com/office/drawing/2014/main" id="{CFAF6390-4F26-6ADD-4A6E-2A964A91CBBD}"/>
              </a:ext>
            </a:extLst>
          </p:cNvPr>
          <p:cNvSpPr>
            <a:spLocks noGrp="1"/>
          </p:cNvSpPr>
          <p:nvPr>
            <p:ph type="sldNum" sz="quarter" idx="12"/>
          </p:nvPr>
        </p:nvSpPr>
        <p:spPr/>
        <p:txBody>
          <a:bodyPr/>
          <a:lstStyle/>
          <a:p>
            <a:fld id="{88E0E29E-E225-F048-A964-380D52CA58AC}" type="slidenum">
              <a:rPr lang="en-US" smtClean="0"/>
              <a:t>21</a:t>
            </a:fld>
            <a:endParaRPr lang="en-US"/>
          </a:p>
        </p:txBody>
      </p:sp>
    </p:spTree>
    <p:extLst>
      <p:ext uri="{BB962C8B-B14F-4D97-AF65-F5344CB8AC3E}">
        <p14:creationId xmlns:p14="http://schemas.microsoft.com/office/powerpoint/2010/main" val="2120913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7B92-5204-9F11-DD01-5C7E45595CE5}"/>
              </a:ext>
            </a:extLst>
          </p:cNvPr>
          <p:cNvSpPr>
            <a:spLocks noGrp="1"/>
          </p:cNvSpPr>
          <p:nvPr>
            <p:ph type="title"/>
          </p:nvPr>
        </p:nvSpPr>
        <p:spPr/>
        <p:txBody>
          <a:bodyPr/>
          <a:lstStyle/>
          <a:p>
            <a:r>
              <a:rPr lang="en-US"/>
              <a:t>Development Concept</a:t>
            </a:r>
          </a:p>
        </p:txBody>
      </p:sp>
      <p:sp>
        <p:nvSpPr>
          <p:cNvPr id="4" name="Text Placeholder 4">
            <a:extLst>
              <a:ext uri="{FF2B5EF4-FFF2-40B4-BE49-F238E27FC236}">
                <a16:creationId xmlns:a16="http://schemas.microsoft.com/office/drawing/2014/main" id="{D4C63F03-FD92-05C1-FF32-9AE44372C089}"/>
              </a:ext>
            </a:extLst>
          </p:cNvPr>
          <p:cNvSpPr txBox="1">
            <a:spLocks/>
          </p:cNvSpPr>
          <p:nvPr/>
        </p:nvSpPr>
        <p:spPr>
          <a:xfrm>
            <a:off x="342122" y="1079719"/>
            <a:ext cx="6930547" cy="5331709"/>
          </a:xfrm>
          <a:prstGeom prst="rect">
            <a:avLst/>
          </a:prstGeom>
          <a:ln>
            <a:solidFill>
              <a:schemeClr val="tx1"/>
            </a:solidFill>
          </a:ln>
        </p:spPr>
        <p:txBody>
          <a:bodyPr vert="horz" lIns="91440" tIns="45720" rIns="91440" bIns="45720" numCol="1" spcCol="18288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000" b="1">
                <a:solidFill>
                  <a:schemeClr val="tx1"/>
                </a:solidFill>
                <a:latin typeface="+mn-lt"/>
              </a:rPr>
              <a:t>Describe the development concept:</a:t>
            </a:r>
          </a:p>
          <a:p>
            <a:r>
              <a:rPr lang="en-US" sz="2000">
                <a:solidFill>
                  <a:schemeClr val="tx1"/>
                </a:solidFill>
                <a:latin typeface="+mn-lt"/>
              </a:rPr>
              <a:t>XXX		</a:t>
            </a:r>
          </a:p>
          <a:p>
            <a:pPr lvl="1">
              <a:buClr>
                <a:schemeClr val="accent2"/>
              </a:buClr>
              <a:buFont typeface="Wingdings" pitchFamily="2" charset="2"/>
              <a:buChar char="§"/>
            </a:pPr>
            <a:r>
              <a:rPr lang="en-US" sz="1800">
                <a:solidFill>
                  <a:schemeClr val="tx1"/>
                </a:solidFill>
                <a:latin typeface="+mn-lt"/>
              </a:rPr>
              <a:t>XXX</a:t>
            </a:r>
          </a:p>
        </p:txBody>
      </p:sp>
      <p:sp>
        <p:nvSpPr>
          <p:cNvPr id="5" name="Rectangle 4">
            <a:extLst>
              <a:ext uri="{FF2B5EF4-FFF2-40B4-BE49-F238E27FC236}">
                <a16:creationId xmlns:a16="http://schemas.microsoft.com/office/drawing/2014/main" id="{2E80066A-A0D6-2B0C-0A9B-DCF3771C2B8A}"/>
              </a:ext>
            </a:extLst>
          </p:cNvPr>
          <p:cNvSpPr/>
          <p:nvPr/>
        </p:nvSpPr>
        <p:spPr>
          <a:xfrm>
            <a:off x="7358743" y="1079720"/>
            <a:ext cx="4402941" cy="533170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lumMod val="50000"/>
                  </a:schemeClr>
                </a:solidFill>
              </a:ln>
              <a:solidFill>
                <a:schemeClr val="tx1"/>
              </a:solidFill>
            </a:endParaRPr>
          </a:p>
        </p:txBody>
      </p:sp>
      <p:sp>
        <p:nvSpPr>
          <p:cNvPr id="6" name="Slide Number Placeholder 5">
            <a:extLst>
              <a:ext uri="{FF2B5EF4-FFF2-40B4-BE49-F238E27FC236}">
                <a16:creationId xmlns:a16="http://schemas.microsoft.com/office/drawing/2014/main" id="{7900C387-D0EC-D83E-2F86-3755C6555ABA}"/>
              </a:ext>
            </a:extLst>
          </p:cNvPr>
          <p:cNvSpPr>
            <a:spLocks noGrp="1"/>
          </p:cNvSpPr>
          <p:nvPr>
            <p:ph type="sldNum" sz="quarter" idx="12"/>
          </p:nvPr>
        </p:nvSpPr>
        <p:spPr/>
        <p:txBody>
          <a:bodyPr/>
          <a:lstStyle/>
          <a:p>
            <a:fld id="{88E0E29E-E225-F048-A964-380D52CA58AC}" type="slidenum">
              <a:rPr lang="en-US" smtClean="0"/>
              <a:t>22</a:t>
            </a:fld>
            <a:endParaRPr lang="en-US"/>
          </a:p>
        </p:txBody>
      </p:sp>
      <p:sp>
        <p:nvSpPr>
          <p:cNvPr id="7" name="Rectangle 6">
            <a:extLst>
              <a:ext uri="{FF2B5EF4-FFF2-40B4-BE49-F238E27FC236}">
                <a16:creationId xmlns:a16="http://schemas.microsoft.com/office/drawing/2014/main" id="{175EFBA7-9245-F90F-4321-3E02376EC056}"/>
              </a:ext>
            </a:extLst>
          </p:cNvPr>
          <p:cNvSpPr/>
          <p:nvPr/>
        </p:nvSpPr>
        <p:spPr>
          <a:xfrm>
            <a:off x="7545343" y="1220340"/>
            <a:ext cx="4029740" cy="5050465"/>
          </a:xfrm>
          <a:prstGeom prst="rect">
            <a:avLst/>
          </a:prstGeom>
          <a:solidFill>
            <a:schemeClr val="accent2">
              <a:lumMod val="20000"/>
              <a:lumOff val="80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lumMod val="50000"/>
                  </a:schemeClr>
                </a:solidFill>
              </a:rPr>
              <a:t>IMAGE or DIAGRAM</a:t>
            </a:r>
          </a:p>
        </p:txBody>
      </p:sp>
    </p:spTree>
    <p:extLst>
      <p:ext uri="{BB962C8B-B14F-4D97-AF65-F5344CB8AC3E}">
        <p14:creationId xmlns:p14="http://schemas.microsoft.com/office/powerpoint/2010/main" val="3045521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2F906-8DFC-ED25-BD77-593E65A0F430}"/>
              </a:ext>
            </a:extLst>
          </p:cNvPr>
          <p:cNvSpPr>
            <a:spLocks noGrp="1"/>
          </p:cNvSpPr>
          <p:nvPr>
            <p:ph type="title"/>
          </p:nvPr>
        </p:nvSpPr>
        <p:spPr/>
        <p:txBody>
          <a:bodyPr/>
          <a:lstStyle/>
          <a:p>
            <a:r>
              <a:rPr lang="en-US"/>
              <a:t>Supporting Material</a:t>
            </a:r>
          </a:p>
        </p:txBody>
      </p:sp>
      <p:sp>
        <p:nvSpPr>
          <p:cNvPr id="3" name="Text Placeholder 2">
            <a:extLst>
              <a:ext uri="{FF2B5EF4-FFF2-40B4-BE49-F238E27FC236}">
                <a16:creationId xmlns:a16="http://schemas.microsoft.com/office/drawing/2014/main" id="{79B333D7-CF4C-ABAA-92DC-596DAFCEFAFE}"/>
              </a:ext>
            </a:extLst>
          </p:cNvPr>
          <p:cNvSpPr>
            <a:spLocks noGrp="1"/>
          </p:cNvSpPr>
          <p:nvPr>
            <p:ph type="body" idx="1"/>
          </p:nvPr>
        </p:nvSpPr>
        <p:spPr/>
        <p:txBody>
          <a:bodyPr/>
          <a:lstStyle/>
          <a:p>
            <a:endParaRPr lang="en-US"/>
          </a:p>
        </p:txBody>
      </p:sp>
      <p:sp>
        <p:nvSpPr>
          <p:cNvPr id="4" name="TextBox 3">
            <a:extLst>
              <a:ext uri="{FF2B5EF4-FFF2-40B4-BE49-F238E27FC236}">
                <a16:creationId xmlns:a16="http://schemas.microsoft.com/office/drawing/2014/main" id="{30023040-7E3D-BC7E-FA1A-F72DB9DB7CB0}"/>
              </a:ext>
            </a:extLst>
          </p:cNvPr>
          <p:cNvSpPr txBox="1"/>
          <p:nvPr/>
        </p:nvSpPr>
        <p:spPr>
          <a:xfrm>
            <a:off x="8190991" y="815567"/>
            <a:ext cx="3860224" cy="276999"/>
          </a:xfrm>
          <a:prstGeom prst="rect">
            <a:avLst/>
          </a:prstGeom>
          <a:noFill/>
        </p:spPr>
        <p:txBody>
          <a:bodyPr wrap="none" rtlCol="0">
            <a:spAutoFit/>
          </a:bodyPr>
          <a:lstStyle/>
          <a:p>
            <a:r>
              <a:rPr lang="en-US" sz="1200" b="1"/>
              <a:t>Include items that support the need for development</a:t>
            </a:r>
          </a:p>
        </p:txBody>
      </p:sp>
      <p:sp>
        <p:nvSpPr>
          <p:cNvPr id="5" name="Slide Number Placeholder 4">
            <a:extLst>
              <a:ext uri="{FF2B5EF4-FFF2-40B4-BE49-F238E27FC236}">
                <a16:creationId xmlns:a16="http://schemas.microsoft.com/office/drawing/2014/main" id="{B20F58C1-CB20-93F0-F983-4F4BC5632D94}"/>
              </a:ext>
            </a:extLst>
          </p:cNvPr>
          <p:cNvSpPr>
            <a:spLocks noGrp="1"/>
          </p:cNvSpPr>
          <p:nvPr>
            <p:ph type="sldNum" sz="quarter" idx="12"/>
          </p:nvPr>
        </p:nvSpPr>
        <p:spPr/>
        <p:txBody>
          <a:bodyPr/>
          <a:lstStyle/>
          <a:p>
            <a:fld id="{88E0E29E-E225-F048-A964-380D52CA58AC}" type="slidenum">
              <a:rPr lang="en-US" smtClean="0"/>
              <a:t>23</a:t>
            </a:fld>
            <a:endParaRPr lang="en-US"/>
          </a:p>
        </p:txBody>
      </p:sp>
    </p:spTree>
    <p:extLst>
      <p:ext uri="{BB962C8B-B14F-4D97-AF65-F5344CB8AC3E}">
        <p14:creationId xmlns:p14="http://schemas.microsoft.com/office/powerpoint/2010/main" val="3666677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2F3B3-AC49-89F2-4B96-BF37FC50A94E}"/>
              </a:ext>
            </a:extLst>
          </p:cNvPr>
          <p:cNvSpPr>
            <a:spLocks noGrp="1"/>
          </p:cNvSpPr>
          <p:nvPr>
            <p:ph type="title"/>
          </p:nvPr>
        </p:nvSpPr>
        <p:spPr/>
        <p:txBody>
          <a:bodyPr/>
          <a:lstStyle/>
          <a:p>
            <a:r>
              <a:rPr lang="en-US"/>
              <a:t>Guidance Material</a:t>
            </a:r>
          </a:p>
        </p:txBody>
      </p:sp>
      <p:sp>
        <p:nvSpPr>
          <p:cNvPr id="3" name="Slide Number Placeholder 2">
            <a:extLst>
              <a:ext uri="{FF2B5EF4-FFF2-40B4-BE49-F238E27FC236}">
                <a16:creationId xmlns:a16="http://schemas.microsoft.com/office/drawing/2014/main" id="{F17BC1A5-1A2B-B141-34E3-A29FBA887A0E}"/>
              </a:ext>
            </a:extLst>
          </p:cNvPr>
          <p:cNvSpPr>
            <a:spLocks noGrp="1"/>
          </p:cNvSpPr>
          <p:nvPr>
            <p:ph type="sldNum" sz="quarter" idx="12"/>
          </p:nvPr>
        </p:nvSpPr>
        <p:spPr/>
        <p:txBody>
          <a:bodyPr/>
          <a:lstStyle/>
          <a:p>
            <a:fld id="{88E0E29E-E225-F048-A964-380D52CA58AC}" type="slidenum">
              <a:rPr lang="en-US" smtClean="0"/>
              <a:t>24</a:t>
            </a:fld>
            <a:endParaRPr lang="en-US"/>
          </a:p>
        </p:txBody>
      </p:sp>
    </p:spTree>
    <p:extLst>
      <p:ext uri="{BB962C8B-B14F-4D97-AF65-F5344CB8AC3E}">
        <p14:creationId xmlns:p14="http://schemas.microsoft.com/office/powerpoint/2010/main" val="1504425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E73FA-8F6E-F31F-653E-8C9196287AF4}"/>
              </a:ext>
            </a:extLst>
          </p:cNvPr>
          <p:cNvSpPr>
            <a:spLocks noGrp="1"/>
          </p:cNvSpPr>
          <p:nvPr>
            <p:ph type="title"/>
          </p:nvPr>
        </p:nvSpPr>
        <p:spPr/>
        <p:txBody>
          <a:bodyPr/>
          <a:lstStyle/>
          <a:p>
            <a:r>
              <a:rPr lang="en-US"/>
              <a:t>Taxonomy and Keyword Guidance</a:t>
            </a:r>
          </a:p>
        </p:txBody>
      </p:sp>
      <p:sp>
        <p:nvSpPr>
          <p:cNvPr id="3" name="Text Placeholder 2">
            <a:extLst>
              <a:ext uri="{FF2B5EF4-FFF2-40B4-BE49-F238E27FC236}">
                <a16:creationId xmlns:a16="http://schemas.microsoft.com/office/drawing/2014/main" id="{EE331885-C8A3-EBE2-9DC5-DB6999BBEF03}"/>
              </a:ext>
            </a:extLst>
          </p:cNvPr>
          <p:cNvSpPr>
            <a:spLocks noGrp="1"/>
          </p:cNvSpPr>
          <p:nvPr>
            <p:ph type="body" idx="1"/>
          </p:nvPr>
        </p:nvSpPr>
        <p:spPr/>
        <p:txBody>
          <a:bodyPr vert="horz" lIns="91440" tIns="45720" rIns="91440" bIns="45720" rtlCol="0" anchor="t">
            <a:normAutofit/>
          </a:bodyPr>
          <a:lstStyle/>
          <a:p>
            <a:r>
              <a:rPr lang="en-US" b="1"/>
              <a:t>HESTO Taxonomy</a:t>
            </a:r>
            <a:r>
              <a:rPr lang="en-US"/>
              <a:t>: Radio, Microwave, Infrared, Visible, Ultraviolet, Extreme UV, X-ray, Gamma-ray, Magnetic Field, Electric Field, Electrons, Ions/Protons, Neutrals/Neutrons, Dust/Debris</a:t>
            </a:r>
          </a:p>
          <a:p>
            <a:r>
              <a:rPr lang="en-US" b="1"/>
              <a:t>Technology Keywords</a:t>
            </a:r>
            <a:r>
              <a:rPr lang="en-US"/>
              <a:t> (select if integral to your technology): AI/ML, Quantum Sensing, Microfabrication, Additive Manufacturing, Nanotechnology</a:t>
            </a:r>
          </a:p>
        </p:txBody>
      </p:sp>
      <p:sp>
        <p:nvSpPr>
          <p:cNvPr id="4" name="Slide Number Placeholder 3">
            <a:extLst>
              <a:ext uri="{FF2B5EF4-FFF2-40B4-BE49-F238E27FC236}">
                <a16:creationId xmlns:a16="http://schemas.microsoft.com/office/drawing/2014/main" id="{CBBB2D6A-8CEE-3FA0-96CB-2086ED8286DB}"/>
              </a:ext>
            </a:extLst>
          </p:cNvPr>
          <p:cNvSpPr>
            <a:spLocks noGrp="1"/>
          </p:cNvSpPr>
          <p:nvPr>
            <p:ph type="sldNum" sz="quarter" idx="12"/>
          </p:nvPr>
        </p:nvSpPr>
        <p:spPr/>
        <p:txBody>
          <a:bodyPr/>
          <a:lstStyle/>
          <a:p>
            <a:fld id="{88E0E29E-E225-F048-A964-380D52CA58AC}" type="slidenum">
              <a:rPr lang="en-US" smtClean="0"/>
              <a:t>25</a:t>
            </a:fld>
            <a:endParaRPr lang="en-US"/>
          </a:p>
        </p:txBody>
      </p:sp>
      <p:sp>
        <p:nvSpPr>
          <p:cNvPr id="5" name="TextBox 4">
            <a:extLst>
              <a:ext uri="{FF2B5EF4-FFF2-40B4-BE49-F238E27FC236}">
                <a16:creationId xmlns:a16="http://schemas.microsoft.com/office/drawing/2014/main" id="{30646E44-1E23-C3A0-BDC1-C448C132FF9E}"/>
              </a:ext>
            </a:extLst>
          </p:cNvPr>
          <p:cNvSpPr txBox="1"/>
          <p:nvPr/>
        </p:nvSpPr>
        <p:spPr>
          <a:xfrm>
            <a:off x="10102885" y="768350"/>
            <a:ext cx="2009105" cy="369332"/>
          </a:xfrm>
          <a:prstGeom prst="rect">
            <a:avLst/>
          </a:prstGeom>
          <a:solidFill>
            <a:schemeClr val="accent1"/>
          </a:solidFill>
        </p:spPr>
        <p:txBody>
          <a:bodyPr wrap="square" rtlCol="0">
            <a:spAutoFit/>
          </a:bodyPr>
          <a:lstStyle/>
          <a:p>
            <a:pPr algn="ctr"/>
            <a:r>
              <a:rPr lang="en-US">
                <a:solidFill>
                  <a:schemeClr val="bg1"/>
                </a:solidFill>
              </a:rPr>
              <a:t>New Slide</a:t>
            </a:r>
          </a:p>
        </p:txBody>
      </p:sp>
    </p:spTree>
    <p:extLst>
      <p:ext uri="{BB962C8B-B14F-4D97-AF65-F5344CB8AC3E}">
        <p14:creationId xmlns:p14="http://schemas.microsoft.com/office/powerpoint/2010/main" val="1760325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DA42-DF11-9CE6-3D16-7A20B3619460}"/>
              </a:ext>
            </a:extLst>
          </p:cNvPr>
          <p:cNvSpPr>
            <a:spLocks noGrp="1"/>
          </p:cNvSpPr>
          <p:nvPr>
            <p:ph type="title"/>
          </p:nvPr>
        </p:nvSpPr>
        <p:spPr/>
        <p:txBody>
          <a:bodyPr/>
          <a:lstStyle/>
          <a:p>
            <a:r>
              <a:rPr lang="en-US"/>
              <a:t>Slide Guidance 1</a:t>
            </a:r>
            <a:endParaRPr lang="en-US" sz="1200"/>
          </a:p>
        </p:txBody>
      </p:sp>
      <p:sp>
        <p:nvSpPr>
          <p:cNvPr id="6" name="Text Placeholder 5">
            <a:extLst>
              <a:ext uri="{FF2B5EF4-FFF2-40B4-BE49-F238E27FC236}">
                <a16:creationId xmlns:a16="http://schemas.microsoft.com/office/drawing/2014/main" id="{2D73E1EA-8C07-16D4-66E7-DAC40DB6DFC7}"/>
              </a:ext>
            </a:extLst>
          </p:cNvPr>
          <p:cNvSpPr>
            <a:spLocks noGrp="1"/>
          </p:cNvSpPr>
          <p:nvPr>
            <p:ph type="body" idx="1"/>
          </p:nvPr>
        </p:nvSpPr>
        <p:spPr/>
        <p:txBody>
          <a:bodyPr>
            <a:normAutofit fontScale="70000" lnSpcReduction="20000"/>
          </a:bodyPr>
          <a:lstStyle/>
          <a:p>
            <a:pPr marL="342900" indent="-342900">
              <a:buFont typeface="Arial" panose="020B0604020202020204" pitchFamily="34" charset="0"/>
              <a:buChar char="•"/>
            </a:pPr>
            <a:r>
              <a:rPr lang="en-US" b="1"/>
              <a:t>Key Accomplishments: </a:t>
            </a:r>
            <a:r>
              <a:rPr lang="en-US"/>
              <a:t>Identify key accomplishments made over the quarterly period.</a:t>
            </a:r>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b="1"/>
              <a:t>Project Highlights: </a:t>
            </a:r>
            <a:r>
              <a:rPr lang="en-US"/>
              <a:t>A place to put images, test results, etc. that best show the quarterly progress. Mark items that are not to be shared.</a:t>
            </a:r>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b="1"/>
              <a:t>Technology TRL Status: </a:t>
            </a:r>
            <a:r>
              <a:rPr lang="en-US"/>
              <a:t>Describe the purpose of the technology. Provide an assessment of TRL over the quarter. Address why the current rating is justified. Include a slide for each TRL item. The advancement plan should list the tests to be conducted to achieve the planned exit TRL.</a:t>
            </a:r>
          </a:p>
          <a:p>
            <a:pPr marL="342900" indent="-342900">
              <a:buFont typeface="Arial" panose="020B0604020202020204" pitchFamily="34" charset="0"/>
              <a:buChar char="•"/>
            </a:pPr>
            <a:endParaRPr lang="en-US" b="1"/>
          </a:p>
          <a:p>
            <a:pPr marL="342900" indent="-342900">
              <a:buFont typeface="Arial" panose="020B0604020202020204" pitchFamily="34" charset="0"/>
              <a:buChar char="•"/>
            </a:pPr>
            <a:r>
              <a:rPr lang="en-US" b="1"/>
              <a:t>Technology Maturation and Infusion: </a:t>
            </a:r>
            <a:r>
              <a:rPr lang="en-US"/>
              <a:t>Include your current plans for technology maturation and infusion. Maturation refers to continued instrument development through HTIDeS or seeking TRL raising opportunities through suborbital platforms such as sounding rockets, balloons, or a purely tech demo small satellite. Infusion refers to moving the technology into a science mission where the main purpose to achieve science goals. H-FORT and other HPD missions of opportunity would be paths for infusion. Note any recent activity on potential opportunities for either maturation or infusion.</a:t>
            </a:r>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b="1"/>
              <a:t>Science Traceability Matrix: </a:t>
            </a:r>
            <a:r>
              <a:rPr lang="en-US"/>
              <a:t>Include a current snapshot of the STM. Highlight any changes made over the quarter in </a:t>
            </a:r>
            <a:r>
              <a:rPr lang="en-US">
                <a:solidFill>
                  <a:srgbClr val="FF0000"/>
                </a:solidFill>
              </a:rPr>
              <a:t>red</a:t>
            </a:r>
            <a:r>
              <a:rPr lang="en-US"/>
              <a:t>.</a:t>
            </a:r>
          </a:p>
        </p:txBody>
      </p:sp>
      <p:sp>
        <p:nvSpPr>
          <p:cNvPr id="8" name="Slide Number Placeholder 7">
            <a:extLst>
              <a:ext uri="{FF2B5EF4-FFF2-40B4-BE49-F238E27FC236}">
                <a16:creationId xmlns:a16="http://schemas.microsoft.com/office/drawing/2014/main" id="{5B49B564-091C-901C-73C9-07A46401F0D4}"/>
              </a:ext>
            </a:extLst>
          </p:cNvPr>
          <p:cNvSpPr>
            <a:spLocks noGrp="1"/>
          </p:cNvSpPr>
          <p:nvPr>
            <p:ph type="sldNum" sz="quarter" idx="12"/>
          </p:nvPr>
        </p:nvSpPr>
        <p:spPr/>
        <p:txBody>
          <a:bodyPr/>
          <a:lstStyle/>
          <a:p>
            <a:fld id="{88E0E29E-E225-F048-A964-380D52CA58AC}" type="slidenum">
              <a:rPr lang="en-US" smtClean="0"/>
              <a:t>26</a:t>
            </a:fld>
            <a:endParaRPr lang="en-US"/>
          </a:p>
        </p:txBody>
      </p:sp>
    </p:spTree>
    <p:extLst>
      <p:ext uri="{BB962C8B-B14F-4D97-AF65-F5344CB8AC3E}">
        <p14:creationId xmlns:p14="http://schemas.microsoft.com/office/powerpoint/2010/main" val="821245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A8BD7-B2AB-ADA5-E435-42F1BD9941A2}"/>
              </a:ext>
            </a:extLst>
          </p:cNvPr>
          <p:cNvSpPr>
            <a:spLocks noGrp="1"/>
          </p:cNvSpPr>
          <p:nvPr>
            <p:ph type="title"/>
          </p:nvPr>
        </p:nvSpPr>
        <p:spPr/>
        <p:txBody>
          <a:bodyPr/>
          <a:lstStyle/>
          <a:p>
            <a:r>
              <a:rPr lang="en-US"/>
              <a:t>Slide Guidance 2</a:t>
            </a:r>
            <a:endParaRPr lang="en-US" sz="1200"/>
          </a:p>
        </p:txBody>
      </p:sp>
      <p:sp>
        <p:nvSpPr>
          <p:cNvPr id="3" name="Text Placeholder 2">
            <a:extLst>
              <a:ext uri="{FF2B5EF4-FFF2-40B4-BE49-F238E27FC236}">
                <a16:creationId xmlns:a16="http://schemas.microsoft.com/office/drawing/2014/main" id="{9754456E-B034-7F69-401C-ACDB35288A80}"/>
              </a:ext>
            </a:extLst>
          </p:cNvPr>
          <p:cNvSpPr>
            <a:spLocks noGrp="1"/>
          </p:cNvSpPr>
          <p:nvPr>
            <p:ph type="body" idx="1"/>
          </p:nvPr>
        </p:nvSpPr>
        <p:spPr/>
        <p:txBody>
          <a:bodyPr/>
          <a:lstStyle/>
          <a:p>
            <a:pPr marL="285750" indent="-285750">
              <a:buFont typeface="Arial" panose="020B0604020202020204" pitchFamily="34" charset="0"/>
              <a:buChar char="•"/>
            </a:pPr>
            <a:r>
              <a:rPr lang="en-US" sz="1700" b="1"/>
              <a:t>Quad Chart: </a:t>
            </a:r>
            <a:r>
              <a:rPr lang="en-US" sz="1700"/>
              <a:t>The single chart that could be removed and handed to others for an overall summary</a:t>
            </a:r>
          </a:p>
          <a:p>
            <a:pPr marL="742950" lvl="1" indent="-285750">
              <a:buClr>
                <a:schemeClr val="accent2"/>
              </a:buClr>
              <a:buFont typeface="Wingdings" pitchFamily="2" charset="2"/>
              <a:buChar char="§"/>
            </a:pPr>
            <a:r>
              <a:rPr lang="en-US" sz="1400">
                <a:solidFill>
                  <a:schemeClr val="tx1"/>
                </a:solidFill>
              </a:rPr>
              <a:t>Fever Chart: Reference separate guidance chart for more details</a:t>
            </a:r>
          </a:p>
          <a:p>
            <a:pPr marL="742950" lvl="1" indent="-285750">
              <a:buClr>
                <a:schemeClr val="accent2"/>
              </a:buClr>
              <a:buFont typeface="Wingdings" pitchFamily="2" charset="2"/>
              <a:buChar char="§"/>
            </a:pPr>
            <a:r>
              <a:rPr lang="en-US" sz="1400">
                <a:solidFill>
                  <a:schemeClr val="tx1"/>
                </a:solidFill>
              </a:rPr>
              <a:t>Schedule: Identify milestones for your project that will be tracked going forward</a:t>
            </a:r>
          </a:p>
          <a:p>
            <a:pPr marL="742950" lvl="1" indent="-285750">
              <a:buClr>
                <a:schemeClr val="accent2"/>
              </a:buClr>
              <a:buFont typeface="Wingdings" pitchFamily="2" charset="2"/>
              <a:buChar char="§"/>
            </a:pPr>
            <a:r>
              <a:rPr lang="en-US" sz="1400">
                <a:solidFill>
                  <a:schemeClr val="tx1"/>
                </a:solidFill>
              </a:rPr>
              <a:t>Quarterly Highlight: Single most important take-a-way or accomplishment for the quarter</a:t>
            </a:r>
          </a:p>
          <a:p>
            <a:pPr marL="742950" lvl="1" indent="-285750">
              <a:buClr>
                <a:schemeClr val="accent2"/>
              </a:buClr>
              <a:buFont typeface="Wingdings" pitchFamily="2" charset="2"/>
              <a:buChar char="§"/>
            </a:pPr>
            <a:r>
              <a:rPr lang="en-US" sz="1400">
                <a:solidFill>
                  <a:schemeClr val="tx1"/>
                </a:solidFill>
              </a:rPr>
              <a:t>Top Risk: Identify the Top 2 Risks being tracked and provide potential mitigations if these risks were to materialize</a:t>
            </a:r>
          </a:p>
          <a:p>
            <a:endParaRPr lang="en-US" sz="1400"/>
          </a:p>
          <a:p>
            <a:pPr marL="285750" indent="-285750">
              <a:buFont typeface="Arial" panose="020B0604020202020204" pitchFamily="34" charset="0"/>
              <a:buChar char="•"/>
            </a:pPr>
            <a:r>
              <a:rPr lang="en-US" sz="1700" b="1"/>
              <a:t>Budget Reporting: </a:t>
            </a:r>
            <a:r>
              <a:rPr lang="en-US" sz="1700"/>
              <a:t>This is an embedded Excel template – double click to open it. Populate the gray boxes and the blue boxes will automatically calculate. Use the Notes section to provide clarity on the reported values. Create additional slide(s) and Excel template(s) for each partnering institution that is directly funded by NASA (e.g., a NASA Center, etc.).</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700" b="1"/>
              <a:t>Progress Reporting: </a:t>
            </a:r>
            <a:r>
              <a:rPr lang="en-US" sz="1700"/>
              <a:t>Identify the key development items, any issues encountered, and the plans for resolving any issues. These items should be consistent from report to report. Include additional charts, as necessary.</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700" b="1"/>
              <a:t>Planned Accomplishments: </a:t>
            </a:r>
            <a:r>
              <a:rPr lang="en-US" sz="1700"/>
              <a:t>Identify what is planned to be accomplished by the next reporting period.</a:t>
            </a:r>
          </a:p>
        </p:txBody>
      </p:sp>
      <p:sp>
        <p:nvSpPr>
          <p:cNvPr id="4" name="Slide Number Placeholder 3">
            <a:extLst>
              <a:ext uri="{FF2B5EF4-FFF2-40B4-BE49-F238E27FC236}">
                <a16:creationId xmlns:a16="http://schemas.microsoft.com/office/drawing/2014/main" id="{2F469DAF-148A-7525-631F-E52D6259A3D7}"/>
              </a:ext>
            </a:extLst>
          </p:cNvPr>
          <p:cNvSpPr>
            <a:spLocks noGrp="1"/>
          </p:cNvSpPr>
          <p:nvPr>
            <p:ph type="sldNum" sz="quarter" idx="12"/>
          </p:nvPr>
        </p:nvSpPr>
        <p:spPr/>
        <p:txBody>
          <a:bodyPr/>
          <a:lstStyle/>
          <a:p>
            <a:fld id="{88E0E29E-E225-F048-A964-380D52CA58AC}" type="slidenum">
              <a:rPr lang="en-US" smtClean="0"/>
              <a:t>27</a:t>
            </a:fld>
            <a:endParaRPr lang="en-US"/>
          </a:p>
        </p:txBody>
      </p:sp>
    </p:spTree>
    <p:extLst>
      <p:ext uri="{BB962C8B-B14F-4D97-AF65-F5344CB8AC3E}">
        <p14:creationId xmlns:p14="http://schemas.microsoft.com/office/powerpoint/2010/main" val="2495835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50F1-C887-FC78-5A89-0C957B82BE98}"/>
              </a:ext>
            </a:extLst>
          </p:cNvPr>
          <p:cNvSpPr>
            <a:spLocks noGrp="1"/>
          </p:cNvSpPr>
          <p:nvPr>
            <p:ph type="title"/>
          </p:nvPr>
        </p:nvSpPr>
        <p:spPr/>
        <p:txBody>
          <a:bodyPr/>
          <a:lstStyle/>
          <a:p>
            <a:r>
              <a:rPr lang="en-US"/>
              <a:t>Slide Guidance 3</a:t>
            </a:r>
            <a:endParaRPr lang="en-US" sz="1200"/>
          </a:p>
        </p:txBody>
      </p:sp>
      <p:sp>
        <p:nvSpPr>
          <p:cNvPr id="3" name="Text Placeholder 2">
            <a:extLst>
              <a:ext uri="{FF2B5EF4-FFF2-40B4-BE49-F238E27FC236}">
                <a16:creationId xmlns:a16="http://schemas.microsoft.com/office/drawing/2014/main" id="{B7FB1989-A8EA-A8C1-8007-18266B1E9029}"/>
              </a:ext>
            </a:extLst>
          </p:cNvPr>
          <p:cNvSpPr>
            <a:spLocks noGrp="1"/>
          </p:cNvSpPr>
          <p:nvPr>
            <p:ph type="body" idx="1"/>
          </p:nvPr>
        </p:nvSpPr>
        <p:spPr/>
        <p:txBody>
          <a:bodyPr/>
          <a:lstStyle/>
          <a:p>
            <a:pPr marL="342900" indent="-342900">
              <a:buFont typeface="Arial" panose="020B0604020202020204" pitchFamily="34" charset="0"/>
              <a:buChar char="•"/>
            </a:pPr>
            <a:r>
              <a:rPr lang="en-US" sz="1700" b="1"/>
              <a:t>Student Metrics and Support: </a:t>
            </a:r>
            <a:r>
              <a:rPr lang="en-US" sz="1700"/>
              <a:t>Provide totals for student and early career individuals supporting the project and identify where they are contributing. Identify any support needed from HESTO (i.e., reviewer support).</a:t>
            </a:r>
            <a:endParaRPr lang="en-US" sz="1700" b="1"/>
          </a:p>
          <a:p>
            <a:pPr marL="342900" indent="-342900">
              <a:buFont typeface="Arial" panose="020B0604020202020204" pitchFamily="34" charset="0"/>
              <a:buChar char="•"/>
            </a:pPr>
            <a:endParaRPr lang="en-US" sz="1700"/>
          </a:p>
          <a:p>
            <a:pPr marL="342900" indent="-342900">
              <a:buFont typeface="Arial" panose="020B0604020202020204" pitchFamily="34" charset="0"/>
              <a:buChar char="•"/>
            </a:pPr>
            <a:r>
              <a:rPr lang="en-US" sz="1700" b="1"/>
              <a:t>Presentations, Publications, Etc.: </a:t>
            </a:r>
            <a:r>
              <a:rPr lang="en-US" sz="1700"/>
              <a:t>A rolling list of items generated over the course of the project. Include additional tables, as necessary.</a:t>
            </a:r>
          </a:p>
          <a:p>
            <a:pPr marL="342900" indent="-342900">
              <a:buFont typeface="Arial" panose="020B0604020202020204" pitchFamily="34" charset="0"/>
              <a:buChar char="•"/>
            </a:pPr>
            <a:endParaRPr lang="en-US" sz="1700"/>
          </a:p>
          <a:p>
            <a:pPr marL="342900" indent="-342900">
              <a:buFont typeface="Arial" panose="020B0604020202020204" pitchFamily="34" charset="0"/>
              <a:buChar char="•"/>
            </a:pPr>
            <a:r>
              <a:rPr lang="en-US" sz="1700" b="1"/>
              <a:t>Lessons Learned: </a:t>
            </a:r>
            <a:r>
              <a:rPr lang="en-US" sz="1700"/>
              <a:t>Identify lessons learned as you proceed through development. This can include a wide range of topics from test practices, to hardware, to staffing. Consider what may be helpful to others with developments in the HESTO portfolio. This is a rolling list over the course of the project. Include additional tables, as necessary.</a:t>
            </a:r>
          </a:p>
        </p:txBody>
      </p:sp>
      <p:sp>
        <p:nvSpPr>
          <p:cNvPr id="4" name="Slide Number Placeholder 3">
            <a:extLst>
              <a:ext uri="{FF2B5EF4-FFF2-40B4-BE49-F238E27FC236}">
                <a16:creationId xmlns:a16="http://schemas.microsoft.com/office/drawing/2014/main" id="{21F16098-632E-89A3-6D20-9CAE936A0D0C}"/>
              </a:ext>
            </a:extLst>
          </p:cNvPr>
          <p:cNvSpPr>
            <a:spLocks noGrp="1"/>
          </p:cNvSpPr>
          <p:nvPr>
            <p:ph type="sldNum" sz="quarter" idx="12"/>
          </p:nvPr>
        </p:nvSpPr>
        <p:spPr/>
        <p:txBody>
          <a:bodyPr/>
          <a:lstStyle/>
          <a:p>
            <a:fld id="{88E0E29E-E225-F048-A964-380D52CA58AC}" type="slidenum">
              <a:rPr lang="en-US" smtClean="0"/>
              <a:t>28</a:t>
            </a:fld>
            <a:endParaRPr lang="en-US"/>
          </a:p>
        </p:txBody>
      </p:sp>
    </p:spTree>
    <p:extLst>
      <p:ext uri="{BB962C8B-B14F-4D97-AF65-F5344CB8AC3E}">
        <p14:creationId xmlns:p14="http://schemas.microsoft.com/office/powerpoint/2010/main" val="1049387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D0176-77A5-85D5-0D94-40DE2AD9C603}"/>
              </a:ext>
            </a:extLst>
          </p:cNvPr>
          <p:cNvSpPr>
            <a:spLocks noGrp="1"/>
          </p:cNvSpPr>
          <p:nvPr>
            <p:ph type="title"/>
          </p:nvPr>
        </p:nvSpPr>
        <p:spPr>
          <a:xfrm>
            <a:off x="2823882" y="0"/>
            <a:ext cx="7227794" cy="670096"/>
          </a:xfrm>
        </p:spPr>
        <p:txBody>
          <a:bodyPr>
            <a:noAutofit/>
          </a:bodyPr>
          <a:lstStyle/>
          <a:p>
            <a:r>
              <a:rPr lang="en-US" sz="3200"/>
              <a:t>Strong Relevance and Impact Example</a:t>
            </a:r>
            <a:endParaRPr lang="en-US" sz="1400"/>
          </a:p>
        </p:txBody>
      </p:sp>
      <p:sp>
        <p:nvSpPr>
          <p:cNvPr id="4" name="Text Placeholder 4">
            <a:extLst>
              <a:ext uri="{FF2B5EF4-FFF2-40B4-BE49-F238E27FC236}">
                <a16:creationId xmlns:a16="http://schemas.microsoft.com/office/drawing/2014/main" id="{F93C2E02-CFC0-C203-BE34-5A74BFDE9BE4}"/>
              </a:ext>
            </a:extLst>
          </p:cNvPr>
          <p:cNvSpPr>
            <a:spLocks noGrp="1"/>
          </p:cNvSpPr>
          <p:nvPr>
            <p:ph type="body" idx="1"/>
          </p:nvPr>
        </p:nvSpPr>
        <p:spPr>
          <a:xfrm>
            <a:off x="293599" y="1207314"/>
            <a:ext cx="11540591" cy="5443541"/>
          </a:xfrm>
          <a:ln>
            <a:noFill/>
          </a:ln>
        </p:spPr>
        <p:txBody>
          <a:bodyPr vert="horz" lIns="91440" tIns="45720" rIns="91440" bIns="45720" numCol="1" spcCol="182880" rtlCol="0" anchor="t">
            <a:normAutofit lnSpcReduction="10000"/>
          </a:bodyPr>
          <a:lstStyle/>
          <a:p>
            <a:pPr marL="342900" indent="-342900">
              <a:buFont typeface="Arial" panose="020B0604020202020204" pitchFamily="34" charset="0"/>
              <a:buChar char="•"/>
            </a:pPr>
            <a:r>
              <a:rPr lang="en-US" sz="2400">
                <a:solidFill>
                  <a:schemeClr val="tx1"/>
                </a:solidFill>
              </a:rPr>
              <a:t>NASA Science Goals and Objectives</a:t>
            </a:r>
          </a:p>
          <a:p>
            <a:pPr marL="742950" lvl="1" indent="-285750">
              <a:buClr>
                <a:schemeClr val="accent2"/>
              </a:buClr>
              <a:buFont typeface="Wingdings" pitchFamily="2" charset="2"/>
              <a:buChar char="§"/>
            </a:pPr>
            <a:r>
              <a:rPr lang="en-US">
                <a:solidFill>
                  <a:schemeClr val="tx1"/>
                </a:solidFill>
              </a:rPr>
              <a:t>The new magnetometer system enables the study</a:t>
            </a:r>
            <a:r>
              <a:rPr lang="en-US" b="1">
                <a:solidFill>
                  <a:schemeClr val="tx1"/>
                </a:solidFill>
              </a:rPr>
              <a:t> of the fine-scale (&lt;1 km) structure of auroral zone current systems and especially high-frequency (up to 1 kHz) Poynting Flux estimates</a:t>
            </a:r>
            <a:r>
              <a:rPr lang="en-US">
                <a:solidFill>
                  <a:schemeClr val="tx1"/>
                </a:solidFill>
              </a:rPr>
              <a:t>. This directly addresses the objectives of the Geospace Dynamics Constellation (GDC) mission </a:t>
            </a:r>
          </a:p>
          <a:p>
            <a:pPr marL="742950" lvl="1" indent="-285750">
              <a:buClr>
                <a:schemeClr val="accent2"/>
              </a:buClr>
              <a:buFont typeface="Wingdings" pitchFamily="2" charset="2"/>
              <a:buChar char="§"/>
            </a:pPr>
            <a:r>
              <a:rPr lang="en-US" sz="1800">
                <a:solidFill>
                  <a:schemeClr val="tx1"/>
                </a:solidFill>
              </a:rPr>
              <a:t>HyMag provides a reduced SWAP (1U, 1 kg, 1 W) ADCS system that also makes research quality AC and DC magnetic fields (&lt;1 nT DC resolution). The ML Algorithms enable the elimination of booms.</a:t>
            </a:r>
          </a:p>
          <a:p>
            <a:pPr marL="114300" indent="-342900">
              <a:buFont typeface="Arial" panose="020B0604020202020204" pitchFamily="34" charset="0"/>
              <a:buChar char="•"/>
            </a:pPr>
            <a:r>
              <a:rPr lang="en-US">
                <a:solidFill>
                  <a:schemeClr val="tx1"/>
                </a:solidFill>
              </a:rPr>
              <a:t>NASA Agency Goals and Objectives</a:t>
            </a:r>
          </a:p>
          <a:p>
            <a:pPr marL="742950" lvl="1" indent="-285750">
              <a:buClr>
                <a:schemeClr val="accent2"/>
              </a:buClr>
              <a:buFont typeface="Wingdings" pitchFamily="2" charset="2"/>
              <a:buChar char="§"/>
            </a:pPr>
            <a:r>
              <a:rPr lang="en-US" sz="1800">
                <a:solidFill>
                  <a:schemeClr val="tx1"/>
                </a:solidFill>
              </a:rPr>
              <a:t>This technology directly addresses a broad range of NASA objectives including supporting Heliophysics, Lunar, Planetary, Earth and Astrophysics missions. Specifically, the noise algorithms are used in the Artemis Lunar Gateway HERMES/NEMISIS magnetometer instrument and is proposed to support lunar rover investigations.</a:t>
            </a:r>
          </a:p>
          <a:p>
            <a:pPr marL="342900" indent="-342900">
              <a:buFont typeface="Arial" panose="020B0604020202020204" pitchFamily="34" charset="0"/>
              <a:buChar char="•"/>
            </a:pPr>
            <a:r>
              <a:rPr lang="en-US" sz="2400">
                <a:solidFill>
                  <a:schemeClr val="tx1"/>
                </a:solidFill>
              </a:rPr>
              <a:t>Benefit to </a:t>
            </a:r>
            <a:r>
              <a:rPr lang="en-US"/>
              <a:t>the Country</a:t>
            </a:r>
            <a:endParaRPr lang="en-US" sz="2400">
              <a:solidFill>
                <a:schemeClr val="tx1"/>
              </a:solidFill>
            </a:endParaRPr>
          </a:p>
          <a:p>
            <a:pPr marL="742950" lvl="1" indent="-285750">
              <a:buClr>
                <a:schemeClr val="accent2"/>
              </a:buClr>
              <a:buFont typeface="Wingdings" pitchFamily="2" charset="2"/>
              <a:buChar char="§"/>
            </a:pPr>
            <a:r>
              <a:rPr lang="en-US" sz="1800">
                <a:solidFill>
                  <a:schemeClr val="tx1"/>
                </a:solidFill>
              </a:rPr>
              <a:t>The quad-mag technology has been commercialized and licensed to General Orbit Company and targets the science, commercial and defense sector.</a:t>
            </a:r>
          </a:p>
          <a:p>
            <a:pPr marL="742950" lvl="1" indent="-285750">
              <a:buClr>
                <a:schemeClr val="accent2"/>
              </a:buClr>
              <a:buFont typeface="Wingdings" pitchFamily="2" charset="2"/>
              <a:buChar char="§"/>
            </a:pPr>
            <a:r>
              <a:rPr lang="en-US" sz="1800">
                <a:solidFill>
                  <a:schemeClr val="tx1"/>
                </a:solidFill>
              </a:rPr>
              <a:t>ML-enabled sensor array technology reduces the cost and complexity of integrating navigation, localization, and magnetic sensing on any platform enabling lower cost exploration, commercial and national security technology</a:t>
            </a:r>
          </a:p>
          <a:p>
            <a:pPr marL="742950" lvl="1" indent="-285750">
              <a:buClr>
                <a:schemeClr val="accent2"/>
              </a:buClr>
              <a:buFont typeface="Wingdings" pitchFamily="2" charset="2"/>
              <a:buChar char="§"/>
            </a:pPr>
            <a:r>
              <a:rPr lang="en-US" sz="1800">
                <a:solidFill>
                  <a:schemeClr val="tx1"/>
                </a:solidFill>
              </a:rPr>
              <a:t>General Orbit is currently focusing on commercial and scientific satellite customers and plans to expand to drones and aviation applications. </a:t>
            </a:r>
            <a:endParaRPr lang="en-US">
              <a:solidFill>
                <a:schemeClr val="tx1"/>
              </a:solidFill>
            </a:endParaRPr>
          </a:p>
          <a:p>
            <a:endParaRPr lang="en-US">
              <a:solidFill>
                <a:schemeClr val="tx1"/>
              </a:solidFill>
            </a:endParaRPr>
          </a:p>
        </p:txBody>
      </p:sp>
      <p:sp>
        <p:nvSpPr>
          <p:cNvPr id="5" name="Slide Number Placeholder 4">
            <a:extLst>
              <a:ext uri="{FF2B5EF4-FFF2-40B4-BE49-F238E27FC236}">
                <a16:creationId xmlns:a16="http://schemas.microsoft.com/office/drawing/2014/main" id="{173A7DCD-C6D4-A2ED-D26B-A7DA768376CA}"/>
              </a:ext>
            </a:extLst>
          </p:cNvPr>
          <p:cNvSpPr>
            <a:spLocks noGrp="1"/>
          </p:cNvSpPr>
          <p:nvPr>
            <p:ph type="sldNum" sz="quarter" idx="12"/>
          </p:nvPr>
        </p:nvSpPr>
        <p:spPr/>
        <p:txBody>
          <a:bodyPr/>
          <a:lstStyle/>
          <a:p>
            <a:fld id="{88E0E29E-E225-F048-A964-380D52CA58AC}" type="slidenum">
              <a:rPr lang="en-US" smtClean="0"/>
              <a:t>29</a:t>
            </a:fld>
            <a:endParaRPr lang="en-US"/>
          </a:p>
        </p:txBody>
      </p:sp>
      <p:sp>
        <p:nvSpPr>
          <p:cNvPr id="3" name="TextBox 2">
            <a:extLst>
              <a:ext uri="{FF2B5EF4-FFF2-40B4-BE49-F238E27FC236}">
                <a16:creationId xmlns:a16="http://schemas.microsoft.com/office/drawing/2014/main" id="{B3D3D9FD-A8BF-27ED-5EC5-533C3ECCAA8E}"/>
              </a:ext>
            </a:extLst>
          </p:cNvPr>
          <p:cNvSpPr txBox="1"/>
          <p:nvPr/>
        </p:nvSpPr>
        <p:spPr>
          <a:xfrm>
            <a:off x="9351045" y="857765"/>
            <a:ext cx="2009105" cy="369332"/>
          </a:xfrm>
          <a:prstGeom prst="rect">
            <a:avLst/>
          </a:prstGeom>
          <a:solidFill>
            <a:schemeClr val="accent1"/>
          </a:solidFill>
        </p:spPr>
        <p:txBody>
          <a:bodyPr wrap="square" rtlCol="0">
            <a:spAutoFit/>
          </a:bodyPr>
          <a:lstStyle/>
          <a:p>
            <a:pPr algn="ctr"/>
            <a:r>
              <a:rPr lang="en-US">
                <a:solidFill>
                  <a:schemeClr val="bg1"/>
                </a:solidFill>
              </a:rPr>
              <a:t>New Slide</a:t>
            </a:r>
          </a:p>
        </p:txBody>
      </p:sp>
    </p:spTree>
    <p:extLst>
      <p:ext uri="{BB962C8B-B14F-4D97-AF65-F5344CB8AC3E}">
        <p14:creationId xmlns:p14="http://schemas.microsoft.com/office/powerpoint/2010/main" val="4739352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FC1A-1C9A-FD3F-8EC6-248F7C23956F}"/>
              </a:ext>
            </a:extLst>
          </p:cNvPr>
          <p:cNvSpPr>
            <a:spLocks noGrp="1"/>
          </p:cNvSpPr>
          <p:nvPr>
            <p:ph type="title"/>
          </p:nvPr>
        </p:nvSpPr>
        <p:spPr/>
        <p:txBody>
          <a:bodyPr/>
          <a:lstStyle/>
          <a:p>
            <a:r>
              <a:rPr lang="en-US"/>
              <a:t>Fever Chart Guidance</a:t>
            </a:r>
          </a:p>
        </p:txBody>
      </p:sp>
      <p:sp>
        <p:nvSpPr>
          <p:cNvPr id="4" name="TextBox 3">
            <a:extLst>
              <a:ext uri="{FF2B5EF4-FFF2-40B4-BE49-F238E27FC236}">
                <a16:creationId xmlns:a16="http://schemas.microsoft.com/office/drawing/2014/main" id="{F3DD591F-60EC-16F2-2C3F-601526DA2B7B}"/>
              </a:ext>
            </a:extLst>
          </p:cNvPr>
          <p:cNvSpPr txBox="1"/>
          <p:nvPr/>
        </p:nvSpPr>
        <p:spPr>
          <a:xfrm>
            <a:off x="3180125" y="5457045"/>
            <a:ext cx="7630813" cy="738664"/>
          </a:xfrm>
          <a:prstGeom prst="rect">
            <a:avLst/>
          </a:prstGeom>
          <a:noFill/>
        </p:spPr>
        <p:txBody>
          <a:bodyPr wrap="square" rtlCol="0">
            <a:spAutoFit/>
          </a:bodyPr>
          <a:lstStyle/>
          <a:p>
            <a:r>
              <a:rPr lang="en-US" sz="1400"/>
              <a:t>G/Green – No issues and proceeding as planned</a:t>
            </a:r>
          </a:p>
          <a:p>
            <a:r>
              <a:rPr lang="en-US" sz="1400"/>
              <a:t>Y/Yellow – Issues encountered, able to address internal to the project, working to get back on plan</a:t>
            </a:r>
          </a:p>
          <a:p>
            <a:r>
              <a:rPr lang="en-US" sz="1400"/>
              <a:t>R/Red – Issues encountered, cannot get back on plan, require external assistance</a:t>
            </a:r>
          </a:p>
        </p:txBody>
      </p:sp>
      <p:sp>
        <p:nvSpPr>
          <p:cNvPr id="5" name="TextBox 4">
            <a:extLst>
              <a:ext uri="{FF2B5EF4-FFF2-40B4-BE49-F238E27FC236}">
                <a16:creationId xmlns:a16="http://schemas.microsoft.com/office/drawing/2014/main" id="{B5507F50-E622-FC9E-827A-3B6A6DCBA3E1}"/>
              </a:ext>
            </a:extLst>
          </p:cNvPr>
          <p:cNvSpPr txBox="1"/>
          <p:nvPr/>
        </p:nvSpPr>
        <p:spPr>
          <a:xfrm>
            <a:off x="9266494" y="3259189"/>
            <a:ext cx="2012999" cy="738664"/>
          </a:xfrm>
          <a:prstGeom prst="rect">
            <a:avLst/>
          </a:prstGeom>
          <a:noFill/>
        </p:spPr>
        <p:txBody>
          <a:bodyPr wrap="square" rtlCol="0">
            <a:spAutoFit/>
          </a:bodyPr>
          <a:lstStyle/>
          <a:p>
            <a:r>
              <a:rPr lang="en-US" sz="1400"/>
              <a:t>Description of why the particular Fever Color was selected</a:t>
            </a:r>
          </a:p>
        </p:txBody>
      </p:sp>
      <p:sp>
        <p:nvSpPr>
          <p:cNvPr id="6" name="Right Brace 5">
            <a:extLst>
              <a:ext uri="{FF2B5EF4-FFF2-40B4-BE49-F238E27FC236}">
                <a16:creationId xmlns:a16="http://schemas.microsoft.com/office/drawing/2014/main" id="{E0680308-DFED-93B9-C32B-FB4A13492AF2}"/>
              </a:ext>
            </a:extLst>
          </p:cNvPr>
          <p:cNvSpPr/>
          <p:nvPr/>
        </p:nvSpPr>
        <p:spPr>
          <a:xfrm>
            <a:off x="8513203" y="2333985"/>
            <a:ext cx="753291" cy="2769499"/>
          </a:xfrm>
          <a:prstGeom prst="rightBrace">
            <a:avLst>
              <a:gd name="adj1" fmla="val 8333"/>
              <a:gd name="adj2" fmla="val 4949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B321B6E0-3168-99EE-DD9C-DA8E14461A84}"/>
              </a:ext>
            </a:extLst>
          </p:cNvPr>
          <p:cNvSpPr txBox="1"/>
          <p:nvPr/>
        </p:nvSpPr>
        <p:spPr>
          <a:xfrm>
            <a:off x="207780" y="4616970"/>
            <a:ext cx="2516469" cy="738664"/>
          </a:xfrm>
          <a:prstGeom prst="rect">
            <a:avLst/>
          </a:prstGeom>
          <a:noFill/>
        </p:spPr>
        <p:txBody>
          <a:bodyPr wrap="square" rtlCol="0">
            <a:spAutoFit/>
          </a:bodyPr>
          <a:lstStyle/>
          <a:p>
            <a:r>
              <a:rPr lang="en-US" sz="1400"/>
              <a:t>Overall, Fever Color - reflects the least favorable color of </a:t>
            </a:r>
            <a:br>
              <a:rPr lang="en-US" sz="1400"/>
            </a:br>
            <a:r>
              <a:rPr lang="en-US" sz="1400"/>
              <a:t>the group</a:t>
            </a:r>
          </a:p>
        </p:txBody>
      </p:sp>
      <p:cxnSp>
        <p:nvCxnSpPr>
          <p:cNvPr id="8" name="Straight Arrow Connector 7">
            <a:extLst>
              <a:ext uri="{FF2B5EF4-FFF2-40B4-BE49-F238E27FC236}">
                <a16:creationId xmlns:a16="http://schemas.microsoft.com/office/drawing/2014/main" id="{ADF386B3-171C-8763-B5D9-03699D578948}"/>
              </a:ext>
            </a:extLst>
          </p:cNvPr>
          <p:cNvCxnSpPr>
            <a:cxnSpLocks/>
          </p:cNvCxnSpPr>
          <p:nvPr/>
        </p:nvCxnSpPr>
        <p:spPr>
          <a:xfrm>
            <a:off x="2445488" y="5028834"/>
            <a:ext cx="7346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C364E16-26D7-D5FD-032E-6FEB6F316A0B}"/>
              </a:ext>
            </a:extLst>
          </p:cNvPr>
          <p:cNvSpPr txBox="1"/>
          <p:nvPr/>
        </p:nvSpPr>
        <p:spPr>
          <a:xfrm>
            <a:off x="7810670" y="915134"/>
            <a:ext cx="4541874" cy="307777"/>
          </a:xfrm>
          <a:prstGeom prst="rect">
            <a:avLst/>
          </a:prstGeom>
          <a:noFill/>
        </p:spPr>
        <p:txBody>
          <a:bodyPr wrap="square" lIns="91440" tIns="45720" rIns="91440" bIns="45720" rtlCol="0" anchor="t">
            <a:spAutoFit/>
          </a:bodyPr>
          <a:lstStyle/>
          <a:p>
            <a:r>
              <a:rPr lang="en-US" sz="1400" b="1"/>
              <a:t>Example represents a triannual report in January</a:t>
            </a:r>
          </a:p>
        </p:txBody>
      </p:sp>
      <p:graphicFrame>
        <p:nvGraphicFramePr>
          <p:cNvPr id="10" name="Table 9">
            <a:extLst>
              <a:ext uri="{FF2B5EF4-FFF2-40B4-BE49-F238E27FC236}">
                <a16:creationId xmlns:a16="http://schemas.microsoft.com/office/drawing/2014/main" id="{3ABBFEC9-C857-781B-AE9F-1457FDB66ACB}"/>
              </a:ext>
            </a:extLst>
          </p:cNvPr>
          <p:cNvGraphicFramePr>
            <a:graphicFrameLocks noGrp="1"/>
          </p:cNvGraphicFramePr>
          <p:nvPr>
            <p:extLst>
              <p:ext uri="{D42A27DB-BD31-4B8C-83A1-F6EECF244321}">
                <p14:modId xmlns:p14="http://schemas.microsoft.com/office/powerpoint/2010/main" val="2224991749"/>
              </p:ext>
            </p:extLst>
          </p:nvPr>
        </p:nvGraphicFramePr>
        <p:xfrm>
          <a:off x="3214397" y="1785106"/>
          <a:ext cx="5138266" cy="3518050"/>
        </p:xfrm>
        <a:graphic>
          <a:graphicData uri="http://schemas.openxmlformats.org/drawingml/2006/table">
            <a:tbl>
              <a:tblPr firstRow="1" bandRow="1">
                <a:tableStyleId>{073A0DAA-6AF3-43AB-8588-CEC1D06C72B9}</a:tableStyleId>
              </a:tblPr>
              <a:tblGrid>
                <a:gridCol w="682047">
                  <a:extLst>
                    <a:ext uri="{9D8B030D-6E8A-4147-A177-3AD203B41FA5}">
                      <a16:colId xmlns:a16="http://schemas.microsoft.com/office/drawing/2014/main" val="20000"/>
                    </a:ext>
                  </a:extLst>
                </a:gridCol>
                <a:gridCol w="457293">
                  <a:extLst>
                    <a:ext uri="{9D8B030D-6E8A-4147-A177-3AD203B41FA5}">
                      <a16:colId xmlns:a16="http://schemas.microsoft.com/office/drawing/2014/main" val="3476331583"/>
                    </a:ext>
                  </a:extLst>
                </a:gridCol>
                <a:gridCol w="531530">
                  <a:extLst>
                    <a:ext uri="{9D8B030D-6E8A-4147-A177-3AD203B41FA5}">
                      <a16:colId xmlns:a16="http://schemas.microsoft.com/office/drawing/2014/main" val="759071413"/>
                    </a:ext>
                  </a:extLst>
                </a:gridCol>
                <a:gridCol w="3467396">
                  <a:extLst>
                    <a:ext uri="{9D8B030D-6E8A-4147-A177-3AD203B41FA5}">
                      <a16:colId xmlns:a16="http://schemas.microsoft.com/office/drawing/2014/main" val="20004"/>
                    </a:ext>
                  </a:extLst>
                </a:gridCol>
              </a:tblGrid>
              <a:tr h="361360">
                <a:tc>
                  <a:txBody>
                    <a:bodyPr/>
                    <a:lstStyle/>
                    <a:p>
                      <a:pPr algn="ctr"/>
                      <a:r>
                        <a:rPr lang="en-US" sz="1050">
                          <a:latin typeface="+mn-lt"/>
                        </a:rPr>
                        <a:t>Month</a:t>
                      </a:r>
                    </a:p>
                  </a:txBody>
                  <a:tcPr anchor="ctr"/>
                </a:tc>
                <a:tc>
                  <a:txBody>
                    <a:bodyPr/>
                    <a:lstStyle/>
                    <a:p>
                      <a:pPr lvl="0" algn="ctr">
                        <a:buNone/>
                      </a:pPr>
                      <a:r>
                        <a:rPr lang="en-US" sz="650">
                          <a:latin typeface="+mn-lt"/>
                        </a:rPr>
                        <a:t>Prior</a:t>
                      </a:r>
                    </a:p>
                  </a:txBody>
                  <a:tcPr anchor="ctr"/>
                </a:tc>
                <a:tc>
                  <a:txBody>
                    <a:bodyPr/>
                    <a:lstStyle/>
                    <a:p>
                      <a:pPr lvl="0" algn="ctr">
                        <a:buNone/>
                      </a:pPr>
                      <a:r>
                        <a:rPr lang="en-US" sz="650">
                          <a:latin typeface="+mn-lt"/>
                        </a:rPr>
                        <a:t>Current</a:t>
                      </a:r>
                    </a:p>
                  </a:txBody>
                  <a:tcPr anchor="ctr"/>
                </a:tc>
                <a:tc>
                  <a:txBody>
                    <a:bodyPr/>
                    <a:lstStyle/>
                    <a:p>
                      <a:pPr algn="ctr"/>
                      <a:r>
                        <a:rPr lang="en-US" sz="1050">
                          <a:latin typeface="+mn-lt"/>
                        </a:rPr>
                        <a:t>Rationale/Status</a:t>
                      </a:r>
                    </a:p>
                  </a:txBody>
                  <a:tcPr anchor="ctr"/>
                </a:tc>
                <a:extLst>
                  <a:ext uri="{0D108BD9-81ED-4DB2-BD59-A6C34878D82A}">
                    <a16:rowId xmlns:a16="http://schemas.microsoft.com/office/drawing/2014/main" val="10000"/>
                  </a:ext>
                </a:extLst>
              </a:tr>
              <a:tr h="550017">
                <a:tc>
                  <a:txBody>
                    <a:bodyPr/>
                    <a:lstStyle/>
                    <a:p>
                      <a:r>
                        <a:rPr lang="en-US" sz="800" b="1">
                          <a:latin typeface="+mn-lt"/>
                        </a:rPr>
                        <a:t>Cost</a:t>
                      </a:r>
                    </a:p>
                  </a:txBody>
                  <a:tcPr anchor="ctr">
                    <a:solidFill>
                      <a:srgbClr val="CBCBCB"/>
                    </a:solidFill>
                  </a:tcPr>
                </a:tc>
                <a:tc>
                  <a:txBody>
                    <a:bodyPr/>
                    <a:lstStyle/>
                    <a:p>
                      <a:pPr algn="ctr"/>
                      <a:r>
                        <a:rPr lang="en-US" sz="800">
                          <a:latin typeface="+mn-lt"/>
                        </a:rPr>
                        <a:t>Y</a:t>
                      </a:r>
                    </a:p>
                  </a:txBody>
                  <a:tcPr anchor="ctr">
                    <a:solidFill>
                      <a:srgbClr val="FFFF00"/>
                    </a:solidFill>
                  </a:tcPr>
                </a:tc>
                <a:tc>
                  <a:txBody>
                    <a:bodyPr/>
                    <a:lstStyle/>
                    <a:p>
                      <a:pPr algn="ctr"/>
                      <a:r>
                        <a:rPr lang="en-US" sz="800">
                          <a:latin typeface="+mn-lt"/>
                        </a:rPr>
                        <a:t>Y</a:t>
                      </a:r>
                    </a:p>
                  </a:txBody>
                  <a:tcPr anchor="ctr">
                    <a:solidFill>
                      <a:srgbClr val="FFFF00"/>
                    </a:solidFill>
                  </a:tcPr>
                </a:tc>
                <a:tc>
                  <a:txBody>
                    <a:bodyPr/>
                    <a:lstStyle/>
                    <a:p>
                      <a:r>
                        <a:rPr lang="en-US" sz="900" baseline="0">
                          <a:latin typeface="+mn-lt"/>
                        </a:rPr>
                        <a:t>Discuss any issues with spending your funding, needs for augmentation, etc.</a:t>
                      </a:r>
                    </a:p>
                  </a:txBody>
                  <a:tcPr anchor="ctr">
                    <a:solidFill>
                      <a:srgbClr val="CBCBCB"/>
                    </a:solidFill>
                  </a:tcPr>
                </a:tc>
                <a:extLst>
                  <a:ext uri="{0D108BD9-81ED-4DB2-BD59-A6C34878D82A}">
                    <a16:rowId xmlns:a16="http://schemas.microsoft.com/office/drawing/2014/main" val="10001"/>
                  </a:ext>
                </a:extLst>
              </a:tr>
              <a:tr h="423540">
                <a:tc>
                  <a:txBody>
                    <a:bodyPr/>
                    <a:lstStyle/>
                    <a:p>
                      <a:r>
                        <a:rPr lang="en-US" sz="800" b="1">
                          <a:latin typeface="+mn-lt"/>
                        </a:rPr>
                        <a:t>Schedule</a:t>
                      </a:r>
                    </a:p>
                  </a:txBody>
                  <a:tcPr anchor="ctr">
                    <a:solidFill>
                      <a:srgbClr val="E7E7E7"/>
                    </a:solidFill>
                  </a:tcPr>
                </a:tc>
                <a:tc>
                  <a:txBody>
                    <a:bodyPr/>
                    <a:lstStyle/>
                    <a:p>
                      <a:pPr algn="ctr"/>
                      <a:r>
                        <a:rPr lang="en-US" sz="800">
                          <a:latin typeface="+mn-lt"/>
                        </a:rPr>
                        <a:t>G</a:t>
                      </a:r>
                    </a:p>
                  </a:txBody>
                  <a:tcPr anchor="ctr">
                    <a:solidFill>
                      <a:srgbClr val="00B050"/>
                    </a:solidFill>
                  </a:tcPr>
                </a:tc>
                <a:tc>
                  <a:txBody>
                    <a:bodyPr/>
                    <a:lstStyle/>
                    <a:p>
                      <a:pPr algn="ctr"/>
                      <a:r>
                        <a:rPr lang="en-US" sz="80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a:latin typeface="+mn-lt"/>
                        </a:rPr>
                        <a:t>Noteworthy changes in your original development schedule. </a:t>
                      </a:r>
                    </a:p>
                  </a:txBody>
                  <a:tcPr anchor="ctr">
                    <a:solidFill>
                      <a:srgbClr val="E7E7E7"/>
                    </a:solidFill>
                  </a:tcPr>
                </a:tc>
                <a:extLst>
                  <a:ext uri="{0D108BD9-81ED-4DB2-BD59-A6C34878D82A}">
                    <a16:rowId xmlns:a16="http://schemas.microsoft.com/office/drawing/2014/main" val="10002"/>
                  </a:ext>
                </a:extLst>
              </a:tr>
              <a:tr h="556259">
                <a:tc>
                  <a:txBody>
                    <a:bodyPr/>
                    <a:lstStyle/>
                    <a:p>
                      <a:r>
                        <a:rPr lang="en-US" sz="800" b="1">
                          <a:latin typeface="+mn-lt"/>
                        </a:rPr>
                        <a:t>Technical</a:t>
                      </a:r>
                    </a:p>
                  </a:txBody>
                  <a:tcPr anchor="ctr"/>
                </a:tc>
                <a:tc>
                  <a:txBody>
                    <a:bodyPr/>
                    <a:lstStyle/>
                    <a:p>
                      <a:pPr algn="ctr"/>
                      <a:r>
                        <a:rPr lang="en-US" sz="800">
                          <a:latin typeface="+mn-lt"/>
                        </a:rPr>
                        <a:t>G</a:t>
                      </a:r>
                    </a:p>
                  </a:txBody>
                  <a:tcPr anchor="ctr">
                    <a:solidFill>
                      <a:srgbClr val="00B050"/>
                    </a:solidFill>
                  </a:tcPr>
                </a:tc>
                <a:tc>
                  <a:txBody>
                    <a:bodyPr/>
                    <a:lstStyle/>
                    <a:p>
                      <a:pPr algn="ctr"/>
                      <a:r>
                        <a:rPr lang="en-US" sz="80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a:latin typeface="+mn-lt"/>
                        </a:rPr>
                        <a:t>Summary of technical accomplishments or setbacks experienced since last report.</a:t>
                      </a:r>
                    </a:p>
                  </a:txBody>
                  <a:tcPr anchor="ctr">
                    <a:solidFill>
                      <a:srgbClr val="CBCBCB"/>
                    </a:solidFill>
                  </a:tcPr>
                </a:tc>
                <a:extLst>
                  <a:ext uri="{0D108BD9-81ED-4DB2-BD59-A6C34878D82A}">
                    <a16:rowId xmlns:a16="http://schemas.microsoft.com/office/drawing/2014/main" val="10003"/>
                  </a:ext>
                </a:extLst>
              </a:tr>
              <a:tr h="550017">
                <a:tc>
                  <a:txBody>
                    <a:bodyPr/>
                    <a:lstStyle/>
                    <a:p>
                      <a:r>
                        <a:rPr lang="en-US" sz="800" b="1">
                          <a:latin typeface="+mn-lt"/>
                        </a:rPr>
                        <a:t>Staffing</a:t>
                      </a:r>
                    </a:p>
                  </a:txBody>
                  <a:tcPr anchor="ctr"/>
                </a:tc>
                <a:tc>
                  <a:txBody>
                    <a:bodyPr/>
                    <a:lstStyle/>
                    <a:p>
                      <a:pPr algn="ctr"/>
                      <a:r>
                        <a:rPr lang="en-US" sz="800">
                          <a:latin typeface="+mn-lt"/>
                        </a:rPr>
                        <a:t>G</a:t>
                      </a:r>
                    </a:p>
                  </a:txBody>
                  <a:tcPr anchor="ctr">
                    <a:solidFill>
                      <a:srgbClr val="00B050"/>
                    </a:solidFill>
                  </a:tcPr>
                </a:tc>
                <a:tc>
                  <a:txBody>
                    <a:bodyPr/>
                    <a:lstStyle/>
                    <a:p>
                      <a:pPr algn="ctr"/>
                      <a:r>
                        <a:rPr lang="en-US" sz="80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latin typeface="+mn-lt"/>
                        </a:rPr>
                        <a:t>Noteworthy developments with PI, Co-I or other personnel working on award during this period.</a:t>
                      </a:r>
                    </a:p>
                  </a:txBody>
                  <a:tcPr anchor="ctr">
                    <a:solidFill>
                      <a:srgbClr val="E7E7E7"/>
                    </a:solidFill>
                  </a:tcPr>
                </a:tc>
                <a:extLst>
                  <a:ext uri="{0D108BD9-81ED-4DB2-BD59-A6C34878D82A}">
                    <a16:rowId xmlns:a16="http://schemas.microsoft.com/office/drawing/2014/main" val="10004"/>
                  </a:ext>
                </a:extLst>
              </a:tr>
              <a:tr h="550017">
                <a:tc>
                  <a:txBody>
                    <a:bodyPr/>
                    <a:lstStyle/>
                    <a:p>
                      <a:r>
                        <a:rPr lang="en-US" sz="800" b="1">
                          <a:latin typeface="+mn-lt"/>
                        </a:rPr>
                        <a:t>Facilities</a:t>
                      </a:r>
                    </a:p>
                  </a:txBody>
                  <a:tcPr anchor="ctr"/>
                </a:tc>
                <a:tc>
                  <a:txBody>
                    <a:bodyPr/>
                    <a:lstStyle/>
                    <a:p>
                      <a:pPr algn="ctr"/>
                      <a:r>
                        <a:rPr lang="en-US" sz="800">
                          <a:latin typeface="+mn-lt"/>
                        </a:rPr>
                        <a:t>G</a:t>
                      </a:r>
                    </a:p>
                  </a:txBody>
                  <a:tcPr anchor="ctr">
                    <a:solidFill>
                      <a:srgbClr val="00B050"/>
                    </a:solidFill>
                  </a:tcPr>
                </a:tc>
                <a:tc>
                  <a:txBody>
                    <a:bodyPr/>
                    <a:lstStyle/>
                    <a:p>
                      <a:pPr algn="ctr"/>
                      <a:r>
                        <a:rPr lang="en-US" sz="800">
                          <a:latin typeface="+mn-lt"/>
                        </a:rPr>
                        <a:t>G</a:t>
                      </a:r>
                    </a:p>
                  </a:txBody>
                  <a:tcPr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aseline="0">
                          <a:latin typeface="+mn-lt"/>
                        </a:rPr>
                        <a:t>Summary of any facility or lab related developments</a:t>
                      </a:r>
                    </a:p>
                  </a:txBody>
                  <a:tcPr anchor="ctr">
                    <a:solidFill>
                      <a:srgbClr val="CBCBCB"/>
                    </a:solidFill>
                  </a:tcPr>
                </a:tc>
                <a:extLst>
                  <a:ext uri="{0D108BD9-81ED-4DB2-BD59-A6C34878D82A}">
                    <a16:rowId xmlns:a16="http://schemas.microsoft.com/office/drawing/2014/main" val="10005"/>
                  </a:ext>
                </a:extLst>
              </a:tr>
              <a:tr h="526840">
                <a:tc>
                  <a:txBody>
                    <a:bodyPr/>
                    <a:lstStyle/>
                    <a:p>
                      <a:r>
                        <a:rPr lang="en-US" sz="800" b="1">
                          <a:latin typeface="+mn-lt"/>
                        </a:rPr>
                        <a:t>Overall</a:t>
                      </a:r>
                    </a:p>
                  </a:txBody>
                  <a:tcPr anchor="ctr"/>
                </a:tc>
                <a:tc>
                  <a:txBody>
                    <a:bodyPr/>
                    <a:lstStyle/>
                    <a:p>
                      <a:pPr algn="ctr"/>
                      <a:r>
                        <a:rPr lang="en-US" sz="800">
                          <a:latin typeface="+mn-lt"/>
                        </a:rPr>
                        <a:t>Y</a:t>
                      </a:r>
                    </a:p>
                  </a:txBody>
                  <a:tcPr anchor="ctr">
                    <a:solidFill>
                      <a:srgbClr val="FFFF00"/>
                    </a:solidFill>
                  </a:tcPr>
                </a:tc>
                <a:tc>
                  <a:txBody>
                    <a:bodyPr/>
                    <a:lstStyle/>
                    <a:p>
                      <a:pPr algn="ctr"/>
                      <a:r>
                        <a:rPr lang="en-US" sz="800">
                          <a:latin typeface="+mn-lt"/>
                        </a:rPr>
                        <a:t>Y</a:t>
                      </a:r>
                    </a:p>
                  </a:txBody>
                  <a:tcPr anchor="ctr">
                    <a:solidFill>
                      <a:srgbClr val="FFFF00"/>
                    </a:solidFill>
                  </a:tcPr>
                </a:tc>
                <a:tc>
                  <a:txBody>
                    <a:bodyPr/>
                    <a:lstStyle/>
                    <a:p>
                      <a:pPr marL="0" marR="0" lvl="0" indent="0" algn="l">
                        <a:lnSpc>
                          <a:spcPct val="100000"/>
                        </a:lnSpc>
                        <a:spcBef>
                          <a:spcPts val="0"/>
                        </a:spcBef>
                        <a:spcAft>
                          <a:spcPts val="0"/>
                        </a:spcAft>
                        <a:buNone/>
                      </a:pPr>
                      <a:r>
                        <a:rPr lang="en-US" sz="900" b="0" i="0" u="none" strike="noStrike" baseline="0" noProof="0">
                          <a:latin typeface="+mn-lt"/>
                        </a:rPr>
                        <a:t>Overall assessment of progress or lack thereof during the quarter.</a:t>
                      </a:r>
                    </a:p>
                  </a:txBody>
                  <a:tcPr anchor="ctr">
                    <a:solidFill>
                      <a:srgbClr val="E7E7E7"/>
                    </a:solidFill>
                  </a:tcPr>
                </a:tc>
                <a:extLst>
                  <a:ext uri="{0D108BD9-81ED-4DB2-BD59-A6C34878D82A}">
                    <a16:rowId xmlns:a16="http://schemas.microsoft.com/office/drawing/2014/main" val="10006"/>
                  </a:ext>
                </a:extLst>
              </a:tr>
            </a:tbl>
          </a:graphicData>
        </a:graphic>
      </p:graphicFrame>
      <p:sp>
        <p:nvSpPr>
          <p:cNvPr id="12" name="Slide Number Placeholder 11">
            <a:extLst>
              <a:ext uri="{FF2B5EF4-FFF2-40B4-BE49-F238E27FC236}">
                <a16:creationId xmlns:a16="http://schemas.microsoft.com/office/drawing/2014/main" id="{A5A79579-97AE-EAD8-A381-BD97156232CE}"/>
              </a:ext>
            </a:extLst>
          </p:cNvPr>
          <p:cNvSpPr>
            <a:spLocks noGrp="1"/>
          </p:cNvSpPr>
          <p:nvPr>
            <p:ph type="sldNum" sz="quarter" idx="12"/>
          </p:nvPr>
        </p:nvSpPr>
        <p:spPr/>
        <p:txBody>
          <a:bodyPr/>
          <a:lstStyle/>
          <a:p>
            <a:fld id="{88E0E29E-E225-F048-A964-380D52CA58AC}" type="slidenum">
              <a:rPr lang="en-US" smtClean="0"/>
              <a:t>30</a:t>
            </a:fld>
            <a:endParaRPr lang="en-US"/>
          </a:p>
        </p:txBody>
      </p:sp>
    </p:spTree>
    <p:extLst>
      <p:ext uri="{BB962C8B-B14F-4D97-AF65-F5344CB8AC3E}">
        <p14:creationId xmlns:p14="http://schemas.microsoft.com/office/powerpoint/2010/main" val="3453040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440EE-D144-180A-9A7A-C031FDBD69BE}"/>
              </a:ext>
            </a:extLst>
          </p:cNvPr>
          <p:cNvSpPr>
            <a:spLocks noGrp="1"/>
          </p:cNvSpPr>
          <p:nvPr>
            <p:ph type="title"/>
          </p:nvPr>
        </p:nvSpPr>
        <p:spPr/>
        <p:txBody>
          <a:bodyPr/>
          <a:lstStyle/>
          <a:p>
            <a:r>
              <a:rPr lang="en-US"/>
              <a:t>Budget Report Definitions</a:t>
            </a:r>
          </a:p>
        </p:txBody>
      </p:sp>
      <p:graphicFrame>
        <p:nvGraphicFramePr>
          <p:cNvPr id="4" name="Table 3">
            <a:extLst>
              <a:ext uri="{FF2B5EF4-FFF2-40B4-BE49-F238E27FC236}">
                <a16:creationId xmlns:a16="http://schemas.microsoft.com/office/drawing/2014/main" id="{2C3898E7-54D4-E05D-4D49-EB020DD80B3F}"/>
              </a:ext>
            </a:extLst>
          </p:cNvPr>
          <p:cNvGraphicFramePr>
            <a:graphicFrameLocks noGrp="1"/>
          </p:cNvGraphicFramePr>
          <p:nvPr>
            <p:extLst>
              <p:ext uri="{D42A27DB-BD31-4B8C-83A1-F6EECF244321}">
                <p14:modId xmlns:p14="http://schemas.microsoft.com/office/powerpoint/2010/main" val="2501481325"/>
              </p:ext>
            </p:extLst>
          </p:nvPr>
        </p:nvGraphicFramePr>
        <p:xfrm>
          <a:off x="243840" y="1102522"/>
          <a:ext cx="11626983" cy="5367705"/>
        </p:xfrm>
        <a:graphic>
          <a:graphicData uri="http://schemas.openxmlformats.org/drawingml/2006/table">
            <a:tbl>
              <a:tblPr firstRow="1" bandRow="1">
                <a:tableStyleId>{073A0DAA-6AF3-43AB-8588-CEC1D06C72B9}</a:tableStyleId>
              </a:tblPr>
              <a:tblGrid>
                <a:gridCol w="2360023">
                  <a:extLst>
                    <a:ext uri="{9D8B030D-6E8A-4147-A177-3AD203B41FA5}">
                      <a16:colId xmlns:a16="http://schemas.microsoft.com/office/drawing/2014/main" val="20000"/>
                    </a:ext>
                  </a:extLst>
                </a:gridCol>
                <a:gridCol w="9266960">
                  <a:extLst>
                    <a:ext uri="{9D8B030D-6E8A-4147-A177-3AD203B41FA5}">
                      <a16:colId xmlns:a16="http://schemas.microsoft.com/office/drawing/2014/main" val="20001"/>
                    </a:ext>
                  </a:extLst>
                </a:gridCol>
              </a:tblGrid>
              <a:tr h="298980">
                <a:tc>
                  <a:txBody>
                    <a:bodyPr/>
                    <a:lstStyle/>
                    <a:p>
                      <a:pPr algn="ctr"/>
                      <a:r>
                        <a:rPr lang="en-US" sz="1800">
                          <a:latin typeface="+mn-lt"/>
                        </a:rPr>
                        <a:t>Term</a:t>
                      </a:r>
                    </a:p>
                  </a:txBody>
                  <a:tcPr anchor="ctr"/>
                </a:tc>
                <a:tc>
                  <a:txBody>
                    <a:bodyPr/>
                    <a:lstStyle/>
                    <a:p>
                      <a:pPr algn="ctr"/>
                      <a:r>
                        <a:rPr lang="en-US" sz="1800" i="0">
                          <a:latin typeface="+mn-lt"/>
                        </a:rPr>
                        <a:t>Definition</a:t>
                      </a:r>
                    </a:p>
                  </a:txBody>
                  <a:tcPr anchor="ctr"/>
                </a:tc>
                <a:extLst>
                  <a:ext uri="{0D108BD9-81ED-4DB2-BD59-A6C34878D82A}">
                    <a16:rowId xmlns:a16="http://schemas.microsoft.com/office/drawing/2014/main" val="10000"/>
                  </a:ext>
                </a:extLst>
              </a:tr>
              <a:tr h="537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latin typeface="+mn-lt"/>
                        </a:rPr>
                        <a:t>Original Award Amount</a:t>
                      </a:r>
                    </a:p>
                  </a:txBody>
                  <a:tcPr anchor="ctr"/>
                </a:tc>
                <a:tc>
                  <a:txBody>
                    <a:bodyPr/>
                    <a:lstStyle/>
                    <a:p>
                      <a:r>
                        <a:rPr lang="en-US" sz="1600" baseline="0">
                          <a:latin typeface="+mn-lt"/>
                        </a:rPr>
                        <a:t>The amount of the award recorded in the Proposal Status Summary issued upon the proposal selection</a:t>
                      </a:r>
                    </a:p>
                  </a:txBody>
                  <a:tcPr anchor="ctr"/>
                </a:tc>
                <a:extLst>
                  <a:ext uri="{0D108BD9-81ED-4DB2-BD59-A6C34878D82A}">
                    <a16:rowId xmlns:a16="http://schemas.microsoft.com/office/drawing/2014/main" val="10001"/>
                  </a:ext>
                </a:extLst>
              </a:tr>
              <a:tr h="537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latin typeface="+mn-lt"/>
                        </a:rPr>
                        <a:t>Augmented Amount</a:t>
                      </a:r>
                    </a:p>
                  </a:txBody>
                  <a:tcPr anchor="ctr"/>
                </a:tc>
                <a:tc>
                  <a:txBody>
                    <a:bodyPr/>
                    <a:lstStyle/>
                    <a:p>
                      <a:r>
                        <a:rPr lang="en-US" sz="1600" baseline="0">
                          <a:latin typeface="+mn-lt"/>
                        </a:rPr>
                        <a:t>The amount of additional funding provided through an approved augmentation request</a:t>
                      </a:r>
                    </a:p>
                  </a:txBody>
                  <a:tcPr anchor="ctr"/>
                </a:tc>
                <a:extLst>
                  <a:ext uri="{0D108BD9-81ED-4DB2-BD59-A6C34878D82A}">
                    <a16:rowId xmlns:a16="http://schemas.microsoft.com/office/drawing/2014/main" val="10002"/>
                  </a:ext>
                </a:extLst>
              </a:tr>
              <a:tr h="537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latin typeface="+mn-lt"/>
                        </a:rPr>
                        <a:t>Funded Amount</a:t>
                      </a:r>
                    </a:p>
                  </a:txBody>
                  <a:tcPr anchor="ctr"/>
                </a:tc>
                <a:tc>
                  <a:txBody>
                    <a:bodyPr/>
                    <a:lstStyle/>
                    <a:p>
                      <a:r>
                        <a:rPr lang="en-US" sz="1600" baseline="0">
                          <a:latin typeface="+mn-lt"/>
                        </a:rPr>
                        <a:t>The amount of funding provided by NASA</a:t>
                      </a:r>
                    </a:p>
                  </a:txBody>
                  <a:tcPr anchor="ctr"/>
                </a:tc>
                <a:extLst>
                  <a:ext uri="{0D108BD9-81ED-4DB2-BD59-A6C34878D82A}">
                    <a16:rowId xmlns:a16="http://schemas.microsoft.com/office/drawing/2014/main" val="10003"/>
                  </a:ext>
                </a:extLst>
              </a:tr>
              <a:tr h="537093">
                <a:tc>
                  <a:txBody>
                    <a:bodyPr/>
                    <a:lstStyle/>
                    <a:p>
                      <a:r>
                        <a:rPr lang="en-US" sz="1600" b="1">
                          <a:latin typeface="+mn-lt"/>
                        </a:rPr>
                        <a:t>Remaining Owed</a:t>
                      </a:r>
                    </a:p>
                  </a:txBody>
                  <a:tcPr anchor="ctr"/>
                </a:tc>
                <a:tc>
                  <a:txBody>
                    <a:bodyPr/>
                    <a:lstStyle/>
                    <a:p>
                      <a:r>
                        <a:rPr lang="en-US" sz="1600" baseline="0">
                          <a:latin typeface="+mn-lt"/>
                        </a:rPr>
                        <a:t>The amount of the award that has yet to be provided to the institution (Original Award Amount + Augmented Amount) – Funded Amount)</a:t>
                      </a:r>
                    </a:p>
                  </a:txBody>
                  <a:tcPr anchor="ctr"/>
                </a:tc>
                <a:extLst>
                  <a:ext uri="{0D108BD9-81ED-4DB2-BD59-A6C34878D82A}">
                    <a16:rowId xmlns:a16="http://schemas.microsoft.com/office/drawing/2014/main" val="3064276628"/>
                  </a:ext>
                </a:extLst>
              </a:tr>
              <a:tr h="537093">
                <a:tc>
                  <a:txBody>
                    <a:bodyPr/>
                    <a:lstStyle/>
                    <a:p>
                      <a:r>
                        <a:rPr lang="en-US" sz="1600" b="1">
                          <a:latin typeface="+mn-lt"/>
                        </a:rPr>
                        <a:t>Obligated Amount</a:t>
                      </a:r>
                    </a:p>
                  </a:txBody>
                  <a:tcPr anchor="ctr"/>
                </a:tc>
                <a:tc>
                  <a:txBody>
                    <a:bodyPr/>
                    <a:lstStyle/>
                    <a:p>
                      <a:r>
                        <a:rPr lang="en-US" sz="1600" baseline="0">
                          <a:latin typeface="+mn-lt"/>
                        </a:rPr>
                        <a:t>The funding amount resulting from any action that legally binds the institution to make an outlay or expenditure of funds immediately or in the future</a:t>
                      </a:r>
                    </a:p>
                  </a:txBody>
                  <a:tcPr anchor="ctr"/>
                </a:tc>
                <a:extLst>
                  <a:ext uri="{0D108BD9-81ED-4DB2-BD59-A6C34878D82A}">
                    <a16:rowId xmlns:a16="http://schemas.microsoft.com/office/drawing/2014/main" val="10004"/>
                  </a:ext>
                </a:extLst>
              </a:tr>
              <a:tr h="537093">
                <a:tc>
                  <a:txBody>
                    <a:bodyPr/>
                    <a:lstStyle/>
                    <a:p>
                      <a:r>
                        <a:rPr lang="en-US" sz="1600" b="1">
                          <a:latin typeface="+mn-lt"/>
                        </a:rPr>
                        <a:t>Costed Amount</a:t>
                      </a:r>
                    </a:p>
                  </a:txBody>
                  <a:tcPr anchor="ctr"/>
                </a:tc>
                <a:tc>
                  <a:txBody>
                    <a:bodyPr/>
                    <a:lstStyle/>
                    <a:p>
                      <a:pPr marL="0" marR="0" lvl="0" indent="0" algn="l" rtl="0" eaLnBrk="1" fontAlgn="auto" latinLnBrk="0" hangingPunct="1">
                        <a:lnSpc>
                          <a:spcPct val="100000"/>
                        </a:lnSpc>
                        <a:spcBef>
                          <a:spcPts val="0"/>
                        </a:spcBef>
                        <a:spcAft>
                          <a:spcPts val="0"/>
                        </a:spcAft>
                        <a:buFontTx/>
                        <a:buNone/>
                      </a:pPr>
                      <a:r>
                        <a:rPr lang="en-US" sz="1600" baseline="0">
                          <a:latin typeface="+mn-lt"/>
                        </a:rPr>
                        <a:t>The amount of obligated funding that has been formally spent (Reported to NASA by PI)</a:t>
                      </a:r>
                    </a:p>
                  </a:txBody>
                  <a:tcPr anchor="ctr"/>
                </a:tc>
                <a:extLst>
                  <a:ext uri="{0D108BD9-81ED-4DB2-BD59-A6C34878D82A}">
                    <a16:rowId xmlns:a16="http://schemas.microsoft.com/office/drawing/2014/main" val="10005"/>
                  </a:ext>
                </a:extLst>
              </a:tr>
              <a:tr h="537093">
                <a:tc>
                  <a:txBody>
                    <a:bodyPr/>
                    <a:lstStyle/>
                    <a:p>
                      <a:r>
                        <a:rPr lang="en-US" sz="1600" b="1">
                          <a:latin typeface="+mn-lt"/>
                        </a:rPr>
                        <a:t>Funds</a:t>
                      </a:r>
                      <a:r>
                        <a:rPr lang="en-US" sz="1600" b="1" baseline="0">
                          <a:latin typeface="+mn-lt"/>
                        </a:rPr>
                        <a:t> Remaining</a:t>
                      </a:r>
                      <a:endParaRPr lang="en-US" sz="16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a:latin typeface="+mn-lt"/>
                        </a:rPr>
                        <a:t>The amount of NASA provided funding that has yet to be obligated (Funded Amount – Obligated Amount)</a:t>
                      </a:r>
                    </a:p>
                  </a:txBody>
                  <a:tcPr anchor="ctr"/>
                </a:tc>
                <a:extLst>
                  <a:ext uri="{0D108BD9-81ED-4DB2-BD59-A6C34878D82A}">
                    <a16:rowId xmlns:a16="http://schemas.microsoft.com/office/drawing/2014/main" val="10006"/>
                  </a:ext>
                </a:extLst>
              </a:tr>
              <a:tr h="537093">
                <a:tc>
                  <a:txBody>
                    <a:bodyPr/>
                    <a:lstStyle/>
                    <a:p>
                      <a:r>
                        <a:rPr lang="en-US" sz="1600" b="1">
                          <a:latin typeface="+mn-lt"/>
                        </a:rPr>
                        <a:t>New Award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a:latin typeface="+mn-lt"/>
                        </a:rPr>
                        <a:t>The adjusted total award that accounts for the addition of approved funding augmentations (Total Original Award Amount + Total Augmented Amount)</a:t>
                      </a:r>
                    </a:p>
                  </a:txBody>
                  <a:tcPr anchor="ctr"/>
                </a:tc>
                <a:extLst>
                  <a:ext uri="{0D108BD9-81ED-4DB2-BD59-A6C34878D82A}">
                    <a16:rowId xmlns:a16="http://schemas.microsoft.com/office/drawing/2014/main" val="3794014703"/>
                  </a:ext>
                </a:extLst>
              </a:tr>
              <a:tr h="537093">
                <a:tc>
                  <a:txBody>
                    <a:bodyPr/>
                    <a:lstStyle/>
                    <a:p>
                      <a:r>
                        <a:rPr lang="en-US" sz="1600" b="1" err="1">
                          <a:latin typeface="+mn-lt"/>
                        </a:rPr>
                        <a:t>Uncosted</a:t>
                      </a:r>
                      <a:endParaRPr lang="en-US" sz="1600" b="1">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a:latin typeface="+mn-lt"/>
                        </a:rPr>
                        <a:t>The portion of the total funded amount that remains to be costed (Total Funded Amount – Total Costed Amount)</a:t>
                      </a:r>
                    </a:p>
                  </a:txBody>
                  <a:tcPr anchor="ctr"/>
                </a:tc>
                <a:extLst>
                  <a:ext uri="{0D108BD9-81ED-4DB2-BD59-A6C34878D82A}">
                    <a16:rowId xmlns:a16="http://schemas.microsoft.com/office/drawing/2014/main" val="2109076961"/>
                  </a:ext>
                </a:extLst>
              </a:tr>
            </a:tbl>
          </a:graphicData>
        </a:graphic>
      </p:graphicFrame>
      <p:sp>
        <p:nvSpPr>
          <p:cNvPr id="5" name="Slide Number Placeholder 4">
            <a:extLst>
              <a:ext uri="{FF2B5EF4-FFF2-40B4-BE49-F238E27FC236}">
                <a16:creationId xmlns:a16="http://schemas.microsoft.com/office/drawing/2014/main" id="{5FA85CF5-20AE-4514-DA2D-D9FB880166A6}"/>
              </a:ext>
            </a:extLst>
          </p:cNvPr>
          <p:cNvSpPr>
            <a:spLocks noGrp="1"/>
          </p:cNvSpPr>
          <p:nvPr>
            <p:ph type="sldNum" sz="quarter" idx="12"/>
          </p:nvPr>
        </p:nvSpPr>
        <p:spPr/>
        <p:txBody>
          <a:bodyPr/>
          <a:lstStyle/>
          <a:p>
            <a:fld id="{88E0E29E-E225-F048-A964-380D52CA58AC}" type="slidenum">
              <a:rPr lang="en-US" smtClean="0"/>
              <a:t>31</a:t>
            </a:fld>
            <a:endParaRPr lang="en-US"/>
          </a:p>
        </p:txBody>
      </p:sp>
    </p:spTree>
    <p:extLst>
      <p:ext uri="{BB962C8B-B14F-4D97-AF65-F5344CB8AC3E}">
        <p14:creationId xmlns:p14="http://schemas.microsoft.com/office/powerpoint/2010/main" val="2421540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578A-74EB-80B6-7AFA-E3734A0780B4}"/>
              </a:ext>
            </a:extLst>
          </p:cNvPr>
          <p:cNvSpPr>
            <a:spLocks noGrp="1"/>
          </p:cNvSpPr>
          <p:nvPr>
            <p:ph type="title"/>
          </p:nvPr>
        </p:nvSpPr>
        <p:spPr/>
        <p:txBody>
          <a:bodyPr/>
          <a:lstStyle/>
          <a:p>
            <a:r>
              <a:rPr lang="en-US"/>
              <a:t>Identifiers 1</a:t>
            </a:r>
          </a:p>
        </p:txBody>
      </p:sp>
      <p:sp>
        <p:nvSpPr>
          <p:cNvPr id="4" name="Text Placeholder 2">
            <a:extLst>
              <a:ext uri="{FF2B5EF4-FFF2-40B4-BE49-F238E27FC236}">
                <a16:creationId xmlns:a16="http://schemas.microsoft.com/office/drawing/2014/main" id="{966ADA94-A446-D3AD-B41B-A480EFC9252F}"/>
              </a:ext>
            </a:extLst>
          </p:cNvPr>
          <p:cNvSpPr>
            <a:spLocks noGrp="1"/>
          </p:cNvSpPr>
          <p:nvPr>
            <p:ph type="body" idx="1"/>
          </p:nvPr>
        </p:nvSpPr>
        <p:spPr>
          <a:xfrm>
            <a:off x="414670" y="1222245"/>
            <a:ext cx="3370521" cy="5134103"/>
          </a:xfrm>
          <a:ln>
            <a:noFill/>
          </a:ln>
        </p:spPr>
        <p:txBody>
          <a:bodyPr/>
          <a:lstStyle/>
          <a:p>
            <a:pPr marL="0" indent="0">
              <a:buNone/>
            </a:pPr>
            <a:r>
              <a:rPr lang="en-US" sz="2400" b="1"/>
              <a:t>Sub-element</a:t>
            </a:r>
          </a:p>
          <a:p>
            <a:pPr marL="342900" indent="-342900">
              <a:buFont typeface="Arial" panose="020B0604020202020204" pitchFamily="34" charset="0"/>
              <a:buChar char="•"/>
            </a:pPr>
            <a:r>
              <a:rPr lang="en-US" sz="1400" b="1"/>
              <a:t>LNAPP</a:t>
            </a:r>
            <a:br>
              <a:rPr lang="en-US" sz="1400"/>
            </a:br>
            <a:r>
              <a:rPr lang="en-US" sz="1400"/>
              <a:t>Laboratory Nuclear, Atomic, and Plasma Physics</a:t>
            </a:r>
          </a:p>
          <a:p>
            <a:pPr marL="342900" indent="-342900">
              <a:buFont typeface="Arial" panose="020B0604020202020204" pitchFamily="34" charset="0"/>
              <a:buChar char="•"/>
            </a:pPr>
            <a:endParaRPr lang="en-US" sz="800"/>
          </a:p>
          <a:p>
            <a:pPr marL="342900" indent="-342900">
              <a:buFont typeface="Arial" panose="020B0604020202020204" pitchFamily="34" charset="0"/>
              <a:buChar char="•"/>
            </a:pPr>
            <a:r>
              <a:rPr lang="en-US" sz="1400" b="1"/>
              <a:t>ITD</a:t>
            </a:r>
            <a:br>
              <a:rPr lang="en-US" sz="1400"/>
            </a:br>
            <a:r>
              <a:rPr lang="en-US" sz="1400"/>
              <a:t>Instrument Technology Development</a:t>
            </a:r>
          </a:p>
          <a:p>
            <a:pPr marL="342900" indent="-342900">
              <a:buFont typeface="Arial" panose="020B0604020202020204" pitchFamily="34" charset="0"/>
              <a:buChar char="•"/>
            </a:pPr>
            <a:endParaRPr lang="en-US" sz="800"/>
          </a:p>
          <a:p>
            <a:pPr marL="342900" indent="-342900">
              <a:buFont typeface="Arial" panose="020B0604020202020204" pitchFamily="34" charset="0"/>
              <a:buChar char="•"/>
            </a:pPr>
            <a:r>
              <a:rPr lang="en-US" sz="1400" b="1"/>
              <a:t>ITD-NHT</a:t>
            </a:r>
            <a:br>
              <a:rPr lang="en-US" sz="1400"/>
            </a:br>
            <a:r>
              <a:rPr lang="en-US" sz="1400"/>
              <a:t>Instrument Technology Development from Non-Heliophysics Technologists</a:t>
            </a:r>
          </a:p>
          <a:p>
            <a:pPr marL="342900" indent="-342900">
              <a:buFont typeface="Arial" panose="020B0604020202020204" pitchFamily="34" charset="0"/>
              <a:buChar char="•"/>
            </a:pPr>
            <a:endParaRPr lang="en-US" sz="800"/>
          </a:p>
          <a:p>
            <a:pPr marL="342900" indent="-342900">
              <a:buFont typeface="Arial" panose="020B0604020202020204" pitchFamily="34" charset="0"/>
              <a:buChar char="•"/>
            </a:pPr>
            <a:r>
              <a:rPr lang="en-US" sz="1400" b="1"/>
              <a:t>ITD-SWE</a:t>
            </a:r>
            <a:br>
              <a:rPr lang="en-US" sz="1400"/>
            </a:br>
            <a:r>
              <a:rPr lang="en-US" sz="1400"/>
              <a:t>Instrument Technology Development on the Space Working Environment</a:t>
            </a:r>
          </a:p>
        </p:txBody>
      </p:sp>
      <p:sp>
        <p:nvSpPr>
          <p:cNvPr id="5" name="Text Placeholder 2">
            <a:extLst>
              <a:ext uri="{FF2B5EF4-FFF2-40B4-BE49-F238E27FC236}">
                <a16:creationId xmlns:a16="http://schemas.microsoft.com/office/drawing/2014/main" id="{966D508C-E14B-20DE-5D04-1F5C2A5D6773}"/>
              </a:ext>
            </a:extLst>
          </p:cNvPr>
          <p:cNvSpPr txBox="1">
            <a:spLocks/>
          </p:cNvSpPr>
          <p:nvPr/>
        </p:nvSpPr>
        <p:spPr>
          <a:xfrm>
            <a:off x="4157343" y="1222247"/>
            <a:ext cx="3232297" cy="5134103"/>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400" b="1">
                <a:solidFill>
                  <a:schemeClr val="tx1"/>
                </a:solidFill>
                <a:latin typeface="+mn-lt"/>
              </a:rPr>
              <a:t>Research Regime</a:t>
            </a:r>
          </a:p>
          <a:p>
            <a:r>
              <a:rPr lang="en-US" sz="1400">
                <a:solidFill>
                  <a:schemeClr val="accent2"/>
                </a:solidFill>
                <a:latin typeface="+mn-lt"/>
              </a:rPr>
              <a:t>Solar Science</a:t>
            </a:r>
          </a:p>
          <a:p>
            <a:r>
              <a:rPr lang="en-US" sz="1400">
                <a:solidFill>
                  <a:srgbClr val="CFCB7C"/>
                </a:solidFill>
                <a:latin typeface="+mn-lt"/>
              </a:rPr>
              <a:t>Heliosphere</a:t>
            </a:r>
          </a:p>
          <a:p>
            <a:r>
              <a:rPr lang="en-US" sz="1400">
                <a:solidFill>
                  <a:srgbClr val="0070C0"/>
                </a:solidFill>
                <a:latin typeface="+mn-lt"/>
              </a:rPr>
              <a:t>Magnetosphere</a:t>
            </a:r>
          </a:p>
          <a:p>
            <a:r>
              <a:rPr lang="en-US" sz="1400">
                <a:solidFill>
                  <a:schemeClr val="accent4"/>
                </a:solidFill>
                <a:latin typeface="+mn-lt"/>
              </a:rPr>
              <a:t>Ionosphere-Thermosphere-Mesosphere (ITM)</a:t>
            </a:r>
          </a:p>
          <a:p>
            <a:r>
              <a:rPr lang="en-US" sz="1400">
                <a:solidFill>
                  <a:schemeClr val="bg1">
                    <a:lumMod val="65000"/>
                  </a:schemeClr>
                </a:solidFill>
                <a:latin typeface="+mn-lt"/>
              </a:rPr>
              <a:t>Interdisciplinary</a:t>
            </a:r>
          </a:p>
        </p:txBody>
      </p:sp>
      <p:sp>
        <p:nvSpPr>
          <p:cNvPr id="6" name="Text Placeholder 2">
            <a:extLst>
              <a:ext uri="{FF2B5EF4-FFF2-40B4-BE49-F238E27FC236}">
                <a16:creationId xmlns:a16="http://schemas.microsoft.com/office/drawing/2014/main" id="{941A5053-71F0-9709-6DCD-56478611E66B}"/>
              </a:ext>
            </a:extLst>
          </p:cNvPr>
          <p:cNvSpPr txBox="1">
            <a:spLocks/>
          </p:cNvSpPr>
          <p:nvPr/>
        </p:nvSpPr>
        <p:spPr>
          <a:xfrm>
            <a:off x="7411326" y="1222247"/>
            <a:ext cx="4197662" cy="5134103"/>
          </a:xfrm>
          <a:prstGeom prst="rect">
            <a:avLst/>
          </a:prstGeom>
          <a:ln>
            <a:noFill/>
          </a:ln>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3800" b="1">
                <a:solidFill>
                  <a:schemeClr val="tx1"/>
                </a:solidFill>
                <a:latin typeface="+mn-lt"/>
              </a:rPr>
              <a:t>Science Topic</a:t>
            </a:r>
          </a:p>
          <a:p>
            <a:pPr marL="457200" indent="-457200">
              <a:buFont typeface="+mj-lt"/>
              <a:buAutoNum type="arabicPeriod"/>
            </a:pPr>
            <a:r>
              <a:rPr lang="en-US" sz="2200">
                <a:solidFill>
                  <a:schemeClr val="tx1"/>
                </a:solidFill>
                <a:latin typeface="+mn-lt"/>
              </a:rPr>
              <a:t>Solar Interior</a:t>
            </a:r>
          </a:p>
          <a:p>
            <a:pPr marL="457200" indent="-457200">
              <a:buFont typeface="+mj-lt"/>
              <a:buAutoNum type="arabicPeriod"/>
            </a:pPr>
            <a:r>
              <a:rPr lang="en-US" sz="2200">
                <a:solidFill>
                  <a:schemeClr val="tx1"/>
                </a:solidFill>
                <a:latin typeface="+mn-lt"/>
              </a:rPr>
              <a:t>Photosphere</a:t>
            </a:r>
          </a:p>
          <a:p>
            <a:pPr marL="457200" indent="-457200">
              <a:buFont typeface="+mj-lt"/>
              <a:buAutoNum type="arabicPeriod"/>
            </a:pPr>
            <a:r>
              <a:rPr lang="en-US" sz="2200">
                <a:solidFill>
                  <a:schemeClr val="tx1"/>
                </a:solidFill>
                <a:latin typeface="+mn-lt"/>
              </a:rPr>
              <a:t>Solar Transient Events</a:t>
            </a:r>
          </a:p>
          <a:p>
            <a:pPr marL="457200" indent="-457200">
              <a:buFont typeface="+mj-lt"/>
              <a:buAutoNum type="arabicPeriod"/>
            </a:pPr>
            <a:r>
              <a:rPr lang="en-US" sz="2200">
                <a:solidFill>
                  <a:schemeClr val="tx1"/>
                </a:solidFill>
                <a:latin typeface="+mn-lt"/>
              </a:rPr>
              <a:t>Solar Atmosphere – Corona</a:t>
            </a:r>
          </a:p>
          <a:p>
            <a:pPr marL="457200" indent="-457200">
              <a:buFont typeface="+mj-lt"/>
              <a:buAutoNum type="arabicPeriod"/>
            </a:pPr>
            <a:r>
              <a:rPr lang="en-US" sz="2200">
                <a:solidFill>
                  <a:schemeClr val="tx1"/>
                </a:solidFill>
                <a:latin typeface="+mn-lt"/>
              </a:rPr>
              <a:t>Particle Acceleration, Transport, Modulation</a:t>
            </a:r>
          </a:p>
          <a:p>
            <a:pPr marL="457200" indent="-457200">
              <a:buFont typeface="+mj-lt"/>
              <a:buAutoNum type="arabicPeriod"/>
            </a:pPr>
            <a:r>
              <a:rPr lang="en-US" sz="2200">
                <a:solidFill>
                  <a:schemeClr val="tx1"/>
                </a:solidFill>
                <a:latin typeface="+mn-lt"/>
              </a:rPr>
              <a:t>Turbulence, Waves, Composition</a:t>
            </a:r>
          </a:p>
          <a:p>
            <a:pPr marL="457200" indent="-457200">
              <a:buFont typeface="+mj-lt"/>
              <a:buAutoNum type="arabicPeriod"/>
            </a:pPr>
            <a:r>
              <a:rPr lang="en-US" sz="2200">
                <a:solidFill>
                  <a:schemeClr val="tx1"/>
                </a:solidFill>
                <a:latin typeface="+mn-lt"/>
              </a:rPr>
              <a:t>Interplanetary CMEs/Magnetic Clouds</a:t>
            </a:r>
          </a:p>
          <a:p>
            <a:pPr marL="457200" indent="-457200">
              <a:buFont typeface="+mj-lt"/>
              <a:buAutoNum type="arabicPeriod"/>
            </a:pPr>
            <a:r>
              <a:rPr lang="en-US" sz="2200">
                <a:solidFill>
                  <a:schemeClr val="tx1"/>
                </a:solidFill>
                <a:latin typeface="+mn-lt"/>
              </a:rPr>
              <a:t>Outer Heliosphere – Interstellar Boundary</a:t>
            </a:r>
          </a:p>
          <a:p>
            <a:pPr marL="457200" indent="-457200">
              <a:buFont typeface="+mj-lt"/>
              <a:buAutoNum type="arabicPeriod"/>
            </a:pPr>
            <a:r>
              <a:rPr lang="en-US" sz="2200">
                <a:solidFill>
                  <a:schemeClr val="tx1"/>
                </a:solidFill>
                <a:latin typeface="+mn-lt"/>
              </a:rPr>
              <a:t>Dayside Magnetosphere</a:t>
            </a:r>
          </a:p>
          <a:p>
            <a:pPr marL="457200" indent="-457200">
              <a:buFont typeface="+mj-lt"/>
              <a:buAutoNum type="arabicPeriod"/>
            </a:pPr>
            <a:r>
              <a:rPr lang="en-US" sz="2200">
                <a:solidFill>
                  <a:schemeClr val="tx1"/>
                </a:solidFill>
                <a:latin typeface="+mn-lt"/>
              </a:rPr>
              <a:t>Inner Magnetosphere</a:t>
            </a:r>
          </a:p>
          <a:p>
            <a:pPr marL="457200" indent="-457200">
              <a:buFont typeface="+mj-lt"/>
              <a:buAutoNum type="arabicPeriod"/>
            </a:pPr>
            <a:r>
              <a:rPr lang="en-US" sz="2200">
                <a:solidFill>
                  <a:schemeClr val="tx1"/>
                </a:solidFill>
                <a:latin typeface="+mn-lt"/>
              </a:rPr>
              <a:t>Magnetotail</a:t>
            </a:r>
          </a:p>
          <a:p>
            <a:pPr marL="457200" indent="-457200">
              <a:buFont typeface="+mj-lt"/>
              <a:buAutoNum type="arabicPeriod"/>
            </a:pPr>
            <a:r>
              <a:rPr lang="en-US" sz="2200">
                <a:solidFill>
                  <a:schemeClr val="tx1"/>
                </a:solidFill>
                <a:latin typeface="+mn-lt"/>
              </a:rPr>
              <a:t>Ionosphere – Atmospheric Coupling</a:t>
            </a:r>
          </a:p>
          <a:p>
            <a:pPr marL="457200" indent="-457200">
              <a:buFont typeface="+mj-lt"/>
              <a:buAutoNum type="arabicPeriod"/>
            </a:pPr>
            <a:r>
              <a:rPr lang="en-US" sz="2200">
                <a:solidFill>
                  <a:schemeClr val="tx1"/>
                </a:solidFill>
                <a:latin typeface="+mn-lt"/>
              </a:rPr>
              <a:t>Neutral Atmosphere</a:t>
            </a:r>
          </a:p>
          <a:p>
            <a:pPr marL="457200" indent="-457200">
              <a:buFont typeface="+mj-lt"/>
              <a:buAutoNum type="arabicPeriod"/>
            </a:pPr>
            <a:r>
              <a:rPr lang="en-US" sz="2200">
                <a:solidFill>
                  <a:schemeClr val="tx1"/>
                </a:solidFill>
                <a:latin typeface="+mn-lt"/>
              </a:rPr>
              <a:t>Solar - Heliosphere Coupling</a:t>
            </a:r>
          </a:p>
          <a:p>
            <a:pPr marL="457200" indent="-457200">
              <a:buFont typeface="+mj-lt"/>
              <a:buAutoNum type="arabicPeriod"/>
            </a:pPr>
            <a:r>
              <a:rPr lang="en-US" sz="2200">
                <a:solidFill>
                  <a:schemeClr val="tx1"/>
                </a:solidFill>
                <a:latin typeface="+mn-lt"/>
              </a:rPr>
              <a:t>Solar Wind – Magnetosphere Coupling</a:t>
            </a:r>
          </a:p>
          <a:p>
            <a:pPr marL="457200" indent="-457200">
              <a:buFont typeface="+mj-lt"/>
              <a:buAutoNum type="arabicPeriod"/>
            </a:pPr>
            <a:r>
              <a:rPr lang="en-US" sz="2200">
                <a:solidFill>
                  <a:schemeClr val="tx1"/>
                </a:solidFill>
                <a:latin typeface="+mn-lt"/>
              </a:rPr>
              <a:t>Magnetosphere – Ionosphere Coupling</a:t>
            </a:r>
          </a:p>
          <a:p>
            <a:pPr marL="457200" indent="-457200">
              <a:buFont typeface="+mj-lt"/>
              <a:buAutoNum type="arabicPeriod"/>
            </a:pPr>
            <a:r>
              <a:rPr lang="en-US" sz="2200">
                <a:solidFill>
                  <a:schemeClr val="tx1"/>
                </a:solidFill>
                <a:latin typeface="+mn-lt"/>
              </a:rPr>
              <a:t>Solar – Ionosphere/Atmosphere Coupling</a:t>
            </a:r>
          </a:p>
        </p:txBody>
      </p:sp>
      <p:sp>
        <p:nvSpPr>
          <p:cNvPr id="7" name="Slide Number Placeholder 6">
            <a:extLst>
              <a:ext uri="{FF2B5EF4-FFF2-40B4-BE49-F238E27FC236}">
                <a16:creationId xmlns:a16="http://schemas.microsoft.com/office/drawing/2014/main" id="{6BB9C8BB-F8C6-275C-EC08-E65AF40A09A6}"/>
              </a:ext>
            </a:extLst>
          </p:cNvPr>
          <p:cNvSpPr>
            <a:spLocks noGrp="1"/>
          </p:cNvSpPr>
          <p:nvPr>
            <p:ph type="sldNum" sz="quarter" idx="12"/>
          </p:nvPr>
        </p:nvSpPr>
        <p:spPr/>
        <p:txBody>
          <a:bodyPr/>
          <a:lstStyle/>
          <a:p>
            <a:fld id="{88E0E29E-E225-F048-A964-380D52CA58AC}" type="slidenum">
              <a:rPr lang="en-US" smtClean="0"/>
              <a:t>32</a:t>
            </a:fld>
            <a:endParaRPr lang="en-US"/>
          </a:p>
        </p:txBody>
      </p:sp>
    </p:spTree>
    <p:extLst>
      <p:ext uri="{BB962C8B-B14F-4D97-AF65-F5344CB8AC3E}">
        <p14:creationId xmlns:p14="http://schemas.microsoft.com/office/powerpoint/2010/main" val="1135344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A35A-4E41-5020-5894-74B1DE46A575}"/>
              </a:ext>
            </a:extLst>
          </p:cNvPr>
          <p:cNvSpPr>
            <a:spLocks noGrp="1"/>
          </p:cNvSpPr>
          <p:nvPr>
            <p:ph type="title"/>
          </p:nvPr>
        </p:nvSpPr>
        <p:spPr/>
        <p:txBody>
          <a:bodyPr/>
          <a:lstStyle/>
          <a:p>
            <a:r>
              <a:rPr lang="en-US"/>
              <a:t>Identifiers 2</a:t>
            </a:r>
            <a:endParaRPr lang="en-US" sz="1200"/>
          </a:p>
        </p:txBody>
      </p:sp>
      <p:sp>
        <p:nvSpPr>
          <p:cNvPr id="4" name="Text Placeholder 2">
            <a:extLst>
              <a:ext uri="{FF2B5EF4-FFF2-40B4-BE49-F238E27FC236}">
                <a16:creationId xmlns:a16="http://schemas.microsoft.com/office/drawing/2014/main" id="{A3D78820-E455-0EFD-C54E-35A76DA91AAC}"/>
              </a:ext>
            </a:extLst>
          </p:cNvPr>
          <p:cNvSpPr>
            <a:spLocks noGrp="1"/>
          </p:cNvSpPr>
          <p:nvPr>
            <p:ph type="body" idx="1"/>
          </p:nvPr>
        </p:nvSpPr>
        <p:spPr>
          <a:xfrm>
            <a:off x="4677699" y="1222241"/>
            <a:ext cx="3530648" cy="5134103"/>
          </a:xfrm>
          <a:ln>
            <a:noFill/>
          </a:ln>
        </p:spPr>
        <p:txBody>
          <a:bodyPr/>
          <a:lstStyle/>
          <a:p>
            <a:pPr marL="0" indent="0">
              <a:buNone/>
            </a:pPr>
            <a:r>
              <a:rPr lang="en-US" sz="2000" b="1"/>
              <a:t>Instrument Type </a:t>
            </a:r>
            <a:r>
              <a:rPr lang="en-US" sz="1200" b="1">
                <a:solidFill>
                  <a:schemeClr val="bg1">
                    <a:lumMod val="50000"/>
                  </a:schemeClr>
                </a:solidFill>
              </a:rPr>
              <a:t>(Examples)</a:t>
            </a:r>
          </a:p>
          <a:p>
            <a:pPr marL="285750" indent="-285750">
              <a:buFont typeface="Arial" panose="020B0604020202020204" pitchFamily="34" charset="0"/>
              <a:buChar char="•"/>
            </a:pPr>
            <a:r>
              <a:rPr lang="en-US" sz="1400"/>
              <a:t>Magnetometer</a:t>
            </a:r>
          </a:p>
          <a:p>
            <a:pPr marL="285750" indent="-285750">
              <a:buFont typeface="Arial" panose="020B0604020202020204" pitchFamily="34" charset="0"/>
              <a:buChar char="•"/>
            </a:pPr>
            <a:r>
              <a:rPr lang="en-US" sz="1400"/>
              <a:t>Spectrometer</a:t>
            </a:r>
          </a:p>
          <a:p>
            <a:pPr marL="285750" indent="-285750">
              <a:buFont typeface="Arial" panose="020B0604020202020204" pitchFamily="34" charset="0"/>
              <a:buChar char="•"/>
            </a:pPr>
            <a:r>
              <a:rPr lang="en-US" sz="1400"/>
              <a:t>Ion Drift Sensor</a:t>
            </a:r>
          </a:p>
          <a:p>
            <a:pPr marL="285750" indent="-285750">
              <a:buFont typeface="Arial" panose="020B0604020202020204" pitchFamily="34" charset="0"/>
              <a:buChar char="•"/>
            </a:pPr>
            <a:r>
              <a:rPr lang="en-US" sz="1400"/>
              <a:t>Electrostatic Analyzer</a:t>
            </a:r>
          </a:p>
          <a:p>
            <a:pPr marL="285750" indent="-285750">
              <a:buFont typeface="Arial" panose="020B0604020202020204" pitchFamily="34" charset="0"/>
              <a:buChar char="•"/>
            </a:pPr>
            <a:r>
              <a:rPr lang="en-US" sz="1400"/>
              <a:t>Potential Sensor</a:t>
            </a:r>
          </a:p>
          <a:p>
            <a:pPr marL="285750" indent="-285750">
              <a:buFont typeface="Arial" panose="020B0604020202020204" pitchFamily="34" charset="0"/>
              <a:buChar char="•"/>
            </a:pPr>
            <a:r>
              <a:rPr lang="en-US" sz="1400">
                <a:solidFill>
                  <a:schemeClr val="bg1">
                    <a:lumMod val="50000"/>
                  </a:schemeClr>
                </a:solidFill>
              </a:rPr>
              <a:t>….. (add type as necessary)</a:t>
            </a:r>
          </a:p>
          <a:p>
            <a:endParaRPr lang="en-US" sz="1400"/>
          </a:p>
        </p:txBody>
      </p:sp>
      <p:sp>
        <p:nvSpPr>
          <p:cNvPr id="5" name="Text Placeholder 2">
            <a:extLst>
              <a:ext uri="{FF2B5EF4-FFF2-40B4-BE49-F238E27FC236}">
                <a16:creationId xmlns:a16="http://schemas.microsoft.com/office/drawing/2014/main" id="{E5C44C7D-A7D6-D0B6-9293-A9F97C3BB7EE}"/>
              </a:ext>
            </a:extLst>
          </p:cNvPr>
          <p:cNvSpPr txBox="1">
            <a:spLocks/>
          </p:cNvSpPr>
          <p:nvPr/>
        </p:nvSpPr>
        <p:spPr>
          <a:xfrm>
            <a:off x="370366" y="1222239"/>
            <a:ext cx="4031513" cy="5134103"/>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b="1">
                <a:solidFill>
                  <a:schemeClr val="tx1"/>
                </a:solidFill>
                <a:latin typeface="+mn-lt"/>
              </a:rPr>
              <a:t>Taxonomy</a:t>
            </a:r>
          </a:p>
          <a:p>
            <a:pPr marL="0" indent="0">
              <a:buNone/>
            </a:pPr>
            <a:r>
              <a:rPr lang="en-US" sz="1400">
                <a:solidFill>
                  <a:schemeClr val="tx1"/>
                </a:solidFill>
                <a:latin typeface="+mn-lt"/>
              </a:rPr>
              <a:t>TX08: Sensors and Instruments</a:t>
            </a:r>
          </a:p>
          <a:p>
            <a:r>
              <a:rPr lang="en-US" sz="1400">
                <a:solidFill>
                  <a:schemeClr val="tx1"/>
                </a:solidFill>
                <a:latin typeface="+mn-lt"/>
              </a:rPr>
              <a:t>TX08.1 Remote Sensing Instruments/Sensors</a:t>
            </a:r>
          </a:p>
          <a:p>
            <a:pPr lvl="1"/>
            <a:r>
              <a:rPr lang="en-US" sz="1000">
                <a:solidFill>
                  <a:schemeClr val="tx1"/>
                </a:solidFill>
                <a:latin typeface="+mn-lt"/>
              </a:rPr>
              <a:t>TX08.1.1 Detectors and Focal Planes</a:t>
            </a:r>
          </a:p>
          <a:p>
            <a:pPr lvl="1"/>
            <a:r>
              <a:rPr lang="en-US" sz="1000">
                <a:solidFill>
                  <a:schemeClr val="tx1"/>
                </a:solidFill>
                <a:latin typeface="+mn-lt"/>
              </a:rPr>
              <a:t>TX08.1.2 Electronics</a:t>
            </a:r>
          </a:p>
          <a:p>
            <a:pPr lvl="1"/>
            <a:r>
              <a:rPr lang="en-US" sz="1000">
                <a:solidFill>
                  <a:schemeClr val="tx1"/>
                </a:solidFill>
                <a:latin typeface="+mn-lt"/>
              </a:rPr>
              <a:t>TX08.1.3 Optical Components</a:t>
            </a:r>
          </a:p>
          <a:p>
            <a:pPr lvl="1"/>
            <a:r>
              <a:rPr lang="en-US" sz="1000">
                <a:solidFill>
                  <a:schemeClr val="tx1"/>
                </a:solidFill>
                <a:latin typeface="+mn-lt"/>
              </a:rPr>
              <a:t>TX08.1.4 Microwave, Millimeter-, and Submillimeter-Waves</a:t>
            </a:r>
          </a:p>
          <a:p>
            <a:pPr lvl="1"/>
            <a:r>
              <a:rPr lang="en-US" sz="1000">
                <a:solidFill>
                  <a:schemeClr val="tx1"/>
                </a:solidFill>
                <a:latin typeface="+mn-lt"/>
              </a:rPr>
              <a:t>TX08.1.5 Lasers</a:t>
            </a:r>
          </a:p>
          <a:p>
            <a:pPr lvl="1"/>
            <a:r>
              <a:rPr lang="en-US" sz="1000">
                <a:solidFill>
                  <a:schemeClr val="tx1"/>
                </a:solidFill>
                <a:latin typeface="+mn-lt"/>
              </a:rPr>
              <a:t>TX08.1.6 Cryogenic/Thermal</a:t>
            </a:r>
          </a:p>
          <a:p>
            <a:r>
              <a:rPr lang="en-US" sz="1400">
                <a:solidFill>
                  <a:schemeClr val="tx1"/>
                </a:solidFill>
                <a:latin typeface="+mn-lt"/>
              </a:rPr>
              <a:t>TX08.2 Observatories</a:t>
            </a:r>
          </a:p>
          <a:p>
            <a:pPr lvl="1"/>
            <a:r>
              <a:rPr lang="en-US" sz="1000">
                <a:solidFill>
                  <a:schemeClr val="tx1"/>
                </a:solidFill>
                <a:latin typeface="+mn-lt"/>
              </a:rPr>
              <a:t>TX08.2.1 Mirror Systems</a:t>
            </a:r>
          </a:p>
          <a:p>
            <a:pPr lvl="1"/>
            <a:r>
              <a:rPr lang="en-US" sz="1000">
                <a:solidFill>
                  <a:schemeClr val="tx1"/>
                </a:solidFill>
                <a:latin typeface="+mn-lt"/>
              </a:rPr>
              <a:t>TX08.2.2 Structures and Antennas</a:t>
            </a:r>
          </a:p>
          <a:p>
            <a:pPr lvl="1"/>
            <a:r>
              <a:rPr lang="en-US" sz="1000">
                <a:solidFill>
                  <a:schemeClr val="tx1"/>
                </a:solidFill>
                <a:latin typeface="+mn-lt"/>
              </a:rPr>
              <a:t>TX08.2.3 Distributed Aperture</a:t>
            </a:r>
          </a:p>
          <a:p>
            <a:r>
              <a:rPr lang="en-US" sz="1400">
                <a:solidFill>
                  <a:schemeClr val="tx1"/>
                </a:solidFill>
                <a:latin typeface="+mn-lt"/>
              </a:rPr>
              <a:t>TX08.3 </a:t>
            </a:r>
            <a:r>
              <a:rPr lang="en-US" sz="1400" i="1">
                <a:solidFill>
                  <a:schemeClr val="tx1"/>
                </a:solidFill>
                <a:latin typeface="+mn-lt"/>
              </a:rPr>
              <a:t>In Situ </a:t>
            </a:r>
            <a:r>
              <a:rPr lang="en-US" sz="1400">
                <a:solidFill>
                  <a:schemeClr val="tx1"/>
                </a:solidFill>
                <a:latin typeface="+mn-lt"/>
              </a:rPr>
              <a:t>Instruments and Sensors</a:t>
            </a:r>
          </a:p>
          <a:p>
            <a:pPr lvl="1"/>
            <a:r>
              <a:rPr lang="en-US" sz="1000">
                <a:solidFill>
                  <a:schemeClr val="tx1"/>
                </a:solidFill>
                <a:latin typeface="+mn-lt"/>
              </a:rPr>
              <a:t>TX08.3.1 Field and Particle Detectors</a:t>
            </a:r>
          </a:p>
          <a:p>
            <a:pPr lvl="1"/>
            <a:r>
              <a:rPr lang="en-US" sz="1000">
                <a:solidFill>
                  <a:schemeClr val="tx1"/>
                </a:solidFill>
                <a:latin typeface="+mn-lt"/>
              </a:rPr>
              <a:t>TX08.3.2 Atomic and Molecular Species Assessment</a:t>
            </a:r>
          </a:p>
          <a:p>
            <a:pPr lvl="1"/>
            <a:r>
              <a:rPr lang="en-US" sz="1000">
                <a:solidFill>
                  <a:schemeClr val="tx1"/>
                </a:solidFill>
                <a:latin typeface="+mn-lt"/>
              </a:rPr>
              <a:t>TX08.3.3 Sample Handling</a:t>
            </a:r>
          </a:p>
          <a:p>
            <a:pPr lvl="1"/>
            <a:r>
              <a:rPr lang="en-US" sz="1000">
                <a:solidFill>
                  <a:schemeClr val="tx1"/>
                </a:solidFill>
                <a:latin typeface="+mn-lt"/>
              </a:rPr>
              <a:t>TX08.3.4 Environment Sensors</a:t>
            </a:r>
          </a:p>
          <a:p>
            <a:pPr lvl="1"/>
            <a:r>
              <a:rPr lang="en-US" sz="1000">
                <a:solidFill>
                  <a:schemeClr val="tx1"/>
                </a:solidFill>
                <a:latin typeface="+mn-lt"/>
              </a:rPr>
              <a:t>TX08.3.5 Electromagnetic Wave Based Sensors</a:t>
            </a:r>
          </a:p>
          <a:p>
            <a:pPr lvl="1"/>
            <a:r>
              <a:rPr lang="en-US" sz="1000">
                <a:solidFill>
                  <a:schemeClr val="tx1"/>
                </a:solidFill>
                <a:latin typeface="+mn-lt"/>
              </a:rPr>
              <a:t>TX08.3.6 Extreme Environments Related to Critical System Health Management</a:t>
            </a:r>
          </a:p>
          <a:p>
            <a:r>
              <a:rPr lang="en-US" sz="1400">
                <a:solidFill>
                  <a:schemeClr val="tx1"/>
                </a:solidFill>
                <a:latin typeface="+mn-lt"/>
              </a:rPr>
              <a:t>TX08.X Other Sensors and Instruments</a:t>
            </a:r>
          </a:p>
        </p:txBody>
      </p:sp>
      <p:sp>
        <p:nvSpPr>
          <p:cNvPr id="6" name="Text Placeholder 2">
            <a:extLst>
              <a:ext uri="{FF2B5EF4-FFF2-40B4-BE49-F238E27FC236}">
                <a16:creationId xmlns:a16="http://schemas.microsoft.com/office/drawing/2014/main" id="{232C1795-1E4E-1B61-6779-35848AB3A019}"/>
              </a:ext>
            </a:extLst>
          </p:cNvPr>
          <p:cNvSpPr txBox="1">
            <a:spLocks/>
          </p:cNvSpPr>
          <p:nvPr/>
        </p:nvSpPr>
        <p:spPr>
          <a:xfrm>
            <a:off x="8227198" y="1222239"/>
            <a:ext cx="3530648" cy="5134103"/>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accent2">
                    <a:lumMod val="50000"/>
                  </a:schemeClr>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accent2">
                    <a:lumMod val="50000"/>
                  </a:schemeClr>
                </a:solidFill>
                <a:latin typeface="Arial Narrow" charset="0"/>
                <a:ea typeface="Arial Narrow" charset="0"/>
                <a:cs typeface="Arial Narrow" charset="0"/>
              </a:defRPr>
            </a:lvl2pPr>
            <a:lvl3pPr marL="1143000" indent="-228600" algn="l" defTabSz="914400" rtl="0" eaLnBrk="1" latinLnBrk="0" hangingPunct="1">
              <a:lnSpc>
                <a:spcPct val="90000"/>
              </a:lnSpc>
              <a:spcBef>
                <a:spcPts val="500"/>
              </a:spcBef>
              <a:buFont typeface="Arial"/>
              <a:buChar char="•"/>
              <a:defRPr sz="2000" kern="1200">
                <a:solidFill>
                  <a:schemeClr val="accent2">
                    <a:lumMod val="50000"/>
                  </a:schemeClr>
                </a:solidFill>
                <a:latin typeface="Arial Narrow" charset="0"/>
                <a:ea typeface="Arial Narrow" charset="0"/>
                <a:cs typeface="Arial Narrow" charset="0"/>
              </a:defRPr>
            </a:lvl3pPr>
            <a:lvl4pPr marL="16002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4pPr>
            <a:lvl5pPr marL="2057400" indent="-228600" algn="l" defTabSz="914400" rtl="0" eaLnBrk="1" latinLnBrk="0" hangingPunct="1">
              <a:lnSpc>
                <a:spcPct val="90000"/>
              </a:lnSpc>
              <a:spcBef>
                <a:spcPts val="500"/>
              </a:spcBef>
              <a:buFont typeface="Arial"/>
              <a:buChar char="•"/>
              <a:defRPr sz="1800" kern="1200">
                <a:solidFill>
                  <a:schemeClr val="accent2">
                    <a:lumMod val="50000"/>
                  </a:schemeClr>
                </a:solidFill>
                <a:latin typeface="Arial Narrow" charset="0"/>
                <a:ea typeface="Arial Narrow" charset="0"/>
                <a:cs typeface="Arial Narrow"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000" b="1">
                <a:solidFill>
                  <a:schemeClr val="tx1"/>
                </a:solidFill>
                <a:latin typeface="+mn-lt"/>
              </a:rPr>
              <a:t>Items Measured</a:t>
            </a:r>
            <a:r>
              <a:rPr lang="en-US" sz="1200" b="1">
                <a:solidFill>
                  <a:schemeClr val="tx1"/>
                </a:solidFill>
                <a:latin typeface="+mn-lt"/>
              </a:rPr>
              <a:t> </a:t>
            </a:r>
            <a:r>
              <a:rPr lang="en-US" sz="1200" b="1">
                <a:solidFill>
                  <a:schemeClr val="bg1">
                    <a:lumMod val="50000"/>
                  </a:schemeClr>
                </a:solidFill>
                <a:latin typeface="+mn-lt"/>
              </a:rPr>
              <a:t>(Examples)</a:t>
            </a:r>
          </a:p>
          <a:p>
            <a:r>
              <a:rPr lang="en-US" sz="1400">
                <a:solidFill>
                  <a:schemeClr val="tx1"/>
                </a:solidFill>
                <a:latin typeface="+mn-lt"/>
              </a:rPr>
              <a:t>Electrons</a:t>
            </a:r>
          </a:p>
          <a:p>
            <a:r>
              <a:rPr lang="en-US" sz="1400">
                <a:solidFill>
                  <a:schemeClr val="tx1"/>
                </a:solidFill>
                <a:latin typeface="+mn-lt"/>
              </a:rPr>
              <a:t>Ions</a:t>
            </a:r>
          </a:p>
          <a:p>
            <a:r>
              <a:rPr lang="en-US" sz="1400">
                <a:solidFill>
                  <a:schemeClr val="tx1"/>
                </a:solidFill>
                <a:latin typeface="+mn-lt"/>
              </a:rPr>
              <a:t>Solar Neutrons</a:t>
            </a:r>
          </a:p>
          <a:p>
            <a:r>
              <a:rPr lang="en-US" sz="1400">
                <a:solidFill>
                  <a:schemeClr val="tx1"/>
                </a:solidFill>
                <a:latin typeface="+mn-lt"/>
              </a:rPr>
              <a:t>Plasma</a:t>
            </a:r>
          </a:p>
          <a:p>
            <a:r>
              <a:rPr lang="en-US" sz="1400">
                <a:solidFill>
                  <a:schemeClr val="tx1"/>
                </a:solidFill>
                <a:latin typeface="+mn-lt"/>
              </a:rPr>
              <a:t>Magnetic Field</a:t>
            </a:r>
          </a:p>
          <a:p>
            <a:r>
              <a:rPr lang="en-US" sz="1400">
                <a:solidFill>
                  <a:schemeClr val="bg1">
                    <a:lumMod val="50000"/>
                  </a:schemeClr>
                </a:solidFill>
                <a:latin typeface="+mn-lt"/>
              </a:rPr>
              <a:t>….. (add items as necessary)</a:t>
            </a:r>
          </a:p>
          <a:p>
            <a:endParaRPr lang="en-US" sz="1400">
              <a:solidFill>
                <a:schemeClr val="tx1"/>
              </a:solidFill>
              <a:latin typeface="+mn-lt"/>
            </a:endParaRPr>
          </a:p>
        </p:txBody>
      </p:sp>
      <p:sp>
        <p:nvSpPr>
          <p:cNvPr id="7" name="Slide Number Placeholder 6">
            <a:extLst>
              <a:ext uri="{FF2B5EF4-FFF2-40B4-BE49-F238E27FC236}">
                <a16:creationId xmlns:a16="http://schemas.microsoft.com/office/drawing/2014/main" id="{D5CFB540-42D2-1004-47DE-D1C038BAF2FF}"/>
              </a:ext>
            </a:extLst>
          </p:cNvPr>
          <p:cNvSpPr>
            <a:spLocks noGrp="1"/>
          </p:cNvSpPr>
          <p:nvPr>
            <p:ph type="sldNum" sz="quarter" idx="12"/>
          </p:nvPr>
        </p:nvSpPr>
        <p:spPr/>
        <p:txBody>
          <a:bodyPr/>
          <a:lstStyle/>
          <a:p>
            <a:fld id="{88E0E29E-E225-F048-A964-380D52CA58AC}" type="slidenum">
              <a:rPr lang="en-US" smtClean="0"/>
              <a:t>33</a:t>
            </a:fld>
            <a:endParaRPr lang="en-US"/>
          </a:p>
        </p:txBody>
      </p:sp>
    </p:spTree>
    <p:extLst>
      <p:ext uri="{BB962C8B-B14F-4D97-AF65-F5344CB8AC3E}">
        <p14:creationId xmlns:p14="http://schemas.microsoft.com/office/powerpoint/2010/main" val="4082276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18EA-D73A-6F18-2BA8-38C92A757462}"/>
              </a:ext>
            </a:extLst>
          </p:cNvPr>
          <p:cNvSpPr>
            <a:spLocks noGrp="1"/>
          </p:cNvSpPr>
          <p:nvPr>
            <p:ph type="title"/>
          </p:nvPr>
        </p:nvSpPr>
        <p:spPr/>
        <p:txBody>
          <a:bodyPr/>
          <a:lstStyle/>
          <a:p>
            <a:r>
              <a:rPr lang="en-US" b="1"/>
              <a:t>Thank you</a:t>
            </a:r>
          </a:p>
        </p:txBody>
      </p:sp>
      <p:sp>
        <p:nvSpPr>
          <p:cNvPr id="3" name="Slide Number Placeholder 2">
            <a:extLst>
              <a:ext uri="{FF2B5EF4-FFF2-40B4-BE49-F238E27FC236}">
                <a16:creationId xmlns:a16="http://schemas.microsoft.com/office/drawing/2014/main" id="{88F3BB05-3AD9-F7F5-79BF-282297C7FECB}"/>
              </a:ext>
            </a:extLst>
          </p:cNvPr>
          <p:cNvSpPr>
            <a:spLocks noGrp="1"/>
          </p:cNvSpPr>
          <p:nvPr>
            <p:ph type="sldNum" sz="quarter" idx="12"/>
          </p:nvPr>
        </p:nvSpPr>
        <p:spPr/>
        <p:txBody>
          <a:bodyPr/>
          <a:lstStyle/>
          <a:p>
            <a:fld id="{88E0E29E-E225-F048-A964-380D52CA58AC}" type="slidenum">
              <a:rPr lang="en-US" smtClean="0"/>
              <a:t>34</a:t>
            </a:fld>
            <a:endParaRPr lang="en-US"/>
          </a:p>
        </p:txBody>
      </p:sp>
    </p:spTree>
    <p:extLst>
      <p:ext uri="{BB962C8B-B14F-4D97-AF65-F5344CB8AC3E}">
        <p14:creationId xmlns:p14="http://schemas.microsoft.com/office/powerpoint/2010/main" val="2219375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55529d0-f9ab-4d76-83cf-d2c669657f14" xsi:nil="true"/>
    <lcf76f155ced4ddcb4097134ff3c332f xmlns="fd0ef206-3d28-4dbb-86dc-478ae1bbb31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47D11A2116275438DBF1D77FCA14A41" ma:contentTypeVersion="14" ma:contentTypeDescription="Create a new document." ma:contentTypeScope="" ma:versionID="3c9b8c0f804e745218d2397220f8057e">
  <xsd:schema xmlns:xsd="http://www.w3.org/2001/XMLSchema" xmlns:xs="http://www.w3.org/2001/XMLSchema" xmlns:p="http://schemas.microsoft.com/office/2006/metadata/properties" xmlns:ns2="fd0ef206-3d28-4dbb-86dc-478ae1bbb31e" xmlns:ns3="e55529d0-f9ab-4d76-83cf-d2c669657f14" targetNamespace="http://schemas.microsoft.com/office/2006/metadata/properties" ma:root="true" ma:fieldsID="e0f4635cad6e258c1d85aa79c4e643f6" ns2:_="" ns3:_="">
    <xsd:import namespace="fd0ef206-3d28-4dbb-86dc-478ae1bbb31e"/>
    <xsd:import namespace="e55529d0-f9ab-4d76-83cf-d2c669657f1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0ef206-3d28-4dbb-86dc-478ae1bbb3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fb68aea-d2ee-4a6c-85e6-e4b5686e96e8"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5529d0-f9ab-4d76-83cf-d2c669657f1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fb713d43-d13f-494f-9e47-b92c544d8367}" ma:internalName="TaxCatchAll" ma:showField="CatchAllData" ma:web="e55529d0-f9ab-4d76-83cf-d2c669657f1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808F7F-4667-486A-AEC1-53DCE7E9EC37}">
  <ds:schemaRefs>
    <ds:schemaRef ds:uri="e55529d0-f9ab-4d76-83cf-d2c669657f14"/>
    <ds:schemaRef ds:uri="fd0ef206-3d28-4dbb-86dc-478ae1bbb3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8411702-9CD7-4E1E-8304-9F5EEF156DAF}">
  <ds:schemaRefs>
    <ds:schemaRef ds:uri="e55529d0-f9ab-4d76-83cf-d2c669657f14"/>
    <ds:schemaRef ds:uri="fd0ef206-3d28-4dbb-86dc-478ae1bbb3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10599CF-E9F8-4817-AE49-989C47D652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164</TotalTime>
  <Words>2765</Words>
  <Application>Microsoft Office PowerPoint</Application>
  <PresentationFormat>Widescreen</PresentationFormat>
  <Paragraphs>534</Paragraphs>
  <Slides>34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Aptos</vt:lpstr>
      <vt:lpstr>Aptos Display</vt:lpstr>
      <vt:lpstr>Arial</vt:lpstr>
      <vt:lpstr>Arial Narrow</vt:lpstr>
      <vt:lpstr>Wingdings</vt:lpstr>
      <vt:lpstr>Office Theme</vt:lpstr>
      <vt:lpstr>Microsoft Excel Worksheet</vt:lpstr>
      <vt:lpstr>HESTO Report: 12 2026</vt:lpstr>
      <vt:lpstr>Summary</vt:lpstr>
      <vt:lpstr>    Project’s Relevance and Impact </vt:lpstr>
      <vt:lpstr>Key Accomplishments</vt:lpstr>
      <vt:lpstr>Project Highlights</vt:lpstr>
      <vt:lpstr>System TRL Status</vt:lpstr>
      <vt:lpstr>Technology Maturation and Infusion</vt:lpstr>
      <vt:lpstr>Science Traceability Matrix</vt:lpstr>
      <vt:lpstr>Project Summary</vt:lpstr>
      <vt:lpstr>Issue Log</vt:lpstr>
      <vt:lpstr>Budget Reporting</vt:lpstr>
      <vt:lpstr>Planned Accomplishments</vt:lpstr>
      <vt:lpstr>Student Metrics</vt:lpstr>
      <vt:lpstr>HESTO Support</vt:lpstr>
      <vt:lpstr>      Anticipated Payload Accommodation Need </vt:lpstr>
      <vt:lpstr>      Presentations</vt:lpstr>
      <vt:lpstr>Patents, Licenses</vt:lpstr>
      <vt:lpstr>Lessons Learned</vt:lpstr>
      <vt:lpstr>Content for TechPort</vt:lpstr>
      <vt:lpstr>Content for TechPort</vt:lpstr>
      <vt:lpstr>Backup Material</vt:lpstr>
      <vt:lpstr>Development Concept</vt:lpstr>
      <vt:lpstr>Supporting Material</vt:lpstr>
      <vt:lpstr>Guidance Material</vt:lpstr>
      <vt:lpstr>Taxonomy and Keyword Guidance</vt:lpstr>
      <vt:lpstr>Slide Guidance 1</vt:lpstr>
      <vt:lpstr>Slide Guidance 2</vt:lpstr>
      <vt:lpstr>Slide Guidance 3</vt:lpstr>
      <vt:lpstr>Strong Relevance and Impact Example</vt:lpstr>
      <vt:lpstr>Fever Chart Guidance</vt:lpstr>
      <vt:lpstr>Budget Report Definitions</vt:lpstr>
      <vt:lpstr>Identifiers 1</vt:lpstr>
      <vt:lpstr>Identifiers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Christa Harmon</dc:creator>
  <cp:lastModifiedBy>Hoffmann, Shaun C. (WFF-8500)[SALISBURY UNIVERSITY]</cp:lastModifiedBy>
  <cp:revision>13</cp:revision>
  <dcterms:created xsi:type="dcterms:W3CDTF">2024-05-15T15:51:43Z</dcterms:created>
  <dcterms:modified xsi:type="dcterms:W3CDTF">2026-06-30T14:26:16Z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0x010100347D11A2116275438DBF1D77FCA14A41</vt:lpwstr>
  </property>
  <property fmtid="{D5CDD505-2E9C-101B-9397-08002B2CF9AE}" pid="3" name="MediaServiceImageTags">
    <vt:lpwstr/>
  </property>
</Properties>
</file>